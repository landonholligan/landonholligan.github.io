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284" r:id="rId2"/>
    <p:sldId id="285" r:id="rId3"/>
    <p:sldId id="277" r:id="rId4"/>
    <p:sldId id="300" r:id="rId5"/>
    <p:sldId id="329" r:id="rId6"/>
    <p:sldId id="302" r:id="rId7"/>
    <p:sldId id="330" r:id="rId8"/>
    <p:sldId id="331" r:id="rId9"/>
    <p:sldId id="332" r:id="rId10"/>
    <p:sldId id="333" r:id="rId11"/>
    <p:sldId id="334" r:id="rId12"/>
    <p:sldId id="336" r:id="rId13"/>
    <p:sldId id="337" r:id="rId14"/>
    <p:sldId id="338" r:id="rId15"/>
    <p:sldId id="335" r:id="rId16"/>
    <p:sldId id="339" r:id="rId17"/>
    <p:sldId id="340" r:id="rId18"/>
    <p:sldId id="32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43CE82-ED9A-3EBF-B8C2-92BB0AA3A6EA}" name="Landon Holligan" initials="LH" userId="S::laho3191@colorado.edu::7d258848-c7b8-4445-8169-977e04c85ff5" providerId="AD"/>
  <p188:author id="{0977DB83-6AA2-6C62-328B-FA195C9EEAAC}" name="Rowan Eklund" initials="RE" userId="S::roek2429@colorado.edu::73ef7514-a21c-4c11-9532-48ed16bffdfa" providerId="AD"/>
  <p188:author id="{672E73BB-2E83-CD57-946C-AA0F1F5B201D}" name="Aadit Gohil" initials="AG" userId="S::aago7064@colorado.edu::5bb51c1f-96a5-44bc-81fe-8a1e0bae19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B57A"/>
    <a:srgbClr val="D5D4D2"/>
    <a:srgbClr val="2C2C2C"/>
    <a:srgbClr val="62615F"/>
    <a:srgbClr val="CFB87C"/>
    <a:srgbClr val="A09166"/>
    <a:srgbClr val="000000"/>
    <a:srgbClr val="EAE9E4"/>
    <a:srgbClr val="AEAE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38014-2629-0E45-9160-7D8AF95E8054}" v="188" dt="2026-08-27T21:49:06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8"/>
  </p:normalViewPr>
  <p:slideViewPr>
    <p:cSldViewPr snapToGrid="0">
      <p:cViewPr varScale="1">
        <p:scale>
          <a:sx n="120" d="100"/>
          <a:sy n="120" d="100"/>
        </p:scale>
        <p:origin x="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41901-FBE5-4FC0-BDE2-49E34936EF09}" type="datetimeFigureOut">
              <a:t>9/11/26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A3704-E150-4666-80EC-FD59A16B1A1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3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C1F1-07EC-6151-BCE5-85180866B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E75182-8121-DF3E-64D7-A8F7FDDB4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72C03-0D5E-0E39-A3CA-7A838A083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2E9A-A590-4B10-993D-B2006C17A25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44E13-68EF-2459-297C-C90AC7567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9690A-6DD4-A5CA-4438-337C60D83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50A9-21D3-42E7-925D-799F7780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30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9DA7-8EBB-3E40-4BC9-52ADDC3D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4F7B-665E-132C-BEBB-C355206C7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7E1D4-48B7-D457-1030-3D1DF5B02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2E9A-A590-4B10-993D-B2006C17A25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7D3CF-7829-95F1-F586-D194CABA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D95E9-26DD-BF39-63CA-4D68078B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50A9-21D3-42E7-925D-799F7780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41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FF90-7C01-D10A-135A-88C1DCCC8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17AE9-F7A9-6C12-7F29-B52C55043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0184E-FCB3-F9A7-6E98-6B2546C50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2E9A-A590-4B10-993D-B2006C17A25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E53C7-12BA-B1D3-AFF0-CC8F24029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22493-AF64-7AD8-AF55-7D7F62C22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50A9-21D3-42E7-925D-799F7780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4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869B-72E6-E7A4-43A8-AFF48B02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94B42-2443-1EA2-76F9-7BA50A6EF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16B89-7525-6CF6-6850-44409E24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3943C-A072-A760-7393-32ED48F2B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2E9A-A590-4B10-993D-B2006C17A25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B1B86-A1C7-CAA4-18FC-A03767F44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FC792-A6F0-E8AF-5C0D-25E41B1BD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50A9-21D3-42E7-925D-799F7780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09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E8F41-3069-1DAF-ACA7-71DBBC61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264BC-C357-DC5D-0790-13892D4E3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6FE41-33B8-D372-58E9-CB853B566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229A3E-91F9-21FA-DE6C-1D83740EF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50355E-D251-A473-1F07-28941EF3F5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520C4B-0BA9-46AE-9481-F64F1372B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2E9A-A590-4B10-993D-B2006C17A25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1C2DB-E8B9-EA3A-9863-6C0452A6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DDB897-9F81-0EEA-4BAA-D0EF4AC71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50A9-21D3-42E7-925D-799F7780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7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A8240-58BA-0D14-FA84-B8C3AA40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FCF04A-3BBE-BD04-C4EE-9E2BE928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2E9A-A590-4B10-993D-B2006C17A25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8586D5-E6B0-4247-19A9-43EA943F0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6CE60-5FCD-F9E7-1878-CAB8C8DD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50A9-21D3-42E7-925D-799F7780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992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0E5CE7-DA2F-1780-ADCA-BA3C85657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2E9A-A590-4B10-993D-B2006C17A25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41C11-E7A0-C03D-A7FC-231B3CB9C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525EF-4189-A42C-A625-D43F091B3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50A9-21D3-42E7-925D-799F7780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55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30AB3-C443-BFF3-30D8-D53B0A25F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3449A-90B8-0BFC-95DC-06CA42843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F120E-C2EE-F720-C060-A16FC8F48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316A3-1C99-47D6-1BEB-287C338A8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2E9A-A590-4B10-993D-B2006C17A25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BFDDD-B5C4-9630-2E17-7B31E8A47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85643-2DD6-C1DD-969C-C3884D5F4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50A9-21D3-42E7-925D-799F7780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23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3C9E-EED4-2D3D-F4C3-80F56F342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860615-3314-E9F9-E344-87A810AF85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8092B-408F-F5A0-D39D-050D9BB03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CF81B-193D-271E-82B8-106E2522D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2E9A-A590-4B10-993D-B2006C17A25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15ED8-1043-23B1-EDE5-E2A5FC46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6FBB5-5836-8EE5-DDA5-68495DDA9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50A9-21D3-42E7-925D-799F7780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12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CB719-94E9-4858-0BE1-118C11E9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92DFB-F62B-08A3-16BE-BCC09BEEC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1D93D-F031-D88F-03B8-C2AF6872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2E9A-A590-4B10-993D-B2006C17A25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BAAF3-E281-CDC9-9AA9-4CC1E7E6F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AE565-C72D-1588-2A2E-B028CDF0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50A9-21D3-42E7-925D-799F7780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6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181693-04B3-7550-1CE0-455046654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79C8A-08AB-3520-67FB-9BA5C91EC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55718-8FC3-09E8-6489-E83F3804B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2E9A-A590-4B10-993D-B2006C17A25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29A9D-AE5A-2CE4-C7E9-A6B88E438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09790-E98A-8674-BF58-CA10199F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50A9-21D3-42E7-925D-799F7780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10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8D0AA-DD69-9406-BEC6-3C059D06B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3B503-BB21-47D4-F681-E311B1407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F53AD-5701-9F71-21F9-0A63F2498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F2E9A-A590-4B10-993D-B2006C17A25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9ECBD-0577-2C93-034E-86CBDCFBB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13016-1A5A-783B-7F72-F01D4EE69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750A9-21D3-42E7-925D-799F7780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59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365coloradoedu-my.sharepoint.com/:f:/g/personal/cu_usli_colorado_edu/IgCEo0hkNpoYSoxcUFbiLb4KASZUXmr4tVGeT0_50qgO-TM?e=Hn0eHP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BB23083-075E-4B2D-1CF9-659E7415DC71}"/>
              </a:ext>
            </a:extLst>
          </p:cNvPr>
          <p:cNvSpPr/>
          <p:nvPr/>
        </p:nvSpPr>
        <p:spPr>
          <a:xfrm>
            <a:off x="1084183" y="1347679"/>
            <a:ext cx="77714" cy="4584754"/>
          </a:xfrm>
          <a:prstGeom prst="rect">
            <a:avLst/>
          </a:prstGeom>
          <a:solidFill>
            <a:srgbClr val="CCB57A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5DBB35-4532-3CDC-85A3-73FD54A7B569}"/>
              </a:ext>
            </a:extLst>
          </p:cNvPr>
          <p:cNvSpPr txBox="1"/>
          <p:nvPr/>
        </p:nvSpPr>
        <p:spPr>
          <a:xfrm>
            <a:off x="85863" y="6454031"/>
            <a:ext cx="7367740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CU Sounding Rocket Laboratory – 1/27/2026 – Rowan Eklund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E50E71-523A-E689-40B6-54F393796D02}"/>
              </a:ext>
            </a:extLst>
          </p:cNvPr>
          <p:cNvSpPr txBox="1"/>
          <p:nvPr/>
        </p:nvSpPr>
        <p:spPr>
          <a:xfrm>
            <a:off x="1563441" y="1749730"/>
            <a:ext cx="10116552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1" i="0" u="none" strike="noStrike" kern="1200" cap="none" spc="0" normalizeH="0" baseline="0" noProof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Exo 2 Black"/>
                <a:ea typeface="+mn-ea"/>
                <a:cs typeface="+mn-cs"/>
              </a:rPr>
              <a:t>Avionics Bay CoDR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F12AA199-6CD1-2FA7-F87E-A6E4C1344170}"/>
              </a:ext>
            </a:extLst>
          </p:cNvPr>
          <p:cNvSpPr/>
          <p:nvPr/>
        </p:nvSpPr>
        <p:spPr>
          <a:xfrm flipH="1">
            <a:off x="6777790" y="3542862"/>
            <a:ext cx="5412098" cy="3312216"/>
          </a:xfrm>
          <a:prstGeom prst="rtTriangle">
            <a:avLst/>
          </a:prstGeom>
          <a:solidFill>
            <a:srgbClr val="2C2C2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70E23DD-6240-C9EA-2E62-76E244A342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789" y="165525"/>
            <a:ext cx="1654342" cy="106260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13F7DF7-F726-4FF4-99FE-C18ABFE44D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ED0387-88AD-9CCC-E295-9D6EA08FD524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B0DC6D-6C07-24A3-F4F9-2D9A290CECED}"/>
              </a:ext>
            </a:extLst>
          </p:cNvPr>
          <p:cNvSpPr txBox="1"/>
          <p:nvPr/>
        </p:nvSpPr>
        <p:spPr>
          <a:xfrm>
            <a:off x="1385425" y="4869921"/>
            <a:ext cx="10116552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500" b="1" i="1">
                <a:gradFill>
                  <a:gsLst>
                    <a:gs pos="46000">
                      <a:srgbClr val="002060"/>
                    </a:gs>
                    <a:gs pos="20000">
                      <a:srgbClr val="00B0F0"/>
                    </a:gs>
                    <a:gs pos="100000">
                      <a:schemeClr val="accent6">
                        <a:lumMod val="95000"/>
                        <a:lumOff val="5000"/>
                      </a:schemeClr>
                    </a:gs>
                    <a:gs pos="65000">
                      <a:srgbClr val="7030A0"/>
                    </a:gs>
                  </a:gsLst>
                  <a:lin ang="5400000" scaled="1"/>
                </a:gra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Copperplate" panose="02000504000000020004" pitchFamily="2" charset="77"/>
                <a:ea typeface="Baoli SC" panose="02010600040101010101" pitchFamily="2" charset="-122"/>
              </a:rPr>
              <a:t>sunbeam</a:t>
            </a:r>
            <a:r>
              <a:rPr lang="en-US" sz="7500" i="1">
                <a:gradFill>
                  <a:gsLst>
                    <a:gs pos="41000">
                      <a:srgbClr val="002060"/>
                    </a:gs>
                    <a:gs pos="0">
                      <a:srgbClr val="00B0F0"/>
                    </a:gs>
                    <a:gs pos="64000">
                      <a:schemeClr val="accent6">
                        <a:lumMod val="95000"/>
                        <a:lumOff val="5000"/>
                      </a:schemeClr>
                    </a:gs>
                    <a:gs pos="90000">
                      <a:srgbClr val="7030A0"/>
                    </a:gs>
                  </a:gsLst>
                  <a:lin ang="5400000" scaled="1"/>
                </a:gra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Baoli SC" panose="02010600040101010101" pitchFamily="2" charset="-122"/>
                <a:ea typeface="Baoli SC" panose="0201060004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241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0026-A6B6-F959-FA58-40F86104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812834-B863-05DE-AE4D-9604BAF31155}"/>
              </a:ext>
            </a:extLst>
          </p:cNvPr>
          <p:cNvSpPr/>
          <p:nvPr/>
        </p:nvSpPr>
        <p:spPr>
          <a:xfrm>
            <a:off x="0" y="1043947"/>
            <a:ext cx="12208044" cy="49083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5136B-8BA9-BBDA-98BB-FE70A3DB3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415" y="-176405"/>
            <a:ext cx="7543800" cy="1390877"/>
          </a:xfrm>
        </p:spPr>
        <p:txBody>
          <a:bodyPr>
            <a:normAutofit/>
          </a:bodyPr>
          <a:lstStyle/>
          <a:p>
            <a:r>
              <a:rPr lang="en-US" sz="5000" b="1">
                <a:solidFill>
                  <a:schemeClr val="accent3"/>
                </a:solidFill>
              </a:rPr>
              <a:t>Agenda</a:t>
            </a:r>
            <a:endParaRPr lang="en-US" sz="5000">
              <a:solidFill>
                <a:schemeClr val="accent3"/>
              </a:solidFill>
            </a:endParaRPr>
          </a:p>
        </p:txBody>
      </p:sp>
      <p:pic>
        <p:nvPicPr>
          <p:cNvPr id="6" name="Picture 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2346FEE1-E28F-EEEC-E964-033EC595E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011371-2C25-F72E-D4A3-F9F1A33A262D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DDA44F61-C759-60BB-BFD0-9D1FB27A9D9E}"/>
              </a:ext>
            </a:extLst>
          </p:cNvPr>
          <p:cNvSpPr/>
          <p:nvPr/>
        </p:nvSpPr>
        <p:spPr>
          <a:xfrm rot="10800000">
            <a:off x="7772295" y="-5881"/>
            <a:ext cx="4435749" cy="270061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7461347-EFA7-8B2E-AA8A-D278ADDD5F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525981-9C27-85FD-6D5F-438E2F246D4C}"/>
              </a:ext>
            </a:extLst>
          </p:cNvPr>
          <p:cNvSpPr txBox="1"/>
          <p:nvPr/>
        </p:nvSpPr>
        <p:spPr>
          <a:xfrm>
            <a:off x="436418" y="905727"/>
            <a:ext cx="10682350" cy="26048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800">
                <a:solidFill>
                  <a:srgbClr val="000000"/>
                </a:solidFill>
              </a:rPr>
              <a:t>Requirements</a:t>
            </a:r>
            <a:endParaRPr lang="en-US">
              <a:solidFill>
                <a:srgbClr val="000000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en-US" sz="2800">
                <a:solidFill>
                  <a:srgbClr val="000000"/>
                </a:solidFill>
              </a:rPr>
              <a:t>Avionics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/>
                <a:ea typeface="+mn-ea"/>
                <a:cs typeface="+mn-cs"/>
              </a:rPr>
              <a:t> </a:t>
            </a:r>
            <a:r>
              <a:rPr lang="en-US" sz="2800">
                <a:solidFill>
                  <a:srgbClr val="000000"/>
                </a:solidFill>
                <a:latin typeface="Montserrat Medium"/>
              </a:rPr>
              <a:t>Bay Architecture – High Level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/>
                <a:ea typeface="+mn-ea"/>
                <a:cs typeface="+mn-cs"/>
              </a:rPr>
              <a:t> </a:t>
            </a:r>
            <a:r>
              <a:rPr lang="en-US" sz="2800">
                <a:solidFill>
                  <a:srgbClr val="000000"/>
                </a:solidFill>
                <a:latin typeface="Montserrat Medium"/>
              </a:rPr>
              <a:t>Overview</a:t>
            </a:r>
            <a:endParaRPr lang="en-US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/>
                <a:ea typeface="+mn-ea"/>
                <a:cs typeface="+mn-cs"/>
              </a:rPr>
              <a:t>Subcomponent </a:t>
            </a:r>
            <a:r>
              <a:rPr lang="en-US" sz="2800">
                <a:solidFill>
                  <a:srgbClr val="000000"/>
                </a:solidFill>
                <a:latin typeface="Montserrat Medium"/>
              </a:rPr>
              <a:t>Design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/>
                <a:ea typeface="+mn-ea"/>
                <a:cs typeface="+mn-cs"/>
              </a:rPr>
              <a:t> </a:t>
            </a:r>
            <a:r>
              <a:rPr lang="en-US" sz="2800">
                <a:solidFill>
                  <a:srgbClr val="000000"/>
                </a:solidFill>
                <a:latin typeface="Montserrat Medium"/>
              </a:rPr>
              <a:t>Decisions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800">
                <a:solidFill>
                  <a:srgbClr val="000000"/>
                </a:solidFill>
                <a:latin typeface="Montserrat Medium"/>
              </a:rPr>
              <a:t>Recovery System </a:t>
            </a:r>
            <a:endParaRPr kumimoji="0" lang="en-US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999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B5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0B540-E6A1-0304-B71C-B8188896F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8AE01FC-069B-38F0-D2D7-31F6D2443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6EF38-A8AD-636B-7FC5-94BF20534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700" y="2646843"/>
            <a:ext cx="6838383" cy="13226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700" b="1"/>
              <a:t>Requirements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AA78584-7720-CF40-599F-A7BB336197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0BDE2B8-CD0E-E1F7-0CA8-A6BE1024D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8DAA03A1-B446-47A3-8151-A298D31AE348}"/>
              </a:ext>
            </a:extLst>
          </p:cNvPr>
          <p:cNvSpPr/>
          <p:nvPr/>
        </p:nvSpPr>
        <p:spPr>
          <a:xfrm flipH="1">
            <a:off x="7450912" y="3714041"/>
            <a:ext cx="4744116" cy="3139673"/>
          </a:xfrm>
          <a:prstGeom prst="rt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F7D7A1-48F8-F512-CB14-FD9DD2799A92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100">
                <a:solidFill>
                  <a:schemeClr val="accent2"/>
                </a:solidFill>
                <a:latin typeface="Montserrat ExtraLight"/>
              </a:rPr>
              <a:t>For internal use only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0DA86B-1E68-671D-CC41-0919EEC5383C}"/>
              </a:ext>
            </a:extLst>
          </p:cNvPr>
          <p:cNvSpPr/>
          <p:nvPr/>
        </p:nvSpPr>
        <p:spPr>
          <a:xfrm>
            <a:off x="1201537" y="939205"/>
            <a:ext cx="9796677" cy="49772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94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A42C6-737D-897C-99A7-C8178149C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8CB30B-1650-ED2D-417A-BFC79F6AD788}"/>
              </a:ext>
            </a:extLst>
          </p:cNvPr>
          <p:cNvSpPr/>
          <p:nvPr/>
        </p:nvSpPr>
        <p:spPr>
          <a:xfrm>
            <a:off x="0" y="1043947"/>
            <a:ext cx="12208044" cy="47626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75613B-AF30-D9DA-D919-A8AE50B61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4" y="-152667"/>
            <a:ext cx="10087640" cy="1449492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chemeClr val="accent3"/>
                </a:solidFill>
              </a:rPr>
              <a:t>SUNBEAM</a:t>
            </a:r>
            <a:r>
              <a:rPr lang="en-US" sz="4500" b="1">
                <a:solidFill>
                  <a:schemeClr val="accent3"/>
                </a:solidFill>
              </a:rPr>
              <a:t> AVIONICS (REMINDER)</a:t>
            </a:r>
            <a:endParaRPr lang="en-US" sz="4500">
              <a:solidFill>
                <a:schemeClr val="accent3"/>
              </a:solidFill>
            </a:endParaRPr>
          </a:p>
        </p:txBody>
      </p:sp>
      <p:pic>
        <p:nvPicPr>
          <p:cNvPr id="6" name="Picture 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13C682A5-E88D-F4CC-CA62-BA8ED0617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95BC5D-97C7-12B4-D2D0-9676F34D45F4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100">
                <a:solidFill>
                  <a:schemeClr val="accent2"/>
                </a:solidFill>
                <a:latin typeface="Montserrat ExtraLight"/>
              </a:rPr>
              <a:t>For internal use only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3B16F7EC-C007-79CB-C035-C391D3624BCC}"/>
              </a:ext>
            </a:extLst>
          </p:cNvPr>
          <p:cNvSpPr/>
          <p:nvPr/>
        </p:nvSpPr>
        <p:spPr>
          <a:xfrm rot="10800000">
            <a:off x="7772295" y="-5881"/>
            <a:ext cx="4435749" cy="270061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30302ED-A406-DB8F-B32A-D94D437260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3996BA-5F8F-1695-E9B6-D6F736EB9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333688"/>
              </p:ext>
            </p:extLst>
          </p:nvPr>
        </p:nvGraphicFramePr>
        <p:xfrm>
          <a:off x="764661" y="1105692"/>
          <a:ext cx="10678722" cy="503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438">
                  <a:extLst>
                    <a:ext uri="{9D8B030D-6E8A-4147-A177-3AD203B41FA5}">
                      <a16:colId xmlns:a16="http://schemas.microsoft.com/office/drawing/2014/main" val="1974549306"/>
                    </a:ext>
                  </a:extLst>
                </a:gridCol>
                <a:gridCol w="9824284">
                  <a:extLst>
                    <a:ext uri="{9D8B030D-6E8A-4147-A177-3AD203B41FA5}">
                      <a16:colId xmlns:a16="http://schemas.microsoft.com/office/drawing/2014/main" val="2341492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36054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400"/>
                        <a:t>Program Requirements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886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AVP.1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Avionics shall have a Critical Design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66716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400"/>
                        <a:t>Technical Requirements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390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AVT.1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Flight computers shall be no less than dual redundant in triggering deployment of recovery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55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AVT.2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Flight computers shall record at least GPS location (2x redundant), acceleration (2x redundant), barometric pressure (2x redundant), attitude (2x redundant), and temperature of key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57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AVT.3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All flight computers controlling pyros (in-the-loop) shall be tested actuating the deployment apparatus at least 3 times without failure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06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AVT.4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Flight computers shall be powered and armed for flight with a system rated to no less than 1.5x peak expected acceleration of the vehicle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495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AVT.5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Flight computers shall have auditory power-on confirmation that is sufficiently individually distinguishable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5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AVT.6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Flight computers shall have an approved deployment flowchart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165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AVT.7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Avionics electronics shall be sized for a minimum of 1.5 hours of runtime in direct sunlight at 85 degrees F (with margin, </a:t>
                      </a:r>
                      <a:r>
                        <a:rPr lang="en-US" sz="1400" u="sng"/>
                        <a:t>should</a:t>
                      </a:r>
                      <a:r>
                        <a:rPr lang="en-US" sz="1400" u="none"/>
                        <a:t> be at least 3 hours)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029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AVT.8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Avionics batteries shall have total discharge protection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255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261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59630-1F60-9F49-C056-9A286ED2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E7FFAB-6D8F-7D0E-7B32-9BB18F0EF2D3}"/>
              </a:ext>
            </a:extLst>
          </p:cNvPr>
          <p:cNvSpPr/>
          <p:nvPr/>
        </p:nvSpPr>
        <p:spPr>
          <a:xfrm>
            <a:off x="0" y="836406"/>
            <a:ext cx="12208044" cy="49083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ABD82E-B2CA-B699-4156-C4084771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414" y="-176405"/>
            <a:ext cx="7872811" cy="1390877"/>
          </a:xfrm>
        </p:spPr>
        <p:txBody>
          <a:bodyPr>
            <a:normAutofit fontScale="90000"/>
          </a:bodyPr>
          <a:lstStyle/>
          <a:p>
            <a:r>
              <a:rPr lang="en-US" sz="5000" b="1">
                <a:solidFill>
                  <a:schemeClr val="accent3"/>
                </a:solidFill>
              </a:rPr>
              <a:t>SUNBEAM AV BAY STRUCTURE</a:t>
            </a:r>
            <a:endParaRPr lang="en-US" sz="5000">
              <a:solidFill>
                <a:schemeClr val="accent3"/>
              </a:solidFill>
            </a:endParaRPr>
          </a:p>
        </p:txBody>
      </p:sp>
      <p:pic>
        <p:nvPicPr>
          <p:cNvPr id="6" name="Picture 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C3329B8F-FBA4-052E-F166-0EBEB623A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643227-6DBE-731C-A43A-428982FBBC6B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D77EE895-2E42-496F-9B87-65532E7A7F6D}"/>
              </a:ext>
            </a:extLst>
          </p:cNvPr>
          <p:cNvSpPr/>
          <p:nvPr/>
        </p:nvSpPr>
        <p:spPr>
          <a:xfrm rot="10800000">
            <a:off x="7772295" y="-5881"/>
            <a:ext cx="4435749" cy="270061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D6A61C8-60AF-DBA6-9973-BA10AB8B34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373152-C684-EC3C-958B-0BAA68836B75}"/>
              </a:ext>
            </a:extLst>
          </p:cNvPr>
          <p:cNvSpPr txBox="1"/>
          <p:nvPr/>
        </p:nvSpPr>
        <p:spPr>
          <a:xfrm>
            <a:off x="436418" y="932282"/>
            <a:ext cx="10682350" cy="11814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  <a:defRPr/>
            </a:pPr>
            <a:endParaRPr lang="en-US" sz="2500">
              <a:solidFill>
                <a:srgbClr val="000000"/>
              </a:solidFill>
              <a:latin typeface="Montserrat Medium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en-US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58AD4A-69E6-9C19-AEF2-D05A99E7BAD0}"/>
              </a:ext>
            </a:extLst>
          </p:cNvPr>
          <p:cNvSpPr txBox="1"/>
          <p:nvPr/>
        </p:nvSpPr>
        <p:spPr>
          <a:xfrm>
            <a:off x="7126706" y="5386975"/>
            <a:ext cx="610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Good Textbooks and Sources Found Here</a:t>
            </a:r>
            <a:endParaRPr lang="en-US">
              <a:solidFill>
                <a:srgbClr val="0070C0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4FFDE36-03EC-BDE1-288F-E70827DF3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729952"/>
              </p:ext>
            </p:extLst>
          </p:nvPr>
        </p:nvGraphicFramePr>
        <p:xfrm>
          <a:off x="436418" y="1217403"/>
          <a:ext cx="10976220" cy="3916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9832">
                  <a:extLst>
                    <a:ext uri="{9D8B030D-6E8A-4147-A177-3AD203B41FA5}">
                      <a16:colId xmlns:a16="http://schemas.microsoft.com/office/drawing/2014/main" val="490289664"/>
                    </a:ext>
                  </a:extLst>
                </a:gridCol>
                <a:gridCol w="9896388">
                  <a:extLst>
                    <a:ext uri="{9D8B030D-6E8A-4147-A177-3AD203B41FA5}">
                      <a16:colId xmlns:a16="http://schemas.microsoft.com/office/drawing/2014/main" val="39406216"/>
                    </a:ext>
                  </a:extLst>
                </a:gridCol>
              </a:tblGrid>
              <a:tr h="2693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ID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Descriptions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4180891"/>
                  </a:ext>
                </a:extLst>
              </a:tr>
              <a:tr h="2693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Program Requirements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193859"/>
                  </a:ext>
                </a:extLst>
              </a:tr>
              <a:tr h="2693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ABSP.1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Launch, seperation, and landing environments shall be characterized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7454361"/>
                  </a:ext>
                </a:extLst>
              </a:tr>
              <a:tr h="2693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ABSP.2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Analysis shall be preformed on all critical structures to prove survivability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53600856"/>
                  </a:ext>
                </a:extLst>
              </a:tr>
              <a:tr h="2693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Technical Requirements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175172"/>
                  </a:ext>
                </a:extLst>
              </a:tr>
              <a:tr h="2693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ABST.1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PCB's shall mount only to the </a:t>
                      </a:r>
                      <a:r>
                        <a:rPr lang="en-US" sz="1200" u="none" strike="noStrike" err="1">
                          <a:effectLst/>
                        </a:rPr>
                        <a:t>outter</a:t>
                      </a:r>
                      <a:r>
                        <a:rPr lang="en-US" sz="1200" u="none" strike="noStrike">
                          <a:effectLst/>
                        </a:rPr>
                        <a:t> face of the sleds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1329242"/>
                  </a:ext>
                </a:extLst>
              </a:tr>
              <a:tr h="4975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ABST.2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Sled assemblies, including pcbs,  shall share no physical contact with one another other than mounting locations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473106"/>
                  </a:ext>
                </a:extLst>
              </a:tr>
              <a:tr h="4975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ABST.3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Bulkhead shall support mounting features for the retaining ring, sleds, eye-bolts, and connector pcb, and recovery system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38793758"/>
                  </a:ext>
                </a:extLst>
              </a:tr>
              <a:tr h="2693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ABST.4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Bulkhead shall be capable of maintaining pressure in recovery bay through deployement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85216804"/>
                  </a:ext>
                </a:extLst>
              </a:tr>
              <a:tr h="4975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ABST.5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Retaining ring  and pins shall support entire mass of avionics bay and recovery system through all environments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4796051"/>
                  </a:ext>
                </a:extLst>
              </a:tr>
              <a:tr h="2693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ABST.6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All fasteners shall survive expected environments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141156"/>
                  </a:ext>
                </a:extLst>
              </a:tr>
              <a:tr h="2693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ABST.7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The bottom connector board shall serve as the sole designated pass-through for wiring harnesses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006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051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F3360-5AC4-251E-6E19-E022F8CA7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6BE19BB-9687-ED41-63C7-6225E1FD9730}"/>
              </a:ext>
            </a:extLst>
          </p:cNvPr>
          <p:cNvSpPr/>
          <p:nvPr/>
        </p:nvSpPr>
        <p:spPr>
          <a:xfrm>
            <a:off x="0" y="1043947"/>
            <a:ext cx="12208044" cy="47626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0A968-5F5F-62B1-F28B-CBAB6F8B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4" y="-152667"/>
            <a:ext cx="10087640" cy="1449492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chemeClr val="accent3"/>
                </a:solidFill>
              </a:rPr>
              <a:t>SUNBEAM</a:t>
            </a:r>
            <a:r>
              <a:rPr lang="en-US" sz="4500" b="1">
                <a:solidFill>
                  <a:schemeClr val="accent3"/>
                </a:solidFill>
              </a:rPr>
              <a:t> RECOVERY</a:t>
            </a:r>
            <a:endParaRPr lang="en-US" sz="4500">
              <a:solidFill>
                <a:schemeClr val="accent3"/>
              </a:solidFill>
            </a:endParaRPr>
          </a:p>
        </p:txBody>
      </p:sp>
      <p:pic>
        <p:nvPicPr>
          <p:cNvPr id="6" name="Picture 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3ED4C80-319E-6DF8-1958-8027FA928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0B8277-CA92-D387-B1C3-443D30970B4B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100">
                <a:solidFill>
                  <a:schemeClr val="accent2"/>
                </a:solidFill>
                <a:latin typeface="Montserrat ExtraLight"/>
              </a:rPr>
              <a:t>For internal use only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D65E8FB6-273D-6B98-BA71-0A0435308AFB}"/>
              </a:ext>
            </a:extLst>
          </p:cNvPr>
          <p:cNvSpPr/>
          <p:nvPr/>
        </p:nvSpPr>
        <p:spPr>
          <a:xfrm rot="10800000">
            <a:off x="7772295" y="-5881"/>
            <a:ext cx="4435749" cy="270061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9AC8A12-EFEE-5AFD-91DC-F2DED0A2D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BAD0AA-CCA5-AC7F-F104-4E122055B4E8}"/>
              </a:ext>
            </a:extLst>
          </p:cNvPr>
          <p:cNvGraphicFramePr>
            <a:graphicFrameLocks noGrp="1"/>
          </p:cNvGraphicFramePr>
          <p:nvPr/>
        </p:nvGraphicFramePr>
        <p:xfrm>
          <a:off x="341593" y="1230712"/>
          <a:ext cx="11524857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140">
                  <a:extLst>
                    <a:ext uri="{9D8B030D-6E8A-4147-A177-3AD203B41FA5}">
                      <a16:colId xmlns:a16="http://schemas.microsoft.com/office/drawing/2014/main" val="1974549306"/>
                    </a:ext>
                  </a:extLst>
                </a:gridCol>
                <a:gridCol w="10602717">
                  <a:extLst>
                    <a:ext uri="{9D8B030D-6E8A-4147-A177-3AD203B41FA5}">
                      <a16:colId xmlns:a16="http://schemas.microsoft.com/office/drawing/2014/main" val="2341492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36054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600"/>
                        <a:t>Program Requirements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828258"/>
                  </a:ext>
                </a:extLst>
              </a:tr>
              <a:tr h="229875">
                <a:tc>
                  <a:txBody>
                    <a:bodyPr/>
                    <a:lstStyle/>
                    <a:p>
                      <a:r>
                        <a:rPr lang="en-US" sz="1600"/>
                        <a:t>RP.1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Recovery shall have a Critical Design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71137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600"/>
                        <a:t>Technical Requirements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390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RT.1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Recovery system shall be fit checked with vehicle in full flight configuration including </a:t>
                      </a:r>
                      <a:br>
                        <a:rPr lang="en-US" sz="1600"/>
                      </a:br>
                      <a:r>
                        <a:rPr lang="en-US" sz="1600"/>
                        <a:t>all hardware pertaining to the volume it takes 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55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RT.2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Vehicle descent rate at touchdown shall be no higher than 40 m/s (Mamba III touchdown velocity)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06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RT.3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Deployment system shall be effective in vacuum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495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RT.4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Parachute lines shall be packed in such a manner as to not tangle upon release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5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RT.5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Parachute shall be packed in such a manner as to not tangle with lines upon release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165176"/>
                  </a:ext>
                </a:extLst>
              </a:tr>
              <a:tr h="177656">
                <a:tc>
                  <a:txBody>
                    <a:bodyPr/>
                    <a:lstStyle/>
                    <a:p>
                      <a:r>
                        <a:rPr lang="en-US" sz="1600"/>
                        <a:t>RT.6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Parachute lines shall be sized to prevent vehicle component-on-component contact during descent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91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705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B5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4534B-1403-C3E0-577B-A3238D205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25CE83-D839-3461-64CE-989638926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82936-5490-28CC-67EE-4148DFEAD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700" y="2646843"/>
            <a:ext cx="6838383" cy="13226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700" b="1"/>
              <a:t>Av Bay Architecture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CF314F-21A8-6498-722E-A13CEE92E9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22D638D6-7D74-AEFB-A449-8EA501DC2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5B2FD64F-A7F1-B2CD-B455-62ADF1489F3C}"/>
              </a:ext>
            </a:extLst>
          </p:cNvPr>
          <p:cNvSpPr/>
          <p:nvPr/>
        </p:nvSpPr>
        <p:spPr>
          <a:xfrm flipH="1">
            <a:off x="7450912" y="3714041"/>
            <a:ext cx="4744116" cy="3139673"/>
          </a:xfrm>
          <a:prstGeom prst="rt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3A8191-3D39-019B-85D5-B3FE5B106ABF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A93710-3409-A724-06AD-3DA5546DAC8A}"/>
              </a:ext>
            </a:extLst>
          </p:cNvPr>
          <p:cNvSpPr/>
          <p:nvPr/>
        </p:nvSpPr>
        <p:spPr>
          <a:xfrm>
            <a:off x="1201537" y="939205"/>
            <a:ext cx="9796677" cy="49772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2805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2D733-22CA-0E1F-F6A0-ED39E4D79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F27663-4280-ECBF-4103-893798F7E048}"/>
              </a:ext>
            </a:extLst>
          </p:cNvPr>
          <p:cNvSpPr/>
          <p:nvPr/>
        </p:nvSpPr>
        <p:spPr>
          <a:xfrm>
            <a:off x="0" y="1043947"/>
            <a:ext cx="12208044" cy="47626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0DBC62-B9D0-A088-8AEE-382229924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4" y="-152667"/>
            <a:ext cx="10087640" cy="1449492"/>
          </a:xfrm>
        </p:spPr>
        <p:txBody>
          <a:bodyPr>
            <a:normAutofit/>
          </a:bodyPr>
          <a:lstStyle/>
          <a:p>
            <a:r>
              <a:rPr lang="en-US" sz="4500" b="1">
                <a:solidFill>
                  <a:schemeClr val="accent3"/>
                </a:solidFill>
              </a:rPr>
              <a:t>Av Bay Architecture</a:t>
            </a:r>
            <a:endParaRPr lang="en-US" sz="4500">
              <a:solidFill>
                <a:schemeClr val="accent3"/>
              </a:solidFill>
            </a:endParaRPr>
          </a:p>
        </p:txBody>
      </p:sp>
      <p:pic>
        <p:nvPicPr>
          <p:cNvPr id="6" name="Picture 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5E722FF2-1D26-F265-41EF-A1D362DEE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B62EF2-A7E9-662B-884F-F3D46C866BF9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8E36FAC2-AC93-78E8-8F9C-49F0371D50AF}"/>
              </a:ext>
            </a:extLst>
          </p:cNvPr>
          <p:cNvSpPr/>
          <p:nvPr/>
        </p:nvSpPr>
        <p:spPr>
          <a:xfrm rot="10800000">
            <a:off x="7772295" y="-5881"/>
            <a:ext cx="4435749" cy="270061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66C467A-3727-D80D-B789-4BC82E85FC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B4CA5D-149B-CB76-FF4E-2C3D53B5A9F6}"/>
              </a:ext>
            </a:extLst>
          </p:cNvPr>
          <p:cNvSpPr txBox="1"/>
          <p:nvPr/>
        </p:nvSpPr>
        <p:spPr>
          <a:xfrm>
            <a:off x="0" y="1065814"/>
            <a:ext cx="10839597" cy="49443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Retaining ring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b="1">
                <a:solidFill>
                  <a:srgbClr val="000000"/>
                </a:solidFill>
              </a:rPr>
              <a:t>Al 6061-T6xx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Pin sizing TBD based on B.C./loads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Bulkhead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G10 Fiberglass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Need to seal passthroughs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Sleds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G10 Fiberglass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Base is fixed to bulkhead w/ Al 6061-T6xx block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Top is constrained using a metal “plug” surrounded by rubber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Isolate sleds from NC vibe/loads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Switch Mount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Material TBD (Low dialectic 3D printed)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400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7E8ACA-F462-D1BC-C574-DF5C19804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164" y="687535"/>
            <a:ext cx="3077771" cy="587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03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5BBC4-654D-23A4-CB65-970842BA2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BB416B-F6FF-B1A6-33EE-DC613B8A1CAB}"/>
              </a:ext>
            </a:extLst>
          </p:cNvPr>
          <p:cNvSpPr/>
          <p:nvPr/>
        </p:nvSpPr>
        <p:spPr>
          <a:xfrm>
            <a:off x="0" y="1054107"/>
            <a:ext cx="12208044" cy="47626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BEDC0-D934-6B42-898D-367861F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4" y="-152667"/>
            <a:ext cx="10087640" cy="1449492"/>
          </a:xfrm>
        </p:spPr>
        <p:txBody>
          <a:bodyPr>
            <a:normAutofit/>
          </a:bodyPr>
          <a:lstStyle/>
          <a:p>
            <a:r>
              <a:rPr lang="en-US" sz="4500" b="1">
                <a:solidFill>
                  <a:schemeClr val="accent3"/>
                </a:solidFill>
              </a:rPr>
              <a:t>Sled Mounts</a:t>
            </a:r>
            <a:endParaRPr lang="en-US" sz="4500">
              <a:solidFill>
                <a:schemeClr val="accent3"/>
              </a:solidFill>
            </a:endParaRPr>
          </a:p>
        </p:txBody>
      </p:sp>
      <p:pic>
        <p:nvPicPr>
          <p:cNvPr id="6" name="Picture 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B33F2B74-AEAD-A3AC-5B6E-F80BEF01D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AA2805-C29B-0655-9D87-03E49BFC35A8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88AEB225-1CBE-0A09-778F-FAC2A509525F}"/>
              </a:ext>
            </a:extLst>
          </p:cNvPr>
          <p:cNvSpPr/>
          <p:nvPr/>
        </p:nvSpPr>
        <p:spPr>
          <a:xfrm rot="10800000">
            <a:off x="7772295" y="-5881"/>
            <a:ext cx="4435749" cy="270061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528166E-B2AA-CAD6-C75E-6E0499CFF8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130FC9-66CC-BCBC-E0A2-1B816E0312AF}"/>
              </a:ext>
            </a:extLst>
          </p:cNvPr>
          <p:cNvSpPr txBox="1"/>
          <p:nvPr/>
        </p:nvSpPr>
        <p:spPr>
          <a:xfrm>
            <a:off x="0" y="1065814"/>
            <a:ext cx="10839597" cy="7431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  <a:defRPr/>
            </a:pPr>
            <a:endParaRPr lang="en-US" sz="1400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D9D58-0D81-2C1E-A55C-9D9724A3D5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42013" y="1645140"/>
            <a:ext cx="5904793" cy="34483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CA3E4A-D260-77D6-06FE-5D5EBD7E9F1D}"/>
              </a:ext>
            </a:extLst>
          </p:cNvPr>
          <p:cNvSpPr txBox="1"/>
          <p:nvPr/>
        </p:nvSpPr>
        <p:spPr>
          <a:xfrm>
            <a:off x="1" y="1065814"/>
            <a:ext cx="5486400" cy="54879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Machined 6061-T6xx Al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Steel helical inserts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>
                <a:solidFill>
                  <a:srgbClr val="000000"/>
                </a:solidFill>
              </a:rPr>
              <a:t>Ease of assembly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2 joint path attenuates 30% of pyro shock per joint</a:t>
            </a:r>
            <a:endParaRPr lang="en-US" b="1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Geometry of this mount also attenuates part of this shock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Sleds have feet to allow a passthrough board to be mounted to meet requirement </a:t>
            </a:r>
            <a:r>
              <a:rPr lang="en-US"/>
              <a:t>ABST.7</a:t>
            </a:r>
            <a:r>
              <a:rPr lang="en-US">
                <a:solidFill>
                  <a:srgbClr val="000000"/>
                </a:solidFill>
              </a:rPr>
              <a:t> </a:t>
            </a:r>
          </a:p>
          <a:p>
            <a:pPr lvl="1">
              <a:lnSpc>
                <a:spcPct val="150000"/>
              </a:lnSpc>
              <a:defRPr/>
            </a:pPr>
            <a:endParaRPr lang="en-US">
              <a:solidFill>
                <a:srgbClr val="000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644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BDC8-FCE0-F813-1F2A-EC0AB1726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FFD786-6364-1669-0512-8945EA64AB2A}"/>
              </a:ext>
            </a:extLst>
          </p:cNvPr>
          <p:cNvSpPr/>
          <p:nvPr/>
        </p:nvSpPr>
        <p:spPr>
          <a:xfrm>
            <a:off x="0" y="1043947"/>
            <a:ext cx="12208044" cy="47626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2FF099-506A-FEFC-A7A8-34D3C2F7C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4" y="-152667"/>
            <a:ext cx="10087640" cy="1449492"/>
          </a:xfrm>
        </p:spPr>
        <p:txBody>
          <a:bodyPr>
            <a:normAutofit/>
          </a:bodyPr>
          <a:lstStyle/>
          <a:p>
            <a:r>
              <a:rPr lang="en-US" sz="4500" b="1">
                <a:solidFill>
                  <a:schemeClr val="accent3"/>
                </a:solidFill>
              </a:rPr>
              <a:t>Top Retainer</a:t>
            </a:r>
            <a:endParaRPr lang="en-US" sz="4500">
              <a:solidFill>
                <a:schemeClr val="accent3"/>
              </a:solidFill>
            </a:endParaRPr>
          </a:p>
        </p:txBody>
      </p:sp>
      <p:pic>
        <p:nvPicPr>
          <p:cNvPr id="6" name="Picture 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12AE7F47-FD24-C0CD-87F3-9A5F316BC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86A509-BD5D-ACFE-D7D6-07367493CEF8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B03CF5DF-1155-6DB0-2C72-D3128E12B6D5}"/>
              </a:ext>
            </a:extLst>
          </p:cNvPr>
          <p:cNvSpPr/>
          <p:nvPr/>
        </p:nvSpPr>
        <p:spPr>
          <a:xfrm rot="10800000">
            <a:off x="7772295" y="-5881"/>
            <a:ext cx="4435749" cy="270061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A163959-A288-D900-B9C6-CBA77176D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1237AF-AD4E-2FD3-C268-F6A919CE3BC5}"/>
              </a:ext>
            </a:extLst>
          </p:cNvPr>
          <p:cNvSpPr txBox="1"/>
          <p:nvPr/>
        </p:nvSpPr>
        <p:spPr>
          <a:xfrm>
            <a:off x="0" y="1065814"/>
            <a:ext cx="10839597" cy="7431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  <a:defRPr/>
            </a:pPr>
            <a:endParaRPr lang="en-US" sz="1400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0DE19-6ED6-2551-1BDE-386A8F32EF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42013" y="1757762"/>
            <a:ext cx="5904793" cy="32231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CF38CD-5FC0-1922-1FAB-29D914028481}"/>
              </a:ext>
            </a:extLst>
          </p:cNvPr>
          <p:cNvSpPr txBox="1"/>
          <p:nvPr/>
        </p:nvSpPr>
        <p:spPr>
          <a:xfrm>
            <a:off x="1" y="1065814"/>
            <a:ext cx="5486400" cy="4656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Machined 6061-T6xx Al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Rubber strip surrounding metal retainer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Nominal compression between 10% to 15%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Acts as a vibration damper to decouple sleds from NC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Goal is to constrain sleds and increase assembly stiffness</a:t>
            </a:r>
          </a:p>
          <a:p>
            <a:pPr>
              <a:lnSpc>
                <a:spcPct val="150000"/>
              </a:lnSpc>
              <a:defRPr/>
            </a:pPr>
            <a:endParaRPr lang="en-US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defRPr/>
            </a:pPr>
            <a:endParaRPr lang="en-US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78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7920-E373-824E-05CA-8580050AC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14A504-7CF9-1ACA-1B7D-537E38C6F4DA}"/>
              </a:ext>
            </a:extLst>
          </p:cNvPr>
          <p:cNvSpPr/>
          <p:nvPr/>
        </p:nvSpPr>
        <p:spPr>
          <a:xfrm>
            <a:off x="0" y="1043947"/>
            <a:ext cx="12208044" cy="47626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D76B5-9496-A9DF-B849-E31DABE92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4" y="-152667"/>
            <a:ext cx="10087640" cy="1449492"/>
          </a:xfrm>
        </p:spPr>
        <p:txBody>
          <a:bodyPr>
            <a:normAutofit/>
          </a:bodyPr>
          <a:lstStyle/>
          <a:p>
            <a:r>
              <a:rPr lang="en-US" sz="4500" b="1">
                <a:solidFill>
                  <a:schemeClr val="accent3"/>
                </a:solidFill>
              </a:rPr>
              <a:t>Switch Mount</a:t>
            </a:r>
            <a:endParaRPr lang="en-US" sz="4500">
              <a:solidFill>
                <a:schemeClr val="accent3"/>
              </a:solidFill>
            </a:endParaRPr>
          </a:p>
        </p:txBody>
      </p:sp>
      <p:pic>
        <p:nvPicPr>
          <p:cNvPr id="6" name="Picture 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3D9DFBE-61F6-1FDC-2F53-0161BF2C6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41962E-ED0B-BFC5-A8CB-CF6D805A19A1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01BB7EDE-9695-F544-BCF6-518250E5286E}"/>
              </a:ext>
            </a:extLst>
          </p:cNvPr>
          <p:cNvSpPr/>
          <p:nvPr/>
        </p:nvSpPr>
        <p:spPr>
          <a:xfrm rot="10800000">
            <a:off x="7772295" y="-5881"/>
            <a:ext cx="4435749" cy="270061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7183F2A-AE54-C377-423F-E3446AFC85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DCB537-CA8F-4447-7450-9FC70E97160C}"/>
              </a:ext>
            </a:extLst>
          </p:cNvPr>
          <p:cNvSpPr txBox="1"/>
          <p:nvPr/>
        </p:nvSpPr>
        <p:spPr>
          <a:xfrm>
            <a:off x="0" y="1065814"/>
            <a:ext cx="10839597" cy="7431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  <a:defRPr/>
            </a:pPr>
            <a:endParaRPr lang="en-US" sz="1400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70A2C6-E9DF-EF81-367C-C372293DD168}"/>
              </a:ext>
            </a:extLst>
          </p:cNvPr>
          <p:cNvSpPr txBox="1"/>
          <p:nvPr/>
        </p:nvSpPr>
        <p:spPr>
          <a:xfrm>
            <a:off x="1" y="1065814"/>
            <a:ext cx="5486400" cy="9174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  <a:defRPr/>
            </a:pPr>
            <a:endParaRPr lang="en-US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AABC79-BD8E-1807-87B8-A8AA41DF5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9441" y="1808966"/>
            <a:ext cx="3971924" cy="2339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26FB47-B924-4DC7-7331-B0DE835C3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6693" y="1142411"/>
            <a:ext cx="2582385" cy="45657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62C5C2-C661-C240-631E-8738B1AECE5B}"/>
              </a:ext>
            </a:extLst>
          </p:cNvPr>
          <p:cNvSpPr txBox="1"/>
          <p:nvPr/>
        </p:nvSpPr>
        <p:spPr>
          <a:xfrm>
            <a:off x="1" y="1065814"/>
            <a:ext cx="5278055" cy="50724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Ideally 3D printed material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Only constrained to one sled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Switch mounts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Two steel bolts + locknut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Nut on threaded portion of switch constrain it to the mount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Possible testing on material?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</a:rPr>
              <a:t>If someone has </a:t>
            </a:r>
            <a:r>
              <a:rPr lang="en-US" b="1">
                <a:solidFill>
                  <a:srgbClr val="000000"/>
                </a:solidFill>
              </a:rPr>
              <a:t>material recommendations</a:t>
            </a:r>
            <a:r>
              <a:rPr lang="en-US">
                <a:solidFill>
                  <a:srgbClr val="000000"/>
                </a:solidFill>
              </a:rPr>
              <a:t>, please let me know </a:t>
            </a:r>
          </a:p>
          <a:p>
            <a:pPr lvl="1">
              <a:lnSpc>
                <a:spcPct val="150000"/>
              </a:lnSpc>
              <a:defRPr/>
            </a:pPr>
            <a:r>
              <a:rPr lang="en-US">
                <a:solidFill>
                  <a:srgbClr val="000000"/>
                </a:solidFill>
              </a:rPr>
              <a:t>	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2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A6BFF-D40A-A067-1500-66A65CAF7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4CB6AA-F6E9-E6DD-E5D4-7C7BC727F840}"/>
              </a:ext>
            </a:extLst>
          </p:cNvPr>
          <p:cNvSpPr/>
          <p:nvPr/>
        </p:nvSpPr>
        <p:spPr>
          <a:xfrm>
            <a:off x="0" y="1055236"/>
            <a:ext cx="12208044" cy="47626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7A711-4CA4-CE2C-8687-E5A36C9B8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4" y="-152667"/>
            <a:ext cx="10087640" cy="1449492"/>
          </a:xfrm>
        </p:spPr>
        <p:txBody>
          <a:bodyPr>
            <a:normAutofit/>
          </a:bodyPr>
          <a:lstStyle/>
          <a:p>
            <a:r>
              <a:rPr lang="en-US" sz="4500" b="1">
                <a:solidFill>
                  <a:schemeClr val="accent3"/>
                </a:solidFill>
              </a:rPr>
              <a:t>Bulkhead</a:t>
            </a:r>
            <a:endParaRPr lang="en-US" sz="4500">
              <a:solidFill>
                <a:schemeClr val="accent3"/>
              </a:solidFill>
            </a:endParaRPr>
          </a:p>
        </p:txBody>
      </p:sp>
      <p:pic>
        <p:nvPicPr>
          <p:cNvPr id="6" name="Picture 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CD1A93BE-10A3-AB93-2093-37F406D53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88AFCE-6137-A9E1-A959-252DB639B0BB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CCDF57E6-D90A-B2AF-1605-3F5BC8CDBE90}"/>
              </a:ext>
            </a:extLst>
          </p:cNvPr>
          <p:cNvSpPr/>
          <p:nvPr/>
        </p:nvSpPr>
        <p:spPr>
          <a:xfrm rot="10800000">
            <a:off x="7772295" y="-5881"/>
            <a:ext cx="4435749" cy="270061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056EB75-8DF7-CE2F-2228-BC485E6B8E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2FF0E2-FFED-7E51-145D-D3B242A76222}"/>
              </a:ext>
            </a:extLst>
          </p:cNvPr>
          <p:cNvSpPr txBox="1"/>
          <p:nvPr/>
        </p:nvSpPr>
        <p:spPr>
          <a:xfrm>
            <a:off x="0" y="1065814"/>
            <a:ext cx="10839597" cy="7431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  <a:defRPr/>
            </a:pPr>
            <a:endParaRPr lang="en-US" sz="1400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C17891-D523-BF4C-DD81-2107D7DC2481}"/>
              </a:ext>
            </a:extLst>
          </p:cNvPr>
          <p:cNvSpPr txBox="1"/>
          <p:nvPr/>
        </p:nvSpPr>
        <p:spPr>
          <a:xfrm>
            <a:off x="1" y="1065814"/>
            <a:ext cx="5486400" cy="9174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  <a:defRPr/>
            </a:pPr>
            <a:endParaRPr lang="en-US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4DC319-FECF-0B0A-BC5C-C5D6A04E1060}"/>
              </a:ext>
            </a:extLst>
          </p:cNvPr>
          <p:cNvSpPr txBox="1"/>
          <p:nvPr/>
        </p:nvSpPr>
        <p:spPr>
          <a:xfrm>
            <a:off x="1" y="1065814"/>
            <a:ext cx="5278055" cy="31334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 b="1">
                <a:solidFill>
                  <a:srgbClr val="000000"/>
                </a:solidFill>
              </a:rPr>
              <a:t>Two eyebolts (TBD)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0000"/>
                </a:solidFill>
              </a:rPr>
              <a:t>Give </a:t>
            </a:r>
            <a:r>
              <a:rPr lang="en-US" sz="1600" b="1">
                <a:solidFill>
                  <a:srgbClr val="000000"/>
                </a:solidFill>
              </a:rPr>
              <a:t>space</a:t>
            </a:r>
            <a:r>
              <a:rPr lang="en-US" sz="1600">
                <a:solidFill>
                  <a:srgbClr val="000000"/>
                </a:solidFill>
              </a:rPr>
              <a:t> for separation mechanism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0000"/>
                </a:solidFill>
              </a:rPr>
              <a:t>Distributes chute load to stiffer section of the bulkhead (closer to retaining ring)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0000"/>
                </a:solidFill>
              </a:rPr>
              <a:t>This is probably of minimal concern, but will give us higher margines</a:t>
            </a:r>
            <a:endParaRPr lang="en-US" sz="1600" b="1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en-US">
                <a:solidFill>
                  <a:srgbClr val="000000"/>
                </a:solidFill>
              </a:rPr>
              <a:t>	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2C60B-111D-D571-6971-0CD7A5CDB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038" y="1065814"/>
            <a:ext cx="6830378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76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38506-4994-AAE0-DAB7-C16ADFCE0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E44ACB-CC4E-690E-8B07-690E4763FCD6}"/>
              </a:ext>
            </a:extLst>
          </p:cNvPr>
          <p:cNvSpPr/>
          <p:nvPr/>
        </p:nvSpPr>
        <p:spPr>
          <a:xfrm>
            <a:off x="0" y="1043947"/>
            <a:ext cx="12208044" cy="47626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D2D0BF-2F7D-0906-23C7-FA866C50D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4" y="-152667"/>
            <a:ext cx="10087640" cy="1449492"/>
          </a:xfrm>
        </p:spPr>
        <p:txBody>
          <a:bodyPr>
            <a:normAutofit/>
          </a:bodyPr>
          <a:lstStyle/>
          <a:p>
            <a:r>
              <a:rPr lang="en-US" sz="4500" b="1">
                <a:solidFill>
                  <a:schemeClr val="accent3"/>
                </a:solidFill>
              </a:rPr>
              <a:t>Passthrough Board</a:t>
            </a:r>
            <a:endParaRPr lang="en-US" sz="4500">
              <a:solidFill>
                <a:schemeClr val="accent3"/>
              </a:solidFill>
            </a:endParaRPr>
          </a:p>
        </p:txBody>
      </p:sp>
      <p:pic>
        <p:nvPicPr>
          <p:cNvPr id="6" name="Picture 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5C19C51D-6D1F-5C5E-487A-F87D18F01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BD8570-40CB-9048-B5C8-451D1FE6ECE3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D84F98C5-EECF-C678-12F3-2DF460197545}"/>
              </a:ext>
            </a:extLst>
          </p:cNvPr>
          <p:cNvSpPr/>
          <p:nvPr/>
        </p:nvSpPr>
        <p:spPr>
          <a:xfrm rot="10800000">
            <a:off x="7772295" y="-5881"/>
            <a:ext cx="4435749" cy="270061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90E72DC-2E51-EBFD-0FCF-D046B3D05F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B96E2A-5D8A-534A-BB25-B72545762B05}"/>
              </a:ext>
            </a:extLst>
          </p:cNvPr>
          <p:cNvSpPr txBox="1"/>
          <p:nvPr/>
        </p:nvSpPr>
        <p:spPr>
          <a:xfrm>
            <a:off x="0" y="1065814"/>
            <a:ext cx="10839597" cy="7431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  <a:defRPr/>
            </a:pPr>
            <a:endParaRPr lang="en-US" sz="1400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AF7A4-1883-9010-3E7A-9B4B78115B4D}"/>
              </a:ext>
            </a:extLst>
          </p:cNvPr>
          <p:cNvSpPr txBox="1"/>
          <p:nvPr/>
        </p:nvSpPr>
        <p:spPr>
          <a:xfrm>
            <a:off x="1" y="1065814"/>
            <a:ext cx="5486400" cy="9174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  <a:defRPr/>
            </a:pPr>
            <a:endParaRPr lang="en-US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981218-7F23-85E5-F9DB-706838188056}"/>
              </a:ext>
            </a:extLst>
          </p:cNvPr>
          <p:cNvSpPr txBox="1"/>
          <p:nvPr/>
        </p:nvSpPr>
        <p:spPr>
          <a:xfrm>
            <a:off x="1" y="1065814"/>
            <a:ext cx="5278055" cy="50315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Purpose of </a:t>
            </a:r>
            <a:r>
              <a:rPr lang="en-US" sz="1400"/>
              <a:t>ABST.7 is to keep harnessing to their respective side of the sled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Avoids complicated harness paths as well as sharp bend radii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Sleds can be fully decoupled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Failure modes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Bending – will confirm with calcs to ensure during all events, this board does not exceed deflection allowable (TBD)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Shock – pyro shock travels directly through the bulkhead into this board. We want to attenuate this using </a:t>
            </a:r>
            <a:r>
              <a:rPr lang="en-US" sz="1400" b="1">
                <a:solidFill>
                  <a:srgbClr val="000000"/>
                </a:solidFill>
              </a:rPr>
              <a:t>elastomer isolators </a:t>
            </a:r>
            <a:r>
              <a:rPr lang="en-US" sz="1400">
                <a:solidFill>
                  <a:srgbClr val="000000"/>
                </a:solidFill>
              </a:rPr>
              <a:t>(TBD w/ Josh?)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40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sz="1600">
                <a:solidFill>
                  <a:srgbClr val="000000"/>
                </a:solidFill>
              </a:rPr>
              <a:t>	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447DA5-14F1-63B7-44AB-A798DC7808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0617" y="1065814"/>
            <a:ext cx="6617220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298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02090-0BF1-C7E4-168F-9F6E36A9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238230-328F-5902-CDF0-F20763F58F78}"/>
              </a:ext>
            </a:extLst>
          </p:cNvPr>
          <p:cNvSpPr/>
          <p:nvPr/>
        </p:nvSpPr>
        <p:spPr>
          <a:xfrm>
            <a:off x="0" y="1043947"/>
            <a:ext cx="12208044" cy="47626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5397-A829-3B50-6CE0-F9DB390B9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4" y="-152667"/>
            <a:ext cx="10087640" cy="1449492"/>
          </a:xfrm>
        </p:spPr>
        <p:txBody>
          <a:bodyPr>
            <a:normAutofit/>
          </a:bodyPr>
          <a:lstStyle/>
          <a:p>
            <a:r>
              <a:rPr lang="en-US" sz="4500" b="1">
                <a:solidFill>
                  <a:schemeClr val="accent3"/>
                </a:solidFill>
              </a:rPr>
              <a:t>G10 Sleds</a:t>
            </a:r>
            <a:endParaRPr lang="en-US" sz="4500">
              <a:solidFill>
                <a:schemeClr val="accent3"/>
              </a:solidFill>
            </a:endParaRPr>
          </a:p>
        </p:txBody>
      </p:sp>
      <p:pic>
        <p:nvPicPr>
          <p:cNvPr id="6" name="Picture 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B5AB639D-3FC5-F9CA-2BAC-EB5164A39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E7C09D-6419-0980-69DC-2FCB311EBCFA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AECEC25E-5273-716C-FDEF-01D6660F4AD8}"/>
              </a:ext>
            </a:extLst>
          </p:cNvPr>
          <p:cNvSpPr/>
          <p:nvPr/>
        </p:nvSpPr>
        <p:spPr>
          <a:xfrm rot="10800000">
            <a:off x="7772295" y="-5881"/>
            <a:ext cx="4435749" cy="270061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6564FB0-EB07-1D0A-E257-E88A32FDDB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2C94D3-1168-3167-2960-30E3506A820E}"/>
              </a:ext>
            </a:extLst>
          </p:cNvPr>
          <p:cNvSpPr txBox="1"/>
          <p:nvPr/>
        </p:nvSpPr>
        <p:spPr>
          <a:xfrm>
            <a:off x="0" y="1065814"/>
            <a:ext cx="10839597" cy="7431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  <a:defRPr/>
            </a:pPr>
            <a:endParaRPr lang="en-US" sz="1400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6CC624-AB75-E110-FC3A-B3E41427AF59}"/>
              </a:ext>
            </a:extLst>
          </p:cNvPr>
          <p:cNvSpPr txBox="1"/>
          <p:nvPr/>
        </p:nvSpPr>
        <p:spPr>
          <a:xfrm>
            <a:off x="1" y="1065814"/>
            <a:ext cx="5486400" cy="9174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  <a:defRPr/>
            </a:pPr>
            <a:endParaRPr lang="en-US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5237D3-1FDF-E8F2-8709-7FF671CF311E}"/>
              </a:ext>
            </a:extLst>
          </p:cNvPr>
          <p:cNvSpPr txBox="1"/>
          <p:nvPr/>
        </p:nvSpPr>
        <p:spPr>
          <a:xfrm>
            <a:off x="1" y="1065814"/>
            <a:ext cx="5278055" cy="51751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</a:rPr>
              <a:t>Length TBD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</a:rPr>
              <a:t>Will include all mounting features for PCB’s, batteries, and additional components (Camera, switches, etc.)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</a:rPr>
              <a:t>Failure concern: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</a:rPr>
              <a:t>Low stiffness and therefore natural frequency will lead to large </a:t>
            </a:r>
            <a:r>
              <a:rPr lang="en-US" sz="1200" err="1">
                <a:solidFill>
                  <a:srgbClr val="000000"/>
                </a:solidFill>
              </a:rPr>
              <a:t>grms</a:t>
            </a:r>
            <a:r>
              <a:rPr lang="en-US" sz="1200">
                <a:solidFill>
                  <a:srgbClr val="000000"/>
                </a:solidFill>
              </a:rPr>
              <a:t> accelerations on PCBs.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</a:rPr>
              <a:t>If this is an issue, the idea is to add stiffening ribs on the inside faces. This takes up space and makes assembly and integration harder but may be needed.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</a:rPr>
              <a:t>Feet strength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</a:rPr>
              <a:t>On landing these may see huge loads, is there good reason for concern here? Will run analysis before CDR unless team believes design pivot is needed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20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sz="1400">
                <a:solidFill>
                  <a:srgbClr val="000000"/>
                </a:solidFill>
              </a:rPr>
              <a:t>	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0E8E0E-B3BD-6800-5E59-05E9D8A4A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5464" y="633431"/>
            <a:ext cx="1941875" cy="518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16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B5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80DA5-7610-7AD0-BB4B-EE411BDD6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6071DB-A1C6-C5A9-1F28-7E4C0EE02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7867AE-046C-CD9B-9959-7AC55590B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700" y="2646843"/>
            <a:ext cx="6838383" cy="13226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700" b="1"/>
              <a:t>Recovery System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7372F63-E059-80C8-617D-983B29DEFB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CB2723D8-B2A3-45F2-7F1E-4106CC447D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BDF6A1E0-076B-6262-72E0-D55A78D9B1CE}"/>
              </a:ext>
            </a:extLst>
          </p:cNvPr>
          <p:cNvSpPr/>
          <p:nvPr/>
        </p:nvSpPr>
        <p:spPr>
          <a:xfrm flipH="1">
            <a:off x="7450912" y="3714041"/>
            <a:ext cx="4744116" cy="3139673"/>
          </a:xfrm>
          <a:prstGeom prst="rt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BF891F-B0AF-CD1C-EFCB-44FED7B7DD86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FD114D-4F35-7012-9B9B-24F968C8A0ED}"/>
              </a:ext>
            </a:extLst>
          </p:cNvPr>
          <p:cNvSpPr/>
          <p:nvPr/>
        </p:nvSpPr>
        <p:spPr>
          <a:xfrm>
            <a:off x="1201537" y="939205"/>
            <a:ext cx="9796677" cy="49772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0881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E5BF4-268A-89EC-4568-6676219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3E35E9F-4A44-9C08-D1B3-5B710AD99F70}"/>
              </a:ext>
            </a:extLst>
          </p:cNvPr>
          <p:cNvSpPr/>
          <p:nvPr/>
        </p:nvSpPr>
        <p:spPr>
          <a:xfrm>
            <a:off x="0" y="1043947"/>
            <a:ext cx="12208044" cy="47626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8DF04-C358-447A-F249-4804D6E3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4" y="-1"/>
            <a:ext cx="10087640" cy="1043947"/>
          </a:xfrm>
        </p:spPr>
        <p:txBody>
          <a:bodyPr>
            <a:normAutofit/>
          </a:bodyPr>
          <a:lstStyle/>
          <a:p>
            <a:r>
              <a:rPr lang="en-US" sz="4500" b="1">
                <a:solidFill>
                  <a:schemeClr val="accent3"/>
                </a:solidFill>
              </a:rPr>
              <a:t>Recovery – Sizing Math</a:t>
            </a:r>
            <a:endParaRPr lang="en-US" sz="4500">
              <a:solidFill>
                <a:schemeClr val="accent3"/>
              </a:solidFill>
            </a:endParaRPr>
          </a:p>
        </p:txBody>
      </p:sp>
      <p:pic>
        <p:nvPicPr>
          <p:cNvPr id="6" name="Picture 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19B46C1F-5265-9880-A290-438E6265B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6E3CD6-49D2-8ACE-2A7F-95029B117624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0082CDB3-176E-1C45-34D3-BD2FBBAC924D}"/>
              </a:ext>
            </a:extLst>
          </p:cNvPr>
          <p:cNvSpPr/>
          <p:nvPr/>
        </p:nvSpPr>
        <p:spPr>
          <a:xfrm rot="10800000">
            <a:off x="7772295" y="-5881"/>
            <a:ext cx="4435749" cy="270061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A3F4C5B-F278-6F3F-61EB-E40E9C97DD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68878C-8FDB-4D23-6595-50F29E0F6BED}"/>
              </a:ext>
            </a:extLst>
          </p:cNvPr>
          <p:cNvSpPr txBox="1"/>
          <p:nvPr/>
        </p:nvSpPr>
        <p:spPr>
          <a:xfrm>
            <a:off x="0" y="1065814"/>
            <a:ext cx="10839597" cy="7431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  <a:defRPr/>
            </a:pPr>
            <a:endParaRPr lang="en-US" sz="1400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79B6B-3F06-20B2-3BAF-ECDB6BFA2D76}"/>
              </a:ext>
            </a:extLst>
          </p:cNvPr>
          <p:cNvSpPr txBox="1"/>
          <p:nvPr/>
        </p:nvSpPr>
        <p:spPr>
          <a:xfrm>
            <a:off x="1" y="1065814"/>
            <a:ext cx="5486400" cy="9174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  <a:defRPr/>
            </a:pPr>
            <a:endParaRPr lang="en-US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F7B70E-0E1D-50FD-EF0F-E7A2E7AC0261}"/>
              </a:ext>
            </a:extLst>
          </p:cNvPr>
          <p:cNvSpPr txBox="1"/>
          <p:nvPr/>
        </p:nvSpPr>
        <p:spPr>
          <a:xfrm>
            <a:off x="1" y="1065814"/>
            <a:ext cx="5278055" cy="41235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Sized to fill the av bay with required pressure to break shear pins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Assume Av Bay is empty cylinder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Height is 14” from bulkhead to bulkhead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ID is 8”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</a:rPr>
              <a:t>Volume is 704 in</a:t>
            </a:r>
            <a:r>
              <a:rPr lang="en-US" sz="1400" baseline="30000">
                <a:solidFill>
                  <a:srgbClr val="000000"/>
                </a:solidFill>
              </a:rPr>
              <a:t>3</a:t>
            </a:r>
            <a:endParaRPr lang="en-US" sz="1600" baseline="30000">
              <a:solidFill>
                <a:srgbClr val="000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600" baseline="3000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0000"/>
                </a:solidFill>
              </a:rPr>
              <a:t>Will use CEA to estimate sizing for: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0000"/>
                </a:solidFill>
              </a:rPr>
              <a:t>BP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 err="1">
                <a:solidFill>
                  <a:srgbClr val="000000"/>
                </a:solidFill>
              </a:rPr>
              <a:t>Pyrodex</a:t>
            </a:r>
            <a:endParaRPr lang="en-US" sz="1600">
              <a:solidFill>
                <a:srgbClr val="000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0000"/>
                </a:solidFill>
              </a:rPr>
              <a:t>Smokeless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540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FD9D1-429D-2ED5-BFED-8CABDB5A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9CD94E-5743-7107-8F3B-6970DBD86B31}"/>
              </a:ext>
            </a:extLst>
          </p:cNvPr>
          <p:cNvSpPr/>
          <p:nvPr/>
        </p:nvSpPr>
        <p:spPr>
          <a:xfrm>
            <a:off x="0" y="1043947"/>
            <a:ext cx="12208044" cy="47626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F3264-629A-355B-959B-DFE3007C1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4" y="-1"/>
            <a:ext cx="10087640" cy="1043947"/>
          </a:xfrm>
        </p:spPr>
        <p:txBody>
          <a:bodyPr>
            <a:normAutofit/>
          </a:bodyPr>
          <a:lstStyle/>
          <a:p>
            <a:r>
              <a:rPr lang="en-US" sz="4500" b="1">
                <a:solidFill>
                  <a:schemeClr val="accent3"/>
                </a:solidFill>
              </a:rPr>
              <a:t>Recovery - Design Overview</a:t>
            </a:r>
            <a:endParaRPr lang="en-US" sz="4500">
              <a:solidFill>
                <a:schemeClr val="accent3"/>
              </a:solidFill>
            </a:endParaRPr>
          </a:p>
        </p:txBody>
      </p:sp>
      <p:pic>
        <p:nvPicPr>
          <p:cNvPr id="6" name="Picture 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C23A5F67-C412-AF86-4333-135F574E2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A05E10-EA4F-CF47-F664-AC08AD283B80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9593D439-BDBE-631E-8D31-6795BD7F3E07}"/>
              </a:ext>
            </a:extLst>
          </p:cNvPr>
          <p:cNvSpPr/>
          <p:nvPr/>
        </p:nvSpPr>
        <p:spPr>
          <a:xfrm rot="10800000">
            <a:off x="7772295" y="-5881"/>
            <a:ext cx="4435749" cy="270061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A05F91E3-F31B-8445-DD5D-C6CB7E6B86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223658-47F6-450B-434F-3DF1AEE16324}"/>
              </a:ext>
            </a:extLst>
          </p:cNvPr>
          <p:cNvSpPr txBox="1"/>
          <p:nvPr/>
        </p:nvSpPr>
        <p:spPr>
          <a:xfrm>
            <a:off x="0" y="1065814"/>
            <a:ext cx="10839597" cy="7431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  <a:defRPr/>
            </a:pPr>
            <a:endParaRPr lang="en-US" sz="1400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57A5F-52B5-0EC9-E843-B6B7B758937C}"/>
              </a:ext>
            </a:extLst>
          </p:cNvPr>
          <p:cNvSpPr txBox="1"/>
          <p:nvPr/>
        </p:nvSpPr>
        <p:spPr>
          <a:xfrm>
            <a:off x="1" y="1065814"/>
            <a:ext cx="5486400" cy="9174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  <a:defRPr/>
            </a:pPr>
            <a:endParaRPr lang="en-US">
              <a:solidFill>
                <a:srgbClr val="000000"/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DDEB08-A0F3-C82F-D402-76865C94BCEC}"/>
              </a:ext>
            </a:extLst>
          </p:cNvPr>
          <p:cNvSpPr txBox="1"/>
          <p:nvPr/>
        </p:nvSpPr>
        <p:spPr>
          <a:xfrm>
            <a:off x="1" y="1065814"/>
            <a:ext cx="5278055" cy="19845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Courier New"/>
              <a:buChar char="o"/>
            </a:pPr>
            <a:r>
              <a:rPr lang="en-US"/>
              <a:t>2 charges, and each has 3 </a:t>
            </a:r>
            <a:r>
              <a:rPr lang="en-US" err="1"/>
              <a:t>ematches</a:t>
            </a:r>
            <a:r>
              <a:rPr lang="en-US"/>
              <a:t> (for FC redundancy)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3D printed mounts</a:t>
            </a:r>
          </a:p>
          <a:p>
            <a:pPr lvl="1">
              <a:lnSpc>
                <a:spcPct val="150000"/>
              </a:lnSpc>
              <a:defRPr/>
            </a:pPr>
            <a:endParaRPr lang="en-US" sz="140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sz="1600">
                <a:solidFill>
                  <a:srgbClr val="000000"/>
                </a:solidFill>
              </a:rPr>
              <a:t>	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6DDA7F-A8F1-FFC5-5C9E-CE10559DC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808966"/>
            <a:ext cx="3402482" cy="3200068"/>
          </a:xfrm>
          <a:prstGeom prst="rect">
            <a:avLst/>
          </a:prstGeom>
        </p:spPr>
      </p:pic>
      <p:pic>
        <p:nvPicPr>
          <p:cNvPr id="13" name="Picture 12" descr="A black and grey metal object with bolts and a round metal object&#10;&#10;AI-generated content may be incorrect.">
            <a:extLst>
              <a:ext uri="{FF2B5EF4-FFF2-40B4-BE49-F238E27FC236}">
                <a16:creationId xmlns:a16="http://schemas.microsoft.com/office/drawing/2014/main" id="{AD72BB4D-ABA7-28B0-6D2C-E968EDFDC2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167" y="1691379"/>
            <a:ext cx="3503696" cy="352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76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7C49C-4318-4287-C511-BC9228846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8856-F903-F176-4C47-9747FA0F6CCF}"/>
              </a:ext>
            </a:extLst>
          </p:cNvPr>
          <p:cNvSpPr/>
          <p:nvPr/>
        </p:nvSpPr>
        <p:spPr>
          <a:xfrm>
            <a:off x="0" y="1043947"/>
            <a:ext cx="12208044" cy="47626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6FBA51-7DF5-E268-DAA2-408A8F9B1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415" y="-176405"/>
            <a:ext cx="8176606" cy="1390877"/>
          </a:xfrm>
        </p:spPr>
        <p:txBody>
          <a:bodyPr>
            <a:normAutofit fontScale="90000"/>
          </a:bodyPr>
          <a:lstStyle/>
          <a:p>
            <a:r>
              <a:rPr lang="en-US" sz="5000" b="1">
                <a:solidFill>
                  <a:schemeClr val="accent3"/>
                </a:solidFill>
              </a:rPr>
              <a:t>PDR (Preliminary Design Review)</a:t>
            </a:r>
            <a:endParaRPr lang="en-US" sz="5000">
              <a:solidFill>
                <a:schemeClr val="accent3"/>
              </a:solidFill>
            </a:endParaRPr>
          </a:p>
        </p:txBody>
      </p:sp>
      <p:pic>
        <p:nvPicPr>
          <p:cNvPr id="6" name="Picture 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3205B783-0CD9-7A12-B9D9-5CED68592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" y="5963684"/>
            <a:ext cx="1042457" cy="60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81C002-50DC-9718-2854-C0EC7E03B54A}"/>
              </a:ext>
            </a:extLst>
          </p:cNvPr>
          <p:cNvSpPr txBox="1"/>
          <p:nvPr/>
        </p:nvSpPr>
        <p:spPr>
          <a:xfrm>
            <a:off x="10352809" y="6454031"/>
            <a:ext cx="162266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EAE9E4"/>
                </a:solidFill>
                <a:effectLst/>
                <a:uLnTx/>
                <a:uFillTx/>
                <a:latin typeface="Montserrat ExtraLight"/>
                <a:ea typeface="+mn-ea"/>
                <a:cs typeface="+mn-cs"/>
              </a:rPr>
              <a:t>For internal use only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9E4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4A6623D7-190B-AA44-92B1-6EEA02461C27}"/>
              </a:ext>
            </a:extLst>
          </p:cNvPr>
          <p:cNvSpPr/>
          <p:nvPr/>
        </p:nvSpPr>
        <p:spPr>
          <a:xfrm rot="10800000">
            <a:off x="7772295" y="-5881"/>
            <a:ext cx="4435749" cy="270061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Montserrat Medium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9E30F88-A45D-F19B-7089-15F7B89D9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908" y="166687"/>
            <a:ext cx="2857500" cy="4286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35451C2-CDC3-197B-F8F9-AC307F255BCE}"/>
              </a:ext>
            </a:extLst>
          </p:cNvPr>
          <p:cNvSpPr txBox="1"/>
          <p:nvPr/>
        </p:nvSpPr>
        <p:spPr>
          <a:xfrm>
            <a:off x="213415" y="1012329"/>
            <a:ext cx="10839597" cy="48519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0000"/>
                </a:solidFill>
              </a:rPr>
              <a:t>Goal is to get feedback on concept of operations and general construction of your project (</a:t>
            </a:r>
            <a:r>
              <a:rPr lang="en-US" sz="1600" b="1">
                <a:solidFill>
                  <a:srgbClr val="000000"/>
                </a:solidFill>
              </a:rPr>
              <a:t>this is the main goal – spend 70%+ time on it!</a:t>
            </a:r>
            <a:r>
              <a:rPr lang="en-US" sz="1600">
                <a:solidFill>
                  <a:srgbClr val="000000"/>
                </a:solidFill>
              </a:rPr>
              <a:t>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0000"/>
                </a:solidFill>
              </a:rPr>
              <a:t>Analysis should be done or major decision-driving features, but should not be final or done on all components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0000"/>
                </a:solidFill>
              </a:rPr>
              <a:t>Concept of operations (con-ops) is almost always where the rest of design comes from, make sure you have this right!!!!! If you don’t correctly articulate con-ops and someone doesn’t like it, this can lead to late-stage changes further down the line</a:t>
            </a:r>
          </a:p>
          <a:p>
            <a:pPr lvl="0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</a:rPr>
              <a:t>General layout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1600">
                <a:solidFill>
                  <a:srgbClr val="000000"/>
                </a:solidFill>
              </a:rPr>
              <a:t>Requirements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1600">
                <a:solidFill>
                  <a:srgbClr val="000000"/>
                </a:solidFill>
              </a:rPr>
              <a:t>Con-Ops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1600">
                <a:solidFill>
                  <a:srgbClr val="000000"/>
                </a:solidFill>
              </a:rPr>
              <a:t>Design Overview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1600">
                <a:solidFill>
                  <a:srgbClr val="000000"/>
                </a:solidFill>
              </a:rPr>
              <a:t>Driving Calcs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1600">
                <a:solidFill>
                  <a:srgbClr val="000000"/>
                </a:solidFill>
              </a:rPr>
              <a:t>Test/Completion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8768F2-51F6-D659-A0EF-8EC346FA12FF}"/>
              </a:ext>
            </a:extLst>
          </p:cNvPr>
          <p:cNvSpPr txBox="1"/>
          <p:nvPr/>
        </p:nvSpPr>
        <p:spPr>
          <a:xfrm>
            <a:off x="4145433" y="4144185"/>
            <a:ext cx="6392225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/>
              <a:t>Feedback is the goal here, streamline how each slide contributes to your narrative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481F11-158A-C66F-0C66-4D00608AF878}"/>
              </a:ext>
            </a:extLst>
          </p:cNvPr>
          <p:cNvSpPr txBox="1"/>
          <p:nvPr/>
        </p:nvSpPr>
        <p:spPr>
          <a:xfrm>
            <a:off x="6851116" y="5221823"/>
            <a:ext cx="5474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Someone should be taking notes on action items for you, make sure you designate that person!</a:t>
            </a:r>
          </a:p>
        </p:txBody>
      </p:sp>
    </p:spTree>
    <p:extLst>
      <p:ext uri="{BB962C8B-B14F-4D97-AF65-F5344CB8AC3E}">
        <p14:creationId xmlns:p14="http://schemas.microsoft.com/office/powerpoint/2010/main" val="35509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RL Colors">
      <a:dk1>
        <a:srgbClr val="000000"/>
      </a:dk1>
      <a:lt1>
        <a:srgbClr val="2C2C2C"/>
      </a:lt1>
      <a:dk2>
        <a:srgbClr val="62615F"/>
      </a:dk2>
      <a:lt2>
        <a:srgbClr val="AEAEAE"/>
      </a:lt2>
      <a:accent1>
        <a:srgbClr val="D5D4D2"/>
      </a:accent1>
      <a:accent2>
        <a:srgbClr val="EAE9E4"/>
      </a:accent2>
      <a:accent3>
        <a:srgbClr val="CFB87C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SRL Fonts">
      <a:majorFont>
        <a:latin typeface="Exo 2 Black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ructural Calcs 101" id="{EF257162-3498-3649-A143-C7EE0813BC1D}" vid="{C5F09848-FA6A-134E-830F-0BC7BA805E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1236</Words>
  <Application>Microsoft Macintosh PowerPoint</Application>
  <PresentationFormat>Widescreen</PresentationFormat>
  <Paragraphs>186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 Narrow</vt:lpstr>
      <vt:lpstr>Arial</vt:lpstr>
      <vt:lpstr>Baoli SC</vt:lpstr>
      <vt:lpstr>Calibri</vt:lpstr>
      <vt:lpstr>Copperplate</vt:lpstr>
      <vt:lpstr>Courier New</vt:lpstr>
      <vt:lpstr>Exo 2 Black</vt:lpstr>
      <vt:lpstr>Montserrat ExtraLight</vt:lpstr>
      <vt:lpstr>Montserrat Medium</vt:lpstr>
      <vt:lpstr>Office Theme</vt:lpstr>
      <vt:lpstr>PowerPoint Presentation</vt:lpstr>
      <vt:lpstr>Agenda</vt:lpstr>
      <vt:lpstr>Requirements</vt:lpstr>
      <vt:lpstr>SUNBEAM AVIONICS (REMINDER)</vt:lpstr>
      <vt:lpstr>SUNBEAM AV BAY STRUCTURE</vt:lpstr>
      <vt:lpstr>SUNBEAM RECOVERY</vt:lpstr>
      <vt:lpstr>Av Bay Architecture</vt:lpstr>
      <vt:lpstr>Av Bay Architecture</vt:lpstr>
      <vt:lpstr>Sled Mounts</vt:lpstr>
      <vt:lpstr>Top Retainer</vt:lpstr>
      <vt:lpstr>Switch Mount</vt:lpstr>
      <vt:lpstr>Bulkhead</vt:lpstr>
      <vt:lpstr>Passthrough Board</vt:lpstr>
      <vt:lpstr>G10 Sleds</vt:lpstr>
      <vt:lpstr>Recovery System</vt:lpstr>
      <vt:lpstr>Recovery – Sizing Math</vt:lpstr>
      <vt:lpstr>Recovery - Design Overview</vt:lpstr>
      <vt:lpstr>PDR (Preliminary Design Review)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 Key</dc:creator>
  <cp:lastModifiedBy>Landon Holligan</cp:lastModifiedBy>
  <cp:revision>2</cp:revision>
  <dcterms:created xsi:type="dcterms:W3CDTF">2025-09-25T02:08:27Z</dcterms:created>
  <dcterms:modified xsi:type="dcterms:W3CDTF">2026-09-11T16:48:22Z</dcterms:modified>
</cp:coreProperties>
</file>