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5"/>
  </p:notesMasterIdLst>
  <p:sldIdLst>
    <p:sldId id="256" r:id="rId2"/>
    <p:sldId id="257" r:id="rId3"/>
    <p:sldId id="263" r:id="rId4"/>
    <p:sldId id="259" r:id="rId5"/>
    <p:sldId id="269" r:id="rId6"/>
    <p:sldId id="264" r:id="rId7"/>
    <p:sldId id="265" r:id="rId8"/>
    <p:sldId id="260" r:id="rId9"/>
    <p:sldId id="267" r:id="rId10"/>
    <p:sldId id="266" r:id="rId11"/>
    <p:sldId id="261" r:id="rId12"/>
    <p:sldId id="268" r:id="rId13"/>
    <p:sldId id="262" r:id="rId14"/>
  </p:sldIdLst>
  <p:sldSz cx="9144000" cy="5143500" type="screen16x9"/>
  <p:notesSz cx="6858000" cy="9144000"/>
  <p:embeddedFontLst>
    <p:embeddedFont>
      <p:font typeface="Montserrat" pitchFamily="2" charset="77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8A512E-7333-876E-5CB5-276B3158249D}" name="Joshua Savage" initials="JS" userId="S::josa5344@colorado.edu::829a2475-f245-43a1-b92a-39a0b769e85a" providerId="AD"/>
  <p188:author id="{2062D850-7C49-C3F3-0451-E04732AAADBB}" name="Nicholas Kieft" initials="NK" userId="S::niki9962@colorado.edu::07791ea3-29aa-4764-b34f-536288b1fe84" providerId="AD"/>
  <p188:author id="{E7FF2F61-793C-4F8F-0DB2-D58A6A374ED2}" name="Nico Madrid" initials="NM" userId="S::nima9911@colorado.edu::abafee61-5dbb-473d-afb4-73a91156c13e" providerId="AD"/>
  <p188:author id="{0977DB83-6AA2-6C62-328B-FA195C9EEAAC}" name="Rowan Eklund" initials="RE" userId="S::roek2429@colorado.edu::73ef7514-a21c-4c11-9532-48ed16bffdfa" providerId="AD"/>
  <p188:author id="{C15073F6-C3C5-F65A-27B8-29BF5D61D107}" name="Timothy Novak" initials="TN" userId="S::tino5842@colorado.edu::267876a8-ff01-49e2-a6cd-5dc75e821b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AB875A-C1D5-49DA-91A2-3AC8077AC07E}">
  <a:tblStyle styleId="{34AB875A-C1D5-49DA-91A2-3AC8077AC0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160" d="100"/>
          <a:sy n="160" d="100"/>
        </p:scale>
        <p:origin x="3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dd6f5e766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dd6f5e766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"/>
          <p:cNvCxnSpPr/>
          <p:nvPr/>
        </p:nvCxnSpPr>
        <p:spPr>
          <a:xfrm rot="10800000" flipH="1">
            <a:off x="2441550" y="2633225"/>
            <a:ext cx="4149300" cy="7800"/>
          </a:xfrm>
          <a:prstGeom prst="straightConnector1">
            <a:avLst/>
          </a:prstGeom>
          <a:noFill/>
          <a:ln w="28575" cap="flat" cmpd="sng">
            <a:solidFill>
              <a:srgbClr val="CEB87B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1899900" y="1828450"/>
            <a:ext cx="53442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606400" y="2809575"/>
            <a:ext cx="3931200" cy="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2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22" name="Google Shape;22;p2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11700" y="590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311700" y="1297800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4832400" y="1297800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48" name="Google Shape;4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5"/>
          <p:cNvSpPr/>
          <p:nvPr/>
        </p:nvSpPr>
        <p:spPr>
          <a:xfrm rot="2700000">
            <a:off x="-3495251" y="3858100"/>
            <a:ext cx="6643551" cy="15825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54" name="Google Shape;54;p5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311700" y="590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6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62" name="Google Shape;62;p6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 rot="-5400000">
            <a:off x="3977975" y="-11400"/>
            <a:ext cx="5166300" cy="5166300"/>
          </a:xfrm>
          <a:prstGeom prst="rtTriangle">
            <a:avLst/>
          </a:prstGeom>
          <a:solidFill>
            <a:srgbClr val="CEB87B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6" name="Google Shape;6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7"/>
          <p:cNvSpPr/>
          <p:nvPr/>
        </p:nvSpPr>
        <p:spPr>
          <a:xfrm rot="-2700000">
            <a:off x="4265399" y="3002775"/>
            <a:ext cx="6643551" cy="15825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72" name="Google Shape;72;p7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CEB87B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00964" cy="92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83" name="Google Shape;83;p8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CEB87B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 rot="5400000">
            <a:off x="0" y="-11400"/>
            <a:ext cx="5166300" cy="5166300"/>
          </a:xfrm>
          <a:prstGeom prst="rtTriangl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pic>
        <p:nvPicPr>
          <p:cNvPr id="87" name="Google Shape;8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/>
          <p:nvPr/>
        </p:nvSpPr>
        <p:spPr>
          <a:xfrm rot="-2700000">
            <a:off x="-1631426" y="2030200"/>
            <a:ext cx="6643551" cy="15825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CEB8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93" name="Google Shape;93;p9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97" name="Google Shape;9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0"/>
          <p:cNvSpPr/>
          <p:nvPr/>
        </p:nvSpPr>
        <p:spPr>
          <a:xfrm rot="-2700000">
            <a:off x="-2145551" y="1183000"/>
            <a:ext cx="6643551" cy="15825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CEB8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0"/>
          <p:cNvSpPr/>
          <p:nvPr/>
        </p:nvSpPr>
        <p:spPr>
          <a:xfrm rot="2700000">
            <a:off x="4597349" y="1183000"/>
            <a:ext cx="6643551" cy="15825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CEB8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0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104" name="Google Shape;104;p10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type="blank">
  <p:cSld name="BLANK">
    <p:bg>
      <p:bgPr>
        <a:solidFill>
          <a:schemeClr val="dk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300" y="689050"/>
            <a:ext cx="3765400" cy="37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75" y="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75" y="300037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311700" y="15833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311700" y="791675"/>
            <a:ext cx="87096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4"/>
          <p:cNvSpPr/>
          <p:nvPr/>
        </p:nvSpPr>
        <p:spPr>
          <a:xfrm rot="2700000">
            <a:off x="-3495251" y="3858100"/>
            <a:ext cx="6643551" cy="15825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3479250" y="4773225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  <p:sp>
        <p:nvSpPr>
          <p:cNvPr id="43" name="Google Shape;43;p4"/>
          <p:cNvSpPr txBox="1"/>
          <p:nvPr/>
        </p:nvSpPr>
        <p:spPr>
          <a:xfrm>
            <a:off x="3479250" y="47863"/>
            <a:ext cx="237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For Internal Use Only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7527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0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881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50875" y="47875"/>
            <a:ext cx="1063281" cy="5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825" y="0"/>
            <a:ext cx="1692705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8125591" y="538450"/>
            <a:ext cx="1018500" cy="5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2"/>
          </p:nvPr>
        </p:nvSpPr>
        <p:spPr>
          <a:xfrm>
            <a:off x="8768975" y="4747550"/>
            <a:ext cx="375300" cy="309300"/>
          </a:xfrm>
          <a:prstGeom prst="rect">
            <a:avLst/>
          </a:prstGeom>
          <a:solidFill>
            <a:srgbClr val="CEB8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000">
                <a:solidFill>
                  <a:schemeClr val="dk2"/>
                </a:solidFill>
              </a:defRPr>
            </a:lvl1pPr>
            <a:lvl2pPr lvl="1" rtl="0">
              <a:buNone/>
              <a:defRPr sz="1000">
                <a:solidFill>
                  <a:schemeClr val="dk2"/>
                </a:solidFill>
              </a:defRPr>
            </a:lvl2pPr>
            <a:lvl3pPr lvl="2" rtl="0">
              <a:buNone/>
              <a:defRPr sz="1000">
                <a:solidFill>
                  <a:schemeClr val="dk2"/>
                </a:solidFill>
              </a:defRPr>
            </a:lvl3pPr>
            <a:lvl4pPr lvl="3" rtl="0">
              <a:buNone/>
              <a:defRPr sz="1000">
                <a:solidFill>
                  <a:schemeClr val="dk2"/>
                </a:solidFill>
              </a:defRPr>
            </a:lvl4pPr>
            <a:lvl5pPr lvl="4" rtl="0">
              <a:buNone/>
              <a:defRPr sz="1000">
                <a:solidFill>
                  <a:schemeClr val="dk2"/>
                </a:solidFill>
              </a:defRPr>
            </a:lvl5pPr>
            <a:lvl6pPr lvl="5" rtl="0">
              <a:buNone/>
              <a:defRPr sz="1000">
                <a:solidFill>
                  <a:schemeClr val="dk2"/>
                </a:solidFill>
              </a:defRPr>
            </a:lvl6pPr>
            <a:lvl7pPr lvl="6" rtl="0">
              <a:buNone/>
              <a:defRPr sz="1000">
                <a:solidFill>
                  <a:schemeClr val="dk2"/>
                </a:solidFill>
              </a:defRPr>
            </a:lvl7pPr>
            <a:lvl8pPr lvl="7" rtl="0">
              <a:buNone/>
              <a:defRPr sz="1000">
                <a:solidFill>
                  <a:schemeClr val="dk2"/>
                </a:solidFill>
              </a:defRPr>
            </a:lvl8pPr>
            <a:lvl9pPr lvl="8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>
            <a:spLocks noGrp="1"/>
          </p:cNvSpPr>
          <p:nvPr>
            <p:ph type="title"/>
          </p:nvPr>
        </p:nvSpPr>
        <p:spPr>
          <a:xfrm>
            <a:off x="1014480" y="1285872"/>
            <a:ext cx="7111184" cy="1241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err="1"/>
              <a:t>Groundstation</a:t>
            </a:r>
            <a:r>
              <a:rPr lang="en" sz="3200"/>
              <a:t> Mechanisms Design Review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9628D-E029-9FE9-0412-6B012B4B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DC5B1-52E1-CFF8-8268-7097F63DE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/>
              <a:t>General Design</a:t>
            </a:r>
          </a:p>
          <a:p>
            <a:pPr>
              <a:lnSpc>
                <a:spcPct val="114999"/>
              </a:lnSpc>
            </a:pPr>
            <a:r>
              <a:rPr lang="en-US" sz="1600"/>
              <a:t>Sizing and Pointing Precision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600"/>
              <a:t>Azimuth Coupling Mechanism</a:t>
            </a:r>
          </a:p>
          <a:p>
            <a:pPr>
              <a:lnSpc>
                <a:spcPct val="114999"/>
              </a:lnSpc>
            </a:pPr>
            <a:r>
              <a:rPr lang="en-US" sz="1600"/>
              <a:t>Elevation Coupling Mechanism</a:t>
            </a:r>
          </a:p>
          <a:p>
            <a:pPr>
              <a:lnSpc>
                <a:spcPct val="114999"/>
              </a:lnSpc>
            </a:pPr>
            <a:r>
              <a:rPr lang="en-US" sz="1600"/>
              <a:t>Dish Attachment Mechanism</a:t>
            </a:r>
          </a:p>
          <a:p>
            <a:pPr>
              <a:lnSpc>
                <a:spcPct val="114999"/>
              </a:lnSpc>
            </a:pPr>
            <a:r>
              <a:rPr lang="en-US" sz="1600"/>
              <a:t>Counterweight</a:t>
            </a:r>
          </a:p>
          <a:p>
            <a:pPr>
              <a:lnSpc>
                <a:spcPct val="114999"/>
              </a:lnSpc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2872D-1009-E16E-6917-5D13F92727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7030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E93E-BE15-4B51-E43B-FAE6D044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BDD1-4C67-E2F0-2A0A-CA6A4DAE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Sizing and Pointing Precision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0335-826D-EDF8-DD7E-781A02D59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384" y="1285882"/>
            <a:ext cx="4396061" cy="584219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/>
              <a:t>Torque curve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 lvl="1">
              <a:lnSpc>
                <a:spcPct val="114999"/>
              </a:lnSpc>
            </a:pPr>
            <a:endParaRPr lang="en-US">
              <a:solidFill>
                <a:srgbClr val="BFBFBF"/>
              </a:solidFill>
            </a:endParaRPr>
          </a:p>
          <a:p>
            <a:pPr lvl="1"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56146-DB69-173F-6307-7440B557A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lang="en"/>
          </a:p>
        </p:txBody>
      </p:sp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27200D2-BC6C-76CA-1C28-17D51FB7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58" b="268"/>
          <a:stretch>
            <a:fillRect/>
          </a:stretch>
        </p:blipFill>
        <p:spPr>
          <a:xfrm>
            <a:off x="320126" y="1669764"/>
            <a:ext cx="3960105" cy="1651662"/>
          </a:xfrm>
          <a:prstGeom prst="rect">
            <a:avLst/>
          </a:prstGeom>
        </p:spPr>
      </p:pic>
      <p:pic>
        <p:nvPicPr>
          <p:cNvPr id="10" name="Picture 9" descr="A screen shot of a graph&#10;&#10;AI-generated content may be incorrect.">
            <a:extLst>
              <a:ext uri="{FF2B5EF4-FFF2-40B4-BE49-F238E27FC236}">
                <a16:creationId xmlns:a16="http://schemas.microsoft.com/office/drawing/2014/main" id="{6E31441E-36A2-EDC4-5237-55ED31DF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445" y="1021810"/>
            <a:ext cx="3993997" cy="37235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06F31-4770-E4D7-C6D7-B3F942BFBE49}"/>
              </a:ext>
            </a:extLst>
          </p:cNvPr>
          <p:cNvSpPr txBox="1"/>
          <p:nvPr/>
        </p:nvSpPr>
        <p:spPr>
          <a:xfrm>
            <a:off x="524655" y="3241622"/>
            <a:ext cx="4075450" cy="1417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999"/>
              </a:lnSpc>
            </a:pPr>
            <a:r>
              <a:rPr lang="en-US" sz="1300">
                <a:solidFill>
                  <a:srgbClr val="595959"/>
                </a:solidFill>
              </a:rPr>
              <a:t>Motor accuracy</a:t>
            </a:r>
            <a:endParaRPr lang="en-US" sz="1300"/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300" err="1">
                <a:solidFill>
                  <a:srgbClr val="595959"/>
                </a:solidFill>
              </a:rPr>
              <a:t>Microstepping</a:t>
            </a:r>
            <a:r>
              <a:rPr lang="en-US" sz="1300">
                <a:solidFill>
                  <a:srgbClr val="595959"/>
                </a:solidFill>
              </a:rPr>
              <a:t> up to 40000 pulse/rev = 0.009°</a:t>
            </a:r>
          </a:p>
          <a:p>
            <a:pPr marL="285750" indent="-285750">
              <a:lnSpc>
                <a:spcPct val="114999"/>
              </a:lnSpc>
              <a:buChar char="•"/>
            </a:pPr>
            <a:r>
              <a:rPr lang="en-US" sz="1300">
                <a:solidFill>
                  <a:srgbClr val="595959"/>
                </a:solidFill>
              </a:rPr>
              <a:t>Dish –3dB BW is pretty small but the first null is at ~30° so there's a good amount of margin</a:t>
            </a:r>
            <a:endParaRPr lang="en-US" sz="1300"/>
          </a:p>
          <a:p>
            <a:pPr marL="742950" lvl="2" indent="-285750">
              <a:lnSpc>
                <a:spcPct val="114999"/>
              </a:lnSpc>
              <a:buFont typeface="Wingdings"/>
              <a:buChar char="§"/>
            </a:pPr>
            <a:r>
              <a:rPr lang="en-US" sz="1100">
                <a:solidFill>
                  <a:srgbClr val="595959"/>
                </a:solidFill>
              </a:rPr>
              <a:t>Accuracy bottleneck will be angle of arrival accuracy, not motors (theoretically 0.034°)</a:t>
            </a:r>
            <a:endParaRPr lang="en-US" sz="1100">
              <a:solidFill>
                <a:srgbClr val="BFBF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18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7271F9-7442-BE10-C496-C7812E7A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3416"/>
            <a:ext cx="8709600" cy="677100"/>
          </a:xfrm>
        </p:spPr>
        <p:txBody>
          <a:bodyPr/>
          <a:lstStyle/>
          <a:p>
            <a:r>
              <a:rPr lang="en-US">
                <a:latin typeface="Arial"/>
              </a:rPr>
              <a:t>Azimuth Coupling Mechanism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3C5DD-5EF1-0D33-942D-3F4B3E43CC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lang="en"/>
          </a:p>
        </p:txBody>
      </p:sp>
      <p:pic>
        <p:nvPicPr>
          <p:cNvPr id="5" name="Picture 4" descr="A drawing of a table&#10;&#10;AI-generated content may be incorrect.">
            <a:extLst>
              <a:ext uri="{FF2B5EF4-FFF2-40B4-BE49-F238E27FC236}">
                <a16:creationId xmlns:a16="http://schemas.microsoft.com/office/drawing/2014/main" id="{A76D84FE-B32D-F8E9-328F-9D07108BD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157" y="1088076"/>
            <a:ext cx="5054007" cy="353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23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A640C-0BDA-CAF8-B321-2FE3BA5FE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lang="e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6D155A0-C036-849C-FA40-23FB7219F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884470"/>
              </p:ext>
            </p:extLst>
          </p:nvPr>
        </p:nvGraphicFramePr>
        <p:xfrm>
          <a:off x="258190" y="865422"/>
          <a:ext cx="8797063" cy="2987040"/>
        </p:xfrm>
        <a:graphic>
          <a:graphicData uri="http://schemas.openxmlformats.org/drawingml/2006/table">
            <a:tbl>
              <a:tblPr firstRow="1" bandRow="1">
                <a:tableStyleId>{34AB875A-C1D5-49DA-91A2-3AC8077AC07E}</a:tableStyleId>
              </a:tblPr>
              <a:tblGrid>
                <a:gridCol w="476617">
                  <a:extLst>
                    <a:ext uri="{9D8B030D-6E8A-4147-A177-3AD203B41FA5}">
                      <a16:colId xmlns:a16="http://schemas.microsoft.com/office/drawing/2014/main" val="3990768121"/>
                    </a:ext>
                  </a:extLst>
                </a:gridCol>
                <a:gridCol w="476617">
                  <a:extLst>
                    <a:ext uri="{9D8B030D-6E8A-4147-A177-3AD203B41FA5}">
                      <a16:colId xmlns:a16="http://schemas.microsoft.com/office/drawing/2014/main" val="3143845074"/>
                    </a:ext>
                  </a:extLst>
                </a:gridCol>
                <a:gridCol w="1498455">
                  <a:extLst>
                    <a:ext uri="{9D8B030D-6E8A-4147-A177-3AD203B41FA5}">
                      <a16:colId xmlns:a16="http://schemas.microsoft.com/office/drawing/2014/main" val="2892215372"/>
                    </a:ext>
                  </a:extLst>
                </a:gridCol>
                <a:gridCol w="4213323">
                  <a:extLst>
                    <a:ext uri="{9D8B030D-6E8A-4147-A177-3AD203B41FA5}">
                      <a16:colId xmlns:a16="http://schemas.microsoft.com/office/drawing/2014/main" val="3546709187"/>
                    </a:ext>
                  </a:extLst>
                </a:gridCol>
                <a:gridCol w="2132051">
                  <a:extLst>
                    <a:ext uri="{9D8B030D-6E8A-4147-A177-3AD203B41FA5}">
                      <a16:colId xmlns:a16="http://schemas.microsoft.com/office/drawing/2014/main" val="2339703928"/>
                    </a:ext>
                  </a:extLst>
                </a:gridCol>
              </a:tblGrid>
              <a:tr h="275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ITEM NO.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QTY.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PART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MFG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41170"/>
                  </a:ext>
                </a:extLst>
              </a:tr>
              <a:tr h="172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1.001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MOTOR STANDOFF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LATHE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906931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1.002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AZIMUTH TURN TABLE BEARING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41371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1.003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BALL TRANSFER BEARINGS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521782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1.004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MOTOR SHAFT 14MM TO 14MM JOINT COUPLER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156906"/>
                  </a:ext>
                </a:extLst>
              </a:tr>
              <a:tr h="637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</a:endParaRPr>
                    </a:p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1.005 </a:t>
                      </a:r>
                      <a:br>
                        <a:rPr lang="en-US">
                          <a:effectLst/>
                        </a:rPr>
                      </a:b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FLANGE COUPLING 14MM SHAFT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260417"/>
                  </a:ext>
                </a:extLst>
              </a:tr>
              <a:tr h="1722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109036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688632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437241"/>
                  </a:ext>
                </a:extLst>
              </a:tr>
              <a:tr h="1378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953090"/>
                  </a:ext>
                </a:extLst>
              </a:tr>
              <a:tr h="1722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>
                        <a:solidFill>
                          <a:srgbClr val="000000"/>
                        </a:solidFill>
                        <a:effectLst/>
                        <a:highlight>
                          <a:srgbClr val="FFFFFF"/>
                        </a:highlight>
                        <a:latin typeface="Open San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801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13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42CCB-D12F-8A64-6038-F811FC37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BBB3AD-C074-2A48-1862-09ECB9AA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" y="651458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Elevation Assembly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D839B-A590-D96F-2D00-5A5B7881FD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" sz="3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52C42-C743-326E-AA81-36B759E5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654" y="846787"/>
            <a:ext cx="5633280" cy="38987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FC51D4-61DE-25B6-2875-A29F24AADDDF}"/>
              </a:ext>
            </a:extLst>
          </p:cNvPr>
          <p:cNvSpPr txBox="1"/>
          <p:nvPr/>
        </p:nvSpPr>
        <p:spPr>
          <a:xfrm>
            <a:off x="138981" y="1222143"/>
            <a:ext cx="363987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Rotates 180 degrees</a:t>
            </a:r>
          </a:p>
          <a:p>
            <a:pPr marL="285750" indent="-285750">
              <a:buChar char="•"/>
            </a:pPr>
            <a:r>
              <a:rPr lang="en-US"/>
              <a:t>Supports MAX 10 lb Antenna</a:t>
            </a:r>
          </a:p>
          <a:p>
            <a:pPr marL="285750" indent="-285750">
              <a:buChar char="•"/>
            </a:pPr>
            <a:r>
              <a:rPr lang="en-US"/>
              <a:t>Max Acceleration at +/-24.5rad/s </a:t>
            </a:r>
            <a:r>
              <a:rPr lang="en-US" b="1"/>
              <a:t>TBR</a:t>
            </a:r>
          </a:p>
          <a:p>
            <a:pPr marL="285750" indent="-285750">
              <a:buChar char="•"/>
            </a:pPr>
            <a:r>
              <a:rPr lang="en-US"/>
              <a:t>Max Velocity 2.45rad/s</a:t>
            </a:r>
          </a:p>
          <a:p>
            <a:pPr marL="285750" indent="-285750">
              <a:buChar char="•"/>
            </a:pPr>
            <a:r>
              <a:rPr lang="en-US"/>
              <a:t>Contain Location for RF PCB</a:t>
            </a:r>
          </a:p>
          <a:p>
            <a:pPr marL="285750" indent="-285750">
              <a:buChar char="•"/>
            </a:pPr>
            <a:r>
              <a:rPr lang="en-US"/>
              <a:t>Mounts to Antenna on Front</a:t>
            </a:r>
          </a:p>
        </p:txBody>
      </p:sp>
      <p:pic>
        <p:nvPicPr>
          <p:cNvPr id="5" name="Picture 4" descr="A blue and brown machine with metal parts&#10;&#10;AI-generated content may be incorrect.">
            <a:extLst>
              <a:ext uri="{FF2B5EF4-FFF2-40B4-BE49-F238E27FC236}">
                <a16:creationId xmlns:a16="http://schemas.microsoft.com/office/drawing/2014/main" id="{3ACCAF86-A062-DB05-D08B-3D14CF618C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8"/>
          <a:stretch>
            <a:fillRect/>
          </a:stretch>
        </p:blipFill>
        <p:spPr>
          <a:xfrm>
            <a:off x="185096" y="2799383"/>
            <a:ext cx="3412364" cy="194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3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BA79A-3AFD-41E1-6B93-B58CB64E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C6F3C8-2A15-54FB-52EE-D7198EA75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" y="651458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Elevation Assembly –</a:t>
            </a:r>
            <a:r>
              <a:rPr lang="en-US" sz="2000" i="1"/>
              <a:t> Hand Calculations</a:t>
            </a: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D6D80-3FF8-925E-7869-D076CE5325A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n" sz="3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ED8A6-FD75-0328-0683-7F5A3328B307}"/>
              </a:ext>
            </a:extLst>
          </p:cNvPr>
          <p:cNvSpPr txBox="1"/>
          <p:nvPr/>
        </p:nvSpPr>
        <p:spPr>
          <a:xfrm>
            <a:off x="138981" y="1222143"/>
            <a:ext cx="6803351" cy="35249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Analysis: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Torsion of the shaft - </a:t>
            </a:r>
            <a:r>
              <a:rPr lang="en-US" b="1">
                <a:solidFill>
                  <a:srgbClr val="00B050"/>
                </a:solidFill>
              </a:rPr>
              <a:t>PASS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solidFill>
                  <a:schemeClr val="tx1"/>
                </a:solidFill>
              </a:rPr>
              <a:t>G from AZO Materials 1045 Carbon Steel, Equation from </a:t>
            </a:r>
            <a:r>
              <a:rPr lang="en-US" err="1">
                <a:solidFill>
                  <a:schemeClr val="tx1"/>
                </a:solidFill>
              </a:rPr>
              <a:t>Roarks</a:t>
            </a:r>
            <a:endParaRPr lang="en-US">
              <a:solidFill>
                <a:schemeClr val="tx1"/>
              </a:solidFill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Bending of Motor Standoffs - </a:t>
            </a:r>
            <a:r>
              <a:rPr lang="en-US" b="1">
                <a:solidFill>
                  <a:srgbClr val="00B050"/>
                </a:solidFill>
              </a:rPr>
              <a:t>PASS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>
                <a:solidFill>
                  <a:schemeClr val="tx1"/>
                </a:solidFill>
              </a:rPr>
              <a:t>E from MMPDS Al 6061, Equation from </a:t>
            </a:r>
            <a:r>
              <a:rPr lang="en-US" err="1">
                <a:solidFill>
                  <a:schemeClr val="tx1"/>
                </a:solidFill>
              </a:rPr>
              <a:t>Roarks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6" name="Picture 5" descr="A math equation with numbers&#10;&#10;AI-generated content may be incorrect.">
            <a:extLst>
              <a:ext uri="{FF2B5EF4-FFF2-40B4-BE49-F238E27FC236}">
                <a16:creationId xmlns:a16="http://schemas.microsoft.com/office/drawing/2014/main" id="{C8455AC5-3B29-62F7-9C0E-97D9EEEAC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56" y="2048502"/>
            <a:ext cx="4334683" cy="775458"/>
          </a:xfrm>
          <a:prstGeom prst="rect">
            <a:avLst/>
          </a:prstGeom>
        </p:spPr>
      </p:pic>
      <p:pic>
        <p:nvPicPr>
          <p:cNvPr id="7" name="Picture 6" descr="A black line with numbers and letters&#10;&#10;AI-generated content may be incorrect.">
            <a:extLst>
              <a:ext uri="{FF2B5EF4-FFF2-40B4-BE49-F238E27FC236}">
                <a16:creationId xmlns:a16="http://schemas.microsoft.com/office/drawing/2014/main" id="{2D866769-0D1E-D4E4-5657-FC0EF8F0E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0" y="3776869"/>
            <a:ext cx="6518975" cy="7862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854594-1FEA-F3D8-36FF-78AA3322EB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79" r="-121" b="221"/>
          <a:stretch>
            <a:fillRect/>
          </a:stretch>
        </p:blipFill>
        <p:spPr>
          <a:xfrm>
            <a:off x="6181028" y="571499"/>
            <a:ext cx="2965481" cy="1933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848B64-8765-0A61-5D12-A5720FE51D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18" r="254" b="209"/>
          <a:stretch>
            <a:fillRect/>
          </a:stretch>
        </p:blipFill>
        <p:spPr>
          <a:xfrm>
            <a:off x="6949537" y="2380685"/>
            <a:ext cx="2189169" cy="231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4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75D0-7C7C-E559-A625-550204FB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2EF118-A585-9EBF-D6E9-9198EF5A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" y="651458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Elevation Assembly – </a:t>
            </a:r>
            <a:r>
              <a:rPr lang="en-US" sz="2000" i="1"/>
              <a:t>Acceleration Deflection Analysis</a:t>
            </a: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4A415-556C-C02B-BF05-CE1E5F37606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" sz="3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00D52-18CA-03E6-1E6E-AFAA1371180D}"/>
              </a:ext>
            </a:extLst>
          </p:cNvPr>
          <p:cNvSpPr txBox="1"/>
          <p:nvPr/>
        </p:nvSpPr>
        <p:spPr>
          <a:xfrm>
            <a:off x="138981" y="1222143"/>
            <a:ext cx="3639870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ANSYS Static Structural Analysis:</a:t>
            </a:r>
          </a:p>
          <a:p>
            <a:pPr marL="285750" indent="-285750">
              <a:buChar char="•"/>
            </a:pPr>
            <a:r>
              <a:rPr lang="en-US"/>
              <a:t>Large Deflections Off</a:t>
            </a:r>
          </a:p>
          <a:p>
            <a:pPr marL="285750" indent="-285750">
              <a:buChar char="•"/>
            </a:pPr>
            <a:r>
              <a:rPr lang="en-US"/>
              <a:t>Assuming Max Acceleration: 24.5rad/s</a:t>
            </a:r>
          </a:p>
          <a:p>
            <a:pPr marL="285750" indent="-285750">
              <a:buChar char="•"/>
            </a:pPr>
            <a:r>
              <a:rPr lang="en-US"/>
              <a:t>Assuming Antenna Mass: 9.9lbs</a:t>
            </a:r>
          </a:p>
          <a:p>
            <a:pPr marL="285750" indent="-285750">
              <a:buChar char="•"/>
            </a:pPr>
            <a:r>
              <a:rPr lang="en-US"/>
              <a:t>Max Deflection: ~0.0005"</a:t>
            </a:r>
          </a:p>
          <a:p>
            <a:pPr marL="285750" indent="-285750">
              <a:buChar char="•"/>
            </a:pPr>
            <a:r>
              <a:rPr lang="en-US"/>
              <a:t>Max Stress: 9.687 MPa &lt;&lt; Yield</a:t>
            </a:r>
          </a:p>
          <a:p>
            <a:pPr marL="285750" indent="-285750">
              <a:buChar char="•"/>
            </a:pPr>
            <a:r>
              <a:rPr lang="en-US"/>
              <a:t>TBD Non-Constant Accelerations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May lead to analysis being under-conservative</a:t>
            </a:r>
          </a:p>
          <a:p>
            <a:endParaRPr lang="en-US"/>
          </a:p>
          <a:p>
            <a:r>
              <a:rPr lang="en-US" b="1">
                <a:solidFill>
                  <a:srgbClr val="00B050"/>
                </a:solidFill>
              </a:rPr>
              <a:t>PASS</a:t>
            </a:r>
          </a:p>
        </p:txBody>
      </p:sp>
      <p:pic>
        <p:nvPicPr>
          <p:cNvPr id="6" name="Picture 5" descr="A multicolored rectangular object with a grid&#10;&#10;AI-generated content may be incorrect.">
            <a:extLst>
              <a:ext uri="{FF2B5EF4-FFF2-40B4-BE49-F238E27FC236}">
                <a16:creationId xmlns:a16="http://schemas.microsoft.com/office/drawing/2014/main" id="{6D7C810A-8954-CE2C-91C6-DE83BC912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478" y="1347754"/>
            <a:ext cx="5187090" cy="284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81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BE2B-636B-B23E-8DF1-7245C420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679486-CEE5-6172-85DB-AE51D890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" y="651458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Elevation Assembly – </a:t>
            </a:r>
            <a:r>
              <a:rPr lang="en-US" sz="2000" i="1"/>
              <a:t>Harnessing</a:t>
            </a: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6EA83-00E9-D791-4B15-FD2833710C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" sz="3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3BD9A-2A04-B5C2-0CBE-B7719BBE96E8}"/>
              </a:ext>
            </a:extLst>
          </p:cNvPr>
          <p:cNvSpPr txBox="1"/>
          <p:nvPr/>
        </p:nvSpPr>
        <p:spPr>
          <a:xfrm>
            <a:off x="134138" y="1285105"/>
            <a:ext cx="460367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/>
              <a:t>Use Cable from Rear Side</a:t>
            </a:r>
          </a:p>
          <a:p>
            <a:pPr marL="285750" indent="-285750">
              <a:buChar char="•"/>
            </a:pPr>
            <a:r>
              <a:rPr lang="en-US"/>
              <a:t>If Needed Add Stiffening Using Sheet Metal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Similar to 3d Printers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Harness Contents TBD</a:t>
            </a:r>
          </a:p>
          <a:p>
            <a:pPr marL="742950" lvl="1" indent="-285750">
              <a:buFont typeface="Courier New"/>
              <a:buChar char="o"/>
            </a:pPr>
            <a:r>
              <a:rPr lang="en-US" b="1"/>
              <a:t>All RF cabling shall be constrained to the elevation stage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/>
              <a:t>Motor power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Motor control serial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Ranging to  CDH serial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WALRUS to CDH serial</a:t>
            </a:r>
          </a:p>
          <a:p>
            <a:pPr marL="742950" lvl="1" indent="-285750">
              <a:buFont typeface="Courier New"/>
              <a:buChar char="o"/>
            </a:pPr>
            <a:r>
              <a:rPr lang="en-US"/>
              <a:t>L-band radio to CDH serial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/>
              <a:t>Discussion items (potentially leave for later)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Batteries for RF boards on elevation stage?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PCB placement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6" name="Picture 5" descr="A drawing of a wooden post&#10;&#10;AI-generated content may be incorrect.">
            <a:extLst>
              <a:ext uri="{FF2B5EF4-FFF2-40B4-BE49-F238E27FC236}">
                <a16:creationId xmlns:a16="http://schemas.microsoft.com/office/drawing/2014/main" id="{B6B3524B-62A3-82C9-E4F5-F2110AD59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251" y="571500"/>
            <a:ext cx="3793489" cy="426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07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6CD3-2F94-E237-A75D-0B74BD46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721A0A-A948-0156-30B1-DB4E58AD6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" y="651458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Elevation Assembly – </a:t>
            </a:r>
            <a:r>
              <a:rPr lang="en-US" sz="2000" i="1"/>
              <a:t>Parts List 1</a:t>
            </a: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E7F58-E015-1FAB-9ECF-04C870762E7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" sz="3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01C72-7435-F33B-FB1E-F7EF62589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322971"/>
              </p:ext>
            </p:extLst>
          </p:nvPr>
        </p:nvGraphicFramePr>
        <p:xfrm>
          <a:off x="118399" y="1223123"/>
          <a:ext cx="8797063" cy="3413760"/>
        </p:xfrm>
        <a:graphic>
          <a:graphicData uri="http://schemas.openxmlformats.org/drawingml/2006/table">
            <a:tbl>
              <a:tblPr firstRow="1" bandRow="1">
                <a:tableStyleId>{34AB875A-C1D5-49DA-91A2-3AC8077AC07E}</a:tableStyleId>
              </a:tblPr>
              <a:tblGrid>
                <a:gridCol w="476617">
                  <a:extLst>
                    <a:ext uri="{9D8B030D-6E8A-4147-A177-3AD203B41FA5}">
                      <a16:colId xmlns:a16="http://schemas.microsoft.com/office/drawing/2014/main" val="3990768121"/>
                    </a:ext>
                  </a:extLst>
                </a:gridCol>
                <a:gridCol w="476617">
                  <a:extLst>
                    <a:ext uri="{9D8B030D-6E8A-4147-A177-3AD203B41FA5}">
                      <a16:colId xmlns:a16="http://schemas.microsoft.com/office/drawing/2014/main" val="3143845074"/>
                    </a:ext>
                  </a:extLst>
                </a:gridCol>
                <a:gridCol w="1498455">
                  <a:extLst>
                    <a:ext uri="{9D8B030D-6E8A-4147-A177-3AD203B41FA5}">
                      <a16:colId xmlns:a16="http://schemas.microsoft.com/office/drawing/2014/main" val="2892215372"/>
                    </a:ext>
                  </a:extLst>
                </a:gridCol>
                <a:gridCol w="4213323">
                  <a:extLst>
                    <a:ext uri="{9D8B030D-6E8A-4147-A177-3AD203B41FA5}">
                      <a16:colId xmlns:a16="http://schemas.microsoft.com/office/drawing/2014/main" val="3546709187"/>
                    </a:ext>
                  </a:extLst>
                </a:gridCol>
                <a:gridCol w="2132051">
                  <a:extLst>
                    <a:ext uri="{9D8B030D-6E8A-4147-A177-3AD203B41FA5}">
                      <a16:colId xmlns:a16="http://schemas.microsoft.com/office/drawing/2014/main" val="2339703928"/>
                    </a:ext>
                  </a:extLst>
                </a:gridCol>
              </a:tblGrid>
              <a:tr h="26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ITEM NO.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QTY.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PART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MFG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41170"/>
                  </a:ext>
                </a:extLst>
              </a:tr>
              <a:tr h="26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VERTICAL STANCHION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DRILL PRESS, CIRCULAR SAW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906931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DISH ATTACHMENT STRUCTURE, ELEVATION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WJ, METAL BENDING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41371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RIGHT ELEVATION TUBE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MILL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521782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LEFT ELEVATION TUBE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MILL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156906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2.005 </a:t>
                      </a:r>
                      <a:br>
                        <a:rPr lang="en-US">
                          <a:effectLst/>
                        </a:rPr>
                      </a:b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COUNTERWEIGHT BOX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3D PRINTING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260417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2.006 </a:t>
                      </a:r>
                      <a:br>
                        <a:rPr lang="en-US">
                          <a:effectLst/>
                        </a:rPr>
                      </a:br>
                      <a:endParaRPr lang="en-US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COUNTERWEIGHT LID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3D PRINTING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109036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FLANGE COUPLING 14MM SHAFT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688632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ELEVATION SPACER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LATHE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437241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2.009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MOTOR STANDOFF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LATHE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953090"/>
                  </a:ext>
                </a:extLst>
              </a:tr>
              <a:tr h="26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34HS31-6004D-E1000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4.3Nm Closed loop stepper motor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801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51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326E-5014-991F-42D9-703C03B9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282B6E-67E0-BC2D-C1AD-DDA6CF78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00" y="651458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Dish Attachment Mechanism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92B64-A60D-E183-8327-E696F844DE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" sz="300"/>
          </a:p>
        </p:txBody>
      </p:sp>
      <p:pic>
        <p:nvPicPr>
          <p:cNvPr id="5" name="Picture 4" descr="A metal piece with screws&#10;&#10;AI-generated content may be incorrect.">
            <a:extLst>
              <a:ext uri="{FF2B5EF4-FFF2-40B4-BE49-F238E27FC236}">
                <a16:creationId xmlns:a16="http://schemas.microsoft.com/office/drawing/2014/main" id="{32F0F264-6025-5495-30DE-20A45F5DE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458" y="1087674"/>
            <a:ext cx="4629150" cy="37052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B368410-6ACB-96D0-161C-83169583B492}"/>
              </a:ext>
            </a:extLst>
          </p:cNvPr>
          <p:cNvSpPr/>
          <p:nvPr/>
        </p:nvSpPr>
        <p:spPr>
          <a:xfrm rot="1320000">
            <a:off x="4600041" y="2581485"/>
            <a:ext cx="1388226" cy="14309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9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4FBA-83F8-64E6-ECF5-CA0D317EF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BAC3BB-07FF-83EA-C31B-857028F6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45" y="651458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Elevation Assembly – </a:t>
            </a:r>
            <a:r>
              <a:rPr lang="en-US" sz="2000" i="1"/>
              <a:t>Parts List 2</a:t>
            </a: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A7989-DABD-7979-05C1-B56B45C3E7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" sz="3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702DF9-CBA7-23BB-5045-B06B3C454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75671"/>
              </p:ext>
            </p:extLst>
          </p:nvPr>
        </p:nvGraphicFramePr>
        <p:xfrm>
          <a:off x="118399" y="1223123"/>
          <a:ext cx="8797063" cy="2560320"/>
        </p:xfrm>
        <a:graphic>
          <a:graphicData uri="http://schemas.openxmlformats.org/drawingml/2006/table">
            <a:tbl>
              <a:tblPr firstRow="1" bandRow="1">
                <a:tableStyleId>{34AB875A-C1D5-49DA-91A2-3AC8077AC07E}</a:tableStyleId>
              </a:tblPr>
              <a:tblGrid>
                <a:gridCol w="476617">
                  <a:extLst>
                    <a:ext uri="{9D8B030D-6E8A-4147-A177-3AD203B41FA5}">
                      <a16:colId xmlns:a16="http://schemas.microsoft.com/office/drawing/2014/main" val="3990768121"/>
                    </a:ext>
                  </a:extLst>
                </a:gridCol>
                <a:gridCol w="476617">
                  <a:extLst>
                    <a:ext uri="{9D8B030D-6E8A-4147-A177-3AD203B41FA5}">
                      <a16:colId xmlns:a16="http://schemas.microsoft.com/office/drawing/2014/main" val="3143845074"/>
                    </a:ext>
                  </a:extLst>
                </a:gridCol>
                <a:gridCol w="1498455">
                  <a:extLst>
                    <a:ext uri="{9D8B030D-6E8A-4147-A177-3AD203B41FA5}">
                      <a16:colId xmlns:a16="http://schemas.microsoft.com/office/drawing/2014/main" val="2892215372"/>
                    </a:ext>
                  </a:extLst>
                </a:gridCol>
                <a:gridCol w="4213323">
                  <a:extLst>
                    <a:ext uri="{9D8B030D-6E8A-4147-A177-3AD203B41FA5}">
                      <a16:colId xmlns:a16="http://schemas.microsoft.com/office/drawing/2014/main" val="3546709187"/>
                    </a:ext>
                  </a:extLst>
                </a:gridCol>
                <a:gridCol w="2132051">
                  <a:extLst>
                    <a:ext uri="{9D8B030D-6E8A-4147-A177-3AD203B41FA5}">
                      <a16:colId xmlns:a16="http://schemas.microsoft.com/office/drawing/2014/main" val="2339703928"/>
                    </a:ext>
                  </a:extLst>
                </a:gridCol>
              </a:tblGrid>
              <a:tr h="266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ITEM NO.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QTY.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PART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MFG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41170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1252089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MOTOR SHAFT 14MM TO 14MM JOINT COUPLER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33664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1439K27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1045 Carbon Steel Keyed Rotary Shaft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607481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91180A177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Medium-Strength Class 8.8 Steel Hex Head Screw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260603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94645A102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NUT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605428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6659K21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Oil-Embedded Flanged Sleeve Bearing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4716825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95105A135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Zinc-Plated Steel Heavy-Duty Rivet Nut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463057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92288A493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Machine Key Stock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003340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92196A556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18-8 Stainless Steel Socket Head Screw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43044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95615A120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Medium-Strength Steel Nylon-Insert Locknut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797049"/>
                  </a:ext>
                </a:extLst>
              </a:tr>
              <a:tr h="13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97519A025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Zinc-Plated Blind Rivets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128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68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EC5C-1AD0-CBCD-A6E6-52B3A7DB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33AB38-DA02-BC69-F60E-9E46CF96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0450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Counterweight: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A4FA-1334-7D71-7F89-671E60DE5C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68975" y="4747550"/>
            <a:ext cx="375300" cy="309300"/>
          </a:xfrm>
        </p:spPr>
        <p:txBody>
          <a:bodyPr wrap="square" anchor="ctr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300"/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n" sz="3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308E6-2F20-4AA3-988C-585F24B9922E}"/>
              </a:ext>
            </a:extLst>
          </p:cNvPr>
          <p:cNvSpPr txBox="1"/>
          <p:nvPr/>
        </p:nvSpPr>
        <p:spPr>
          <a:xfrm>
            <a:off x="5163247" y="1546080"/>
            <a:ext cx="3850734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/>
              <a:t>Total Steel Shot Volume Needed for 2.5 kg: 320 cm^3</a:t>
            </a:r>
          </a:p>
          <a:p>
            <a:r>
              <a:rPr lang="en-US" sz="1200"/>
              <a:t>CW Volume (per side): 576 cm^3</a:t>
            </a:r>
          </a:p>
          <a:p>
            <a:endParaRPr lang="en-US" sz="1200"/>
          </a:p>
          <a:p>
            <a:r>
              <a:rPr lang="en-US" sz="1200"/>
              <a:t>Adjusting weight on each side to reduce wobble?</a:t>
            </a:r>
          </a:p>
          <a:p>
            <a:r>
              <a:rPr lang="en-US" sz="1200"/>
              <a:t>RF PCBs will be part of counterweight TBR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F6C69-D94C-89EB-88E1-BA4586937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951" y="105714"/>
            <a:ext cx="2181529" cy="1152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C1340E-E73F-55D4-EBB9-1830410F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31" y="1256499"/>
            <a:ext cx="4834330" cy="334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13572"/>
      </p:ext>
    </p:extLst>
  </p:cSld>
  <p:clrMapOvr>
    <a:masterClrMapping/>
  </p:clrMapOvr>
</p:sld>
</file>

<file path=ppt/theme/theme1.xml><?xml version="1.0" encoding="utf-8"?>
<a:theme xmlns:a="http://schemas.openxmlformats.org/drawingml/2006/main" name="CUSRL Standard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Macintosh PowerPoint</Application>
  <PresentationFormat>On-screen Show (16:9)</PresentationFormat>
  <Paragraphs>231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Courier New</vt:lpstr>
      <vt:lpstr>Montserrat</vt:lpstr>
      <vt:lpstr>Arial</vt:lpstr>
      <vt:lpstr>Open Sans</vt:lpstr>
      <vt:lpstr>Wingdings</vt:lpstr>
      <vt:lpstr>Courier New,monospace</vt:lpstr>
      <vt:lpstr>CUSRL Standard Template</vt:lpstr>
      <vt:lpstr>Groundstation Mechanisms Design Review 2</vt:lpstr>
      <vt:lpstr>Agenda</vt:lpstr>
      <vt:lpstr>Sizing and Pointing Precision</vt:lpstr>
      <vt:lpstr>Azimuth Coupling Mechanism</vt:lpstr>
      <vt:lpstr>PowerPoint Presentation</vt:lpstr>
      <vt:lpstr>Elevation Assembly</vt:lpstr>
      <vt:lpstr>Elevation Assembly – Hand Calculations</vt:lpstr>
      <vt:lpstr>Elevation Assembly – Acceleration Deflection Analysis</vt:lpstr>
      <vt:lpstr>Elevation Assembly – Harnessing</vt:lpstr>
      <vt:lpstr>Elevation Assembly – Parts List 1</vt:lpstr>
      <vt:lpstr>Dish Attachment Mechanism</vt:lpstr>
      <vt:lpstr>Elevation Assembly – Parts List 2</vt:lpstr>
      <vt:lpstr>Counterweight: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Mamba III Critical Design Review</dc:title>
  <cp:lastModifiedBy>Landon Holligan</cp:lastModifiedBy>
  <cp:revision>6</cp:revision>
  <dcterms:modified xsi:type="dcterms:W3CDTF">2026-09-11T19:42:49Z</dcterms:modified>
</cp:coreProperties>
</file>