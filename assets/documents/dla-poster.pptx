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
  </p:notesMasterIdLst>
  <p:sldIdLst>
    <p:sldId id="258" r:id="rId5"/>
  </p:sldIdLst>
  <p:sldSz cx="438912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1pPr>
    <a:lvl2pPr marL="0" marR="0" indent="26670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2pPr>
    <a:lvl3pPr marL="0" marR="0" indent="53340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3pPr>
    <a:lvl4pPr marL="0" marR="0" indent="80010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4pPr>
    <a:lvl5pPr marL="0" marR="0" indent="106680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5pPr>
    <a:lvl6pPr marL="0" marR="0" indent="133350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6pPr>
    <a:lvl7pPr marL="0" marR="0" indent="161290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7pPr>
    <a:lvl8pPr marL="0" marR="0" indent="187960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8pPr>
    <a:lvl9pPr marL="0" marR="0" indent="214630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6947A3-F7A5-3820-207A-9B139635EFFD}" name="Sebastian K Hampl" initials="SKH" userId="S::seha3173@colorado.edu::cd3dfae5-2237-4202-8f45-0d4dfc962c74" providerId="AD"/>
  <p188:author id="{8D0E3DF1-1C03-3D94-A8D0-454A5A6F489A}" name="Ethan Weber" initials="EW" userId="S::etwe2206@colorado.edu::287269e8-a548-4e47-ae5d-2ffbebde13f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D4C0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642104-2DBC-9867-909B-8EC9E290C060}" v="243" dt="2026-04-03T15:45:26.572"/>
    <p1510:client id="{B7DD08B9-6C42-9A4A-84C1-4AAECA76157A}" v="710" dt="2026-04-02T23:09:53.255"/>
  </p1510:revLst>
</p1510:revInfo>
</file>

<file path=ppt/tableStyles.xml><?xml version="1.0" encoding="utf-8"?>
<a:tblStyleLst xmlns:a="http://schemas.openxmlformats.org/drawingml/2006/main" def="{5940675A-B579-460E-94D1-54222C63F5DA}">
  <a:tblStyle styleId="{8F44A2F1-9E1F-4B54-A3A2-5F16C0AD49E2}" styleName="">
    <a:tblBg/>
    <a:wholeTbl>
      <a:tcTxStyle b="off" i="off">
        <a:font>
          <a:latin typeface="Helvetica Neue Light"/>
          <a:ea typeface="Helvetica Neue Light"/>
          <a:cs typeface="Helvetica Neue Light"/>
        </a:font>
        <a:srgbClr val="000000"/>
      </a:tcTxStyle>
      <a:tcStyle>
        <a:tcBdr>
          <a:left>
            <a:ln w="101600" cap="flat">
              <a:solidFill>
                <a:srgbClr val="000000"/>
              </a:solidFill>
              <a:prstDash val="solid"/>
              <a:miter lim="400000"/>
            </a:ln>
          </a:left>
          <a:right>
            <a:ln w="101600" cap="flat">
              <a:solidFill>
                <a:srgbClr val="000000"/>
              </a:solidFill>
              <a:prstDash val="solid"/>
              <a:miter lim="400000"/>
            </a:ln>
          </a:right>
          <a:top>
            <a:ln w="101600" cap="flat">
              <a:solidFill>
                <a:srgbClr val="000000"/>
              </a:solidFill>
              <a:prstDash val="solid"/>
              <a:miter lim="400000"/>
            </a:ln>
          </a:top>
          <a:bottom>
            <a:ln w="101600" cap="flat">
              <a:solidFill>
                <a:srgbClr val="000000"/>
              </a:solidFill>
              <a:prstDash val="solid"/>
              <a:miter lim="400000"/>
            </a:ln>
          </a:bottom>
          <a:insideH>
            <a:ln w="101600" cap="flat">
              <a:solidFill>
                <a:srgbClr val="000000"/>
              </a:solidFill>
              <a:prstDash val="solid"/>
              <a:miter lim="400000"/>
            </a:ln>
          </a:insideH>
          <a:insideV>
            <a:ln w="101600" cap="flat">
              <a:solidFill>
                <a:srgbClr val="000000"/>
              </a:solidFill>
              <a:prstDash val="solid"/>
              <a:miter lim="400000"/>
            </a:ln>
          </a:insideV>
        </a:tcBdr>
        <a:fill>
          <a:noFill/>
        </a:fill>
      </a:tcStyle>
    </a:wholeTbl>
    <a:band2H>
      <a:tcTxStyle/>
      <a:tcStyle>
        <a:tcBdr/>
        <a:fill>
          <a:solidFill>
            <a:srgbClr val="EFF1F3"/>
          </a:solidFill>
        </a:fill>
      </a:tcStyle>
    </a:band2H>
    <a:firstCol>
      <a:tcTxStyle b="off" i="off">
        <a:font>
          <a:latin typeface="Helvetica Neue Light"/>
          <a:ea typeface="Helvetica Neue Light"/>
          <a:cs typeface="Helvetica Neue Light"/>
        </a:font>
        <a:srgbClr val="000000"/>
      </a:tcTxStyle>
      <a:tcStyle>
        <a:tcBdr>
          <a:left>
            <a:ln w="101600" cap="flat">
              <a:solidFill>
                <a:srgbClr val="000000"/>
              </a:solidFill>
              <a:prstDash val="solid"/>
              <a:miter lim="400000"/>
            </a:ln>
          </a:left>
          <a:right>
            <a:ln w="101600" cap="flat">
              <a:solidFill>
                <a:srgbClr val="000000"/>
              </a:solidFill>
              <a:prstDash val="solid"/>
              <a:miter lim="400000"/>
            </a:ln>
          </a:right>
          <a:top>
            <a:ln w="101600" cap="flat">
              <a:solidFill>
                <a:srgbClr val="000000"/>
              </a:solidFill>
              <a:prstDash val="solid"/>
              <a:miter lim="400000"/>
            </a:ln>
          </a:top>
          <a:bottom>
            <a:ln w="101600" cap="flat">
              <a:solidFill>
                <a:srgbClr val="000000"/>
              </a:solidFill>
              <a:prstDash val="solid"/>
              <a:miter lim="400000"/>
            </a:ln>
          </a:bottom>
          <a:insideH>
            <a:ln w="101600" cap="flat">
              <a:solidFill>
                <a:srgbClr val="000000"/>
              </a:solidFill>
              <a:prstDash val="solid"/>
              <a:miter lim="400000"/>
            </a:ln>
          </a:insideH>
          <a:insideV>
            <a:ln w="101600" cap="flat">
              <a:solidFill>
                <a:srgbClr val="000000"/>
              </a:solidFill>
              <a:prstDash val="solid"/>
              <a:miter lim="400000"/>
            </a:ln>
          </a:insideV>
        </a:tcBdr>
        <a:fill>
          <a:solidFill>
            <a:srgbClr val="CBCBCB"/>
          </a:solidFill>
        </a:fill>
      </a:tcStyle>
    </a:firstCol>
    <a:lastRow>
      <a:tcTxStyle b="off" i="off">
        <a:font>
          <a:latin typeface="Helvetica Neue Light"/>
          <a:ea typeface="Helvetica Neue Light"/>
          <a:cs typeface="Helvetica Neue Light"/>
        </a:font>
        <a:srgbClr val="000000"/>
      </a:tcTxStyle>
      <a:tcStyle>
        <a:tcBdr>
          <a:left>
            <a:ln w="101600" cap="flat">
              <a:solidFill>
                <a:srgbClr val="000000"/>
              </a:solidFill>
              <a:prstDash val="solid"/>
              <a:miter lim="400000"/>
            </a:ln>
          </a:left>
          <a:right>
            <a:ln w="101600" cap="flat">
              <a:solidFill>
                <a:srgbClr val="000000"/>
              </a:solidFill>
              <a:prstDash val="solid"/>
              <a:miter lim="400000"/>
            </a:ln>
          </a:right>
          <a:top>
            <a:ln w="101600" cap="flat">
              <a:solidFill>
                <a:srgbClr val="000000"/>
              </a:solidFill>
              <a:prstDash val="solid"/>
              <a:miter lim="400000"/>
            </a:ln>
          </a:top>
          <a:bottom>
            <a:ln w="101600" cap="flat">
              <a:solidFill>
                <a:srgbClr val="000000"/>
              </a:solidFill>
              <a:prstDash val="solid"/>
              <a:miter lim="400000"/>
            </a:ln>
          </a:bottom>
          <a:insideH>
            <a:ln w="101600" cap="flat">
              <a:solidFill>
                <a:srgbClr val="000000"/>
              </a:solidFill>
              <a:prstDash val="solid"/>
              <a:miter lim="400000"/>
            </a:ln>
          </a:insideH>
          <a:insideV>
            <a:ln w="101600" cap="flat">
              <a:solidFill>
                <a:srgbClr val="000000"/>
              </a:solidFill>
              <a:prstDash val="solid"/>
              <a:miter lim="400000"/>
            </a:ln>
          </a:insideV>
        </a:tcBdr>
        <a:fill>
          <a:solidFill>
            <a:srgbClr val="CBCBCB"/>
          </a:solidFill>
        </a:fill>
      </a:tcStyle>
    </a:lastRow>
    <a:firstRow>
      <a:tcTxStyle b="off" i="off">
        <a:font>
          <a:latin typeface="Helvetica Neue Light"/>
          <a:ea typeface="Helvetica Neue Light"/>
          <a:cs typeface="Helvetica Neue Light"/>
        </a:font>
        <a:srgbClr val="000000"/>
      </a:tcTxStyle>
      <a:tcStyle>
        <a:tcBdr>
          <a:left>
            <a:ln w="101600" cap="flat">
              <a:solidFill>
                <a:srgbClr val="000000"/>
              </a:solidFill>
              <a:prstDash val="solid"/>
              <a:miter lim="400000"/>
            </a:ln>
          </a:left>
          <a:right>
            <a:ln w="101600" cap="flat">
              <a:solidFill>
                <a:srgbClr val="000000"/>
              </a:solidFill>
              <a:prstDash val="solid"/>
              <a:miter lim="400000"/>
            </a:ln>
          </a:right>
          <a:top>
            <a:ln w="101600" cap="flat">
              <a:solidFill>
                <a:srgbClr val="000000"/>
              </a:solidFill>
              <a:prstDash val="solid"/>
              <a:miter lim="400000"/>
            </a:ln>
          </a:top>
          <a:bottom>
            <a:ln w="101600" cap="flat">
              <a:solidFill>
                <a:srgbClr val="000000"/>
              </a:solidFill>
              <a:prstDash val="solid"/>
              <a:miter lim="400000"/>
            </a:ln>
          </a:bottom>
          <a:insideH>
            <a:ln w="101600" cap="flat">
              <a:solidFill>
                <a:srgbClr val="000000"/>
              </a:solidFill>
              <a:prstDash val="solid"/>
              <a:miter lim="400000"/>
            </a:ln>
          </a:insideH>
          <a:insideV>
            <a:ln w="101600" cap="flat">
              <a:solidFill>
                <a:srgbClr val="000000"/>
              </a:solidFill>
              <a:prstDash val="solid"/>
              <a:miter lim="400000"/>
            </a:ln>
          </a:insideV>
        </a:tcBdr>
        <a:fill>
          <a:solidFill>
            <a:srgbClr val="CBCBCB"/>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50800" cap="flat">
              <a:solidFill>
                <a:srgbClr val="B8B8B8"/>
              </a:solidFill>
              <a:prstDash val="solid"/>
              <a:miter lim="400000"/>
            </a:ln>
          </a:left>
          <a:right>
            <a:ln w="50800" cap="flat">
              <a:solidFill>
                <a:srgbClr val="B8B8B8"/>
              </a:solidFill>
              <a:prstDash val="solid"/>
              <a:miter lim="400000"/>
            </a:ln>
          </a:right>
          <a:top>
            <a:ln w="50800" cap="flat">
              <a:solidFill>
                <a:srgbClr val="B8B8B8"/>
              </a:solidFill>
              <a:prstDash val="solid"/>
              <a:miter lim="400000"/>
            </a:ln>
          </a:top>
          <a:bottom>
            <a:ln w="50800" cap="flat">
              <a:solidFill>
                <a:srgbClr val="B8B8B8"/>
              </a:solidFill>
              <a:prstDash val="solid"/>
              <a:miter lim="400000"/>
            </a:ln>
          </a:bottom>
          <a:insideH>
            <a:ln w="50800" cap="flat">
              <a:solidFill>
                <a:srgbClr val="B8B8B8"/>
              </a:solidFill>
              <a:prstDash val="solid"/>
              <a:miter lim="400000"/>
            </a:ln>
          </a:insideH>
          <a:insideV>
            <a:ln w="508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50800" cap="flat">
              <a:solidFill>
                <a:srgbClr val="606060"/>
              </a:solidFill>
              <a:prstDash val="solid"/>
              <a:miter lim="400000"/>
            </a:ln>
          </a:left>
          <a:right>
            <a:ln w="50800" cap="flat">
              <a:solidFill>
                <a:srgbClr val="606060"/>
              </a:solidFill>
              <a:prstDash val="solid"/>
              <a:miter lim="400000"/>
            </a:ln>
          </a:right>
          <a:top>
            <a:ln w="50800" cap="flat">
              <a:solidFill>
                <a:srgbClr val="606060"/>
              </a:solidFill>
              <a:prstDash val="solid"/>
              <a:miter lim="400000"/>
            </a:ln>
          </a:top>
          <a:bottom>
            <a:ln w="50800" cap="flat">
              <a:solidFill>
                <a:srgbClr val="606060"/>
              </a:solidFill>
              <a:prstDash val="solid"/>
              <a:miter lim="400000"/>
            </a:ln>
          </a:bottom>
          <a:insideH>
            <a:ln w="50800" cap="flat">
              <a:solidFill>
                <a:srgbClr val="606060"/>
              </a:solidFill>
              <a:prstDash val="solid"/>
              <a:miter lim="400000"/>
            </a:ln>
          </a:insideH>
          <a:insideV>
            <a:ln w="508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50800" cap="flat">
              <a:solidFill>
                <a:srgbClr val="B8B8B8"/>
              </a:solidFill>
              <a:prstDash val="solid"/>
              <a:miter lim="400000"/>
            </a:ln>
          </a:left>
          <a:right>
            <a:ln w="50800" cap="flat">
              <a:solidFill>
                <a:srgbClr val="B8B8B8"/>
              </a:solidFill>
              <a:prstDash val="solid"/>
              <a:miter lim="400000"/>
            </a:ln>
          </a:right>
          <a:top>
            <a:ln w="101600" cap="flat">
              <a:solidFill>
                <a:srgbClr val="606060"/>
              </a:solidFill>
              <a:prstDash val="solid"/>
              <a:miter lim="400000"/>
            </a:ln>
          </a:top>
          <a:bottom>
            <a:ln w="50800" cap="flat">
              <a:solidFill>
                <a:srgbClr val="606060"/>
              </a:solidFill>
              <a:prstDash val="solid"/>
              <a:miter lim="400000"/>
            </a:ln>
          </a:bottom>
          <a:insideH>
            <a:ln w="50800" cap="flat">
              <a:solidFill>
                <a:srgbClr val="B8B8B8"/>
              </a:solidFill>
              <a:prstDash val="solid"/>
              <a:miter lim="400000"/>
            </a:ln>
          </a:insideH>
          <a:insideV>
            <a:ln w="508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50800" cap="flat">
              <a:solidFill>
                <a:srgbClr val="606060"/>
              </a:solidFill>
              <a:prstDash val="solid"/>
              <a:miter lim="400000"/>
            </a:ln>
          </a:left>
          <a:right>
            <a:ln w="50800" cap="flat">
              <a:solidFill>
                <a:srgbClr val="606060"/>
              </a:solidFill>
              <a:prstDash val="solid"/>
              <a:miter lim="400000"/>
            </a:ln>
          </a:right>
          <a:top>
            <a:ln w="50800" cap="flat">
              <a:solidFill>
                <a:srgbClr val="606060"/>
              </a:solidFill>
              <a:prstDash val="solid"/>
              <a:miter lim="400000"/>
            </a:ln>
          </a:top>
          <a:bottom>
            <a:ln w="50800" cap="flat">
              <a:solidFill>
                <a:srgbClr val="606060"/>
              </a:solidFill>
              <a:prstDash val="solid"/>
              <a:miter lim="400000"/>
            </a:ln>
          </a:bottom>
          <a:insideH>
            <a:ln w="50800" cap="flat">
              <a:solidFill>
                <a:srgbClr val="606060"/>
              </a:solidFill>
              <a:prstDash val="solid"/>
              <a:miter lim="400000"/>
            </a:ln>
          </a:insideH>
          <a:insideV>
            <a:ln w="508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50800" cap="flat">
              <a:solidFill>
                <a:srgbClr val="5D5D5D"/>
              </a:solidFill>
              <a:custDash>
                <a:ds d="200000" sp="200000"/>
              </a:custDash>
              <a:miter lim="400000"/>
            </a:ln>
          </a:left>
          <a:right>
            <a:ln w="50800" cap="flat">
              <a:solidFill>
                <a:srgbClr val="5D5D5D"/>
              </a:solidFill>
              <a:custDash>
                <a:ds d="200000" sp="200000"/>
              </a:custDash>
              <a:miter lim="400000"/>
            </a:ln>
          </a:right>
          <a:top>
            <a:ln w="50800" cap="flat">
              <a:solidFill>
                <a:srgbClr val="5D5D5D"/>
              </a:solidFill>
              <a:custDash>
                <a:ds d="200000" sp="200000"/>
              </a:custDash>
              <a:miter lim="400000"/>
            </a:ln>
          </a:top>
          <a:bottom>
            <a:ln w="50800" cap="flat">
              <a:solidFill>
                <a:srgbClr val="5D5D5D"/>
              </a:solidFill>
              <a:custDash>
                <a:ds d="200000" sp="200000"/>
              </a:custDash>
              <a:miter lim="400000"/>
            </a:ln>
          </a:bottom>
          <a:insideH>
            <a:ln w="50800" cap="flat">
              <a:solidFill>
                <a:srgbClr val="5D5D5D"/>
              </a:solidFill>
              <a:custDash>
                <a:ds d="200000" sp="200000"/>
              </a:custDash>
              <a:miter lim="400000"/>
            </a:ln>
          </a:insideH>
          <a:insideV>
            <a:ln w="508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50800" cap="flat">
              <a:solidFill>
                <a:srgbClr val="5D5D5D"/>
              </a:solidFill>
              <a:prstDash val="solid"/>
              <a:miter lim="400000"/>
            </a:ln>
          </a:left>
          <a:right>
            <a:ln w="50800" cap="flat">
              <a:solidFill>
                <a:srgbClr val="5D5D5D"/>
              </a:solidFill>
              <a:prstDash val="solid"/>
              <a:miter lim="400000"/>
            </a:ln>
          </a:right>
          <a:top>
            <a:ln w="50800" cap="flat">
              <a:solidFill>
                <a:srgbClr val="5D5D5D"/>
              </a:solidFill>
              <a:prstDash val="solid"/>
              <a:miter lim="400000"/>
            </a:ln>
          </a:top>
          <a:bottom>
            <a:ln w="50800" cap="flat">
              <a:solidFill>
                <a:srgbClr val="5D5D5D"/>
              </a:solidFill>
              <a:prstDash val="solid"/>
              <a:miter lim="400000"/>
            </a:ln>
          </a:bottom>
          <a:insideH>
            <a:ln w="50800" cap="flat">
              <a:solidFill>
                <a:srgbClr val="5D5D5D"/>
              </a:solidFill>
              <a:prstDash val="solid"/>
              <a:miter lim="400000"/>
            </a:ln>
          </a:insideH>
          <a:insideV>
            <a:ln w="508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50800" cap="flat">
              <a:solidFill>
                <a:srgbClr val="5D5D5D"/>
              </a:solidFill>
              <a:prstDash val="solid"/>
              <a:miter lim="400000"/>
            </a:ln>
          </a:left>
          <a:right>
            <a:ln w="50800" cap="flat">
              <a:solidFill>
                <a:srgbClr val="5D5D5D"/>
              </a:solidFill>
              <a:prstDash val="solid"/>
              <a:miter lim="400000"/>
            </a:ln>
          </a:right>
          <a:top>
            <a:ln w="50800" cap="flat">
              <a:solidFill>
                <a:srgbClr val="5D5D5D"/>
              </a:solidFill>
              <a:prstDash val="solid"/>
              <a:miter lim="400000"/>
            </a:ln>
          </a:top>
          <a:bottom>
            <a:ln w="50800" cap="flat">
              <a:solidFill>
                <a:srgbClr val="5D5D5D"/>
              </a:solidFill>
              <a:prstDash val="solid"/>
              <a:miter lim="400000"/>
            </a:ln>
          </a:bottom>
          <a:insideH>
            <a:ln w="50800" cap="flat">
              <a:solidFill>
                <a:srgbClr val="5D5D5D"/>
              </a:solidFill>
              <a:prstDash val="solid"/>
              <a:miter lim="400000"/>
            </a:ln>
          </a:insideH>
          <a:insideV>
            <a:ln w="508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50800" cap="flat">
              <a:solidFill>
                <a:srgbClr val="5D5D5D"/>
              </a:solidFill>
              <a:prstDash val="solid"/>
              <a:miter lim="400000"/>
            </a:ln>
          </a:left>
          <a:right>
            <a:ln w="50800" cap="flat">
              <a:solidFill>
                <a:srgbClr val="5D5D5D"/>
              </a:solidFill>
              <a:prstDash val="solid"/>
              <a:miter lim="400000"/>
            </a:ln>
          </a:right>
          <a:top>
            <a:ln w="50800" cap="flat">
              <a:solidFill>
                <a:srgbClr val="5D5D5D"/>
              </a:solidFill>
              <a:prstDash val="solid"/>
              <a:miter lim="400000"/>
            </a:ln>
          </a:top>
          <a:bottom>
            <a:ln w="50800" cap="flat">
              <a:solidFill>
                <a:srgbClr val="5D5D5D"/>
              </a:solidFill>
              <a:prstDash val="solid"/>
              <a:miter lim="400000"/>
            </a:ln>
          </a:bottom>
          <a:insideH>
            <a:ln w="50800" cap="flat">
              <a:solidFill>
                <a:srgbClr val="5D5D5D"/>
              </a:solidFill>
              <a:prstDash val="solid"/>
              <a:miter lim="400000"/>
            </a:ln>
          </a:insideH>
          <a:insideV>
            <a:ln w="508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50800" cap="flat">
              <a:solidFill>
                <a:srgbClr val="000000"/>
              </a:solidFill>
              <a:prstDash val="solid"/>
              <a:miter lim="400000"/>
            </a:ln>
          </a:left>
          <a:right>
            <a:ln w="50800" cap="flat">
              <a:solidFill>
                <a:srgbClr val="000000"/>
              </a:solidFill>
              <a:prstDash val="solid"/>
              <a:miter lim="400000"/>
            </a:ln>
          </a:right>
          <a:top>
            <a:ln w="50800" cap="flat">
              <a:solidFill>
                <a:srgbClr val="000000"/>
              </a:solidFill>
              <a:prstDash val="solid"/>
              <a:miter lim="400000"/>
            </a:ln>
          </a:top>
          <a:bottom>
            <a:ln w="50800" cap="flat">
              <a:solidFill>
                <a:srgbClr val="000000"/>
              </a:solidFill>
              <a:prstDash val="solid"/>
              <a:miter lim="400000"/>
            </a:ln>
          </a:bottom>
          <a:insideH>
            <a:ln w="50800" cap="flat">
              <a:solidFill>
                <a:srgbClr val="000000"/>
              </a:solidFill>
              <a:prstDash val="solid"/>
              <a:miter lim="400000"/>
            </a:ln>
          </a:insideH>
          <a:insideV>
            <a:ln w="508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50800" cap="flat">
              <a:solidFill>
                <a:srgbClr val="000000"/>
              </a:solidFill>
              <a:prstDash val="solid"/>
              <a:miter lim="400000"/>
            </a:ln>
          </a:left>
          <a:right>
            <a:ln w="50800" cap="flat">
              <a:solidFill>
                <a:srgbClr val="000000"/>
              </a:solidFill>
              <a:prstDash val="solid"/>
              <a:miter lim="400000"/>
            </a:ln>
          </a:right>
          <a:top>
            <a:ln w="50800" cap="flat">
              <a:solidFill>
                <a:srgbClr val="000000"/>
              </a:solidFill>
              <a:prstDash val="solid"/>
              <a:miter lim="400000"/>
            </a:ln>
          </a:top>
          <a:bottom>
            <a:ln w="50800" cap="flat">
              <a:solidFill>
                <a:srgbClr val="000000"/>
              </a:solidFill>
              <a:prstDash val="solid"/>
              <a:miter lim="400000"/>
            </a:ln>
          </a:bottom>
          <a:insideH>
            <a:ln w="50800" cap="flat">
              <a:solidFill>
                <a:srgbClr val="000000"/>
              </a:solidFill>
              <a:prstDash val="solid"/>
              <a:miter lim="400000"/>
            </a:ln>
          </a:insideH>
          <a:insideV>
            <a:ln w="508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50800" cap="flat">
              <a:solidFill>
                <a:srgbClr val="000000"/>
              </a:solidFill>
              <a:prstDash val="solid"/>
              <a:miter lim="400000"/>
            </a:ln>
          </a:left>
          <a:right>
            <a:ln w="50800" cap="flat">
              <a:solidFill>
                <a:srgbClr val="000000"/>
              </a:solidFill>
              <a:prstDash val="solid"/>
              <a:miter lim="400000"/>
            </a:ln>
          </a:right>
          <a:top>
            <a:ln w="50800" cap="flat">
              <a:solidFill>
                <a:srgbClr val="000000"/>
              </a:solidFill>
              <a:prstDash val="solid"/>
              <a:miter lim="400000"/>
            </a:ln>
          </a:top>
          <a:bottom>
            <a:ln w="50800" cap="flat">
              <a:solidFill>
                <a:srgbClr val="000000"/>
              </a:solidFill>
              <a:prstDash val="solid"/>
              <a:miter lim="400000"/>
            </a:ln>
          </a:bottom>
          <a:insideH>
            <a:ln w="50800" cap="flat">
              <a:solidFill>
                <a:srgbClr val="000000"/>
              </a:solidFill>
              <a:prstDash val="solid"/>
              <a:miter lim="400000"/>
            </a:ln>
          </a:insideH>
          <a:insideV>
            <a:ln w="508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50800" cap="flat">
              <a:solidFill>
                <a:srgbClr val="000000"/>
              </a:solidFill>
              <a:prstDash val="solid"/>
              <a:miter lim="400000"/>
            </a:ln>
          </a:left>
          <a:right>
            <a:ln w="50800" cap="flat">
              <a:solidFill>
                <a:srgbClr val="000000"/>
              </a:solidFill>
              <a:prstDash val="solid"/>
              <a:miter lim="400000"/>
            </a:ln>
          </a:right>
          <a:top>
            <a:ln w="50800" cap="flat">
              <a:solidFill>
                <a:srgbClr val="000000"/>
              </a:solidFill>
              <a:prstDash val="solid"/>
              <a:miter lim="400000"/>
            </a:ln>
          </a:top>
          <a:bottom>
            <a:ln w="50800" cap="flat">
              <a:solidFill>
                <a:srgbClr val="000000"/>
              </a:solidFill>
              <a:prstDash val="solid"/>
              <a:miter lim="400000"/>
            </a:ln>
          </a:bottom>
          <a:insideH>
            <a:ln w="50800" cap="flat">
              <a:solidFill>
                <a:srgbClr val="000000"/>
              </a:solidFill>
              <a:prstDash val="solid"/>
              <a:miter lim="400000"/>
            </a:ln>
          </a:insideH>
          <a:insideV>
            <a:ln w="508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50800" cap="flat">
              <a:solidFill>
                <a:srgbClr val="FFFFFF"/>
              </a:solidFill>
              <a:prstDash val="solid"/>
              <a:miter lim="400000"/>
            </a:ln>
          </a:left>
          <a:right>
            <a:ln w="50800" cap="flat">
              <a:solidFill>
                <a:srgbClr val="FFFFFF"/>
              </a:solidFill>
              <a:prstDash val="solid"/>
              <a:miter lim="400000"/>
            </a:ln>
          </a:right>
          <a:top>
            <a:ln w="50800" cap="flat">
              <a:solidFill>
                <a:srgbClr val="FFFFFF"/>
              </a:solidFill>
              <a:prstDash val="solid"/>
              <a:miter lim="400000"/>
            </a:ln>
          </a:top>
          <a:bottom>
            <a:ln w="50800" cap="flat">
              <a:solidFill>
                <a:srgbClr val="FFFFFF"/>
              </a:solidFill>
              <a:prstDash val="solid"/>
              <a:miter lim="400000"/>
            </a:ln>
          </a:bottom>
          <a:insideH>
            <a:ln w="50800" cap="flat">
              <a:solidFill>
                <a:srgbClr val="FFFFFF"/>
              </a:solidFill>
              <a:prstDash val="solid"/>
              <a:miter lim="400000"/>
            </a:ln>
          </a:insideH>
          <a:insideV>
            <a:ln w="508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50800" cap="flat">
              <a:solidFill>
                <a:srgbClr val="FFFFFF"/>
              </a:solidFill>
              <a:prstDash val="solid"/>
              <a:miter lim="400000"/>
            </a:ln>
          </a:left>
          <a:right>
            <a:ln w="50800" cap="flat">
              <a:solidFill>
                <a:srgbClr val="FFFFFF"/>
              </a:solidFill>
              <a:prstDash val="solid"/>
              <a:miter lim="400000"/>
            </a:ln>
          </a:right>
          <a:top>
            <a:ln w="50800" cap="flat">
              <a:solidFill>
                <a:srgbClr val="FFFFFF"/>
              </a:solidFill>
              <a:prstDash val="solid"/>
              <a:miter lim="400000"/>
            </a:ln>
          </a:top>
          <a:bottom>
            <a:ln w="50800" cap="flat">
              <a:solidFill>
                <a:srgbClr val="FFFFFF"/>
              </a:solidFill>
              <a:prstDash val="solid"/>
              <a:miter lim="400000"/>
            </a:ln>
          </a:bottom>
          <a:insideH>
            <a:ln w="50800" cap="flat">
              <a:solidFill>
                <a:srgbClr val="FFFFFF"/>
              </a:solidFill>
              <a:prstDash val="solid"/>
              <a:miter lim="400000"/>
            </a:ln>
          </a:insideH>
          <a:insideV>
            <a:ln w="508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50800" cap="flat">
              <a:solidFill>
                <a:srgbClr val="FFFFFF"/>
              </a:solidFill>
              <a:prstDash val="solid"/>
              <a:miter lim="400000"/>
            </a:ln>
          </a:left>
          <a:right>
            <a:ln w="50800" cap="flat">
              <a:solidFill>
                <a:srgbClr val="FFFFFF"/>
              </a:solidFill>
              <a:prstDash val="solid"/>
              <a:miter lim="400000"/>
            </a:ln>
          </a:right>
          <a:top>
            <a:ln w="50800" cap="flat">
              <a:solidFill>
                <a:srgbClr val="FFFFFF"/>
              </a:solidFill>
              <a:prstDash val="solid"/>
              <a:miter lim="400000"/>
            </a:ln>
          </a:top>
          <a:bottom>
            <a:ln w="50800" cap="flat">
              <a:solidFill>
                <a:srgbClr val="FFFFFF"/>
              </a:solidFill>
              <a:prstDash val="solid"/>
              <a:miter lim="400000"/>
            </a:ln>
          </a:bottom>
          <a:insideH>
            <a:ln w="50800" cap="flat">
              <a:solidFill>
                <a:srgbClr val="FFFFFF"/>
              </a:solidFill>
              <a:prstDash val="solid"/>
              <a:miter lim="400000"/>
            </a:ln>
          </a:insideH>
          <a:insideV>
            <a:ln w="508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50800" cap="flat">
              <a:solidFill>
                <a:srgbClr val="FFFFFF"/>
              </a:solidFill>
              <a:prstDash val="solid"/>
              <a:miter lim="400000"/>
            </a:ln>
          </a:left>
          <a:right>
            <a:ln w="50800" cap="flat">
              <a:solidFill>
                <a:srgbClr val="FFFFFF"/>
              </a:solidFill>
              <a:prstDash val="solid"/>
              <a:miter lim="400000"/>
            </a:ln>
          </a:right>
          <a:top>
            <a:ln w="50800" cap="flat">
              <a:solidFill>
                <a:srgbClr val="FFFFFF"/>
              </a:solidFill>
              <a:prstDash val="solid"/>
              <a:miter lim="400000"/>
            </a:ln>
          </a:top>
          <a:bottom>
            <a:ln w="50800" cap="flat">
              <a:solidFill>
                <a:srgbClr val="FFFFFF"/>
              </a:solidFill>
              <a:prstDash val="solid"/>
              <a:miter lim="400000"/>
            </a:ln>
          </a:bottom>
          <a:insideH>
            <a:ln w="50800" cap="flat">
              <a:solidFill>
                <a:srgbClr val="FFFFFF"/>
              </a:solidFill>
              <a:prstDash val="solid"/>
              <a:miter lim="400000"/>
            </a:ln>
          </a:insideH>
          <a:insideV>
            <a:ln w="508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50800" cap="flat">
              <a:solidFill>
                <a:srgbClr val="000000"/>
              </a:solidFill>
              <a:custDash>
                <a:ds d="200000" sp="200000"/>
              </a:custDash>
              <a:miter lim="400000"/>
            </a:ln>
          </a:left>
          <a:right>
            <a:ln w="50800" cap="flat">
              <a:solidFill>
                <a:srgbClr val="000000"/>
              </a:solidFill>
              <a:custDash>
                <a:ds d="200000" sp="200000"/>
              </a:custDash>
              <a:miter lim="400000"/>
            </a:ln>
          </a:right>
          <a:top>
            <a:ln w="50800" cap="flat">
              <a:solidFill>
                <a:srgbClr val="000000"/>
              </a:solidFill>
              <a:custDash>
                <a:ds d="200000" sp="200000"/>
              </a:custDash>
              <a:miter lim="400000"/>
            </a:ln>
          </a:top>
          <a:bottom>
            <a:ln w="50800" cap="flat">
              <a:solidFill>
                <a:srgbClr val="000000"/>
              </a:solidFill>
              <a:custDash>
                <a:ds d="200000" sp="200000"/>
              </a:custDash>
              <a:miter lim="400000"/>
            </a:ln>
          </a:bottom>
          <a:insideH>
            <a:ln w="50800" cap="flat">
              <a:solidFill>
                <a:srgbClr val="000000"/>
              </a:solidFill>
              <a:custDash>
                <a:ds d="200000" sp="200000"/>
              </a:custDash>
              <a:miter lim="400000"/>
            </a:ln>
          </a:insideH>
          <a:insideV>
            <a:ln w="508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50800" cap="flat">
              <a:solidFill>
                <a:srgbClr val="000000"/>
              </a:solidFill>
              <a:prstDash val="solid"/>
              <a:miter lim="400000"/>
            </a:ln>
          </a:right>
          <a:top>
            <a:ln w="50800" cap="flat">
              <a:solidFill>
                <a:srgbClr val="000000"/>
              </a:solidFill>
              <a:custDash>
                <a:ds d="200000" sp="200000"/>
              </a:custDash>
              <a:miter lim="400000"/>
            </a:ln>
          </a:top>
          <a:bottom>
            <a:ln w="50800" cap="flat">
              <a:solidFill>
                <a:srgbClr val="000000"/>
              </a:solidFill>
              <a:custDash>
                <a:ds d="200000" sp="200000"/>
              </a:custDash>
              <a:miter lim="400000"/>
            </a:ln>
          </a:bottom>
          <a:insideH>
            <a:ln w="50800" cap="flat">
              <a:solidFill>
                <a:srgbClr val="000000"/>
              </a:solidFill>
              <a:custDash>
                <a:ds d="200000" sp="200000"/>
              </a:custDash>
              <a:miter lim="400000"/>
            </a:ln>
          </a:insideH>
          <a:insideV>
            <a:ln w="508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50800" cap="flat">
              <a:solidFill>
                <a:srgbClr val="000000"/>
              </a:solidFill>
              <a:custDash>
                <a:ds d="200000" sp="200000"/>
              </a:custDash>
              <a:miter lim="400000"/>
            </a:ln>
          </a:left>
          <a:right>
            <a:ln w="50800" cap="flat">
              <a:solidFill>
                <a:srgbClr val="000000"/>
              </a:solidFill>
              <a:custDash>
                <a:ds d="200000" sp="200000"/>
              </a:custDash>
              <a:miter lim="400000"/>
            </a:ln>
          </a:right>
          <a:top>
            <a:ln w="50800" cap="flat">
              <a:solidFill>
                <a:srgbClr val="000000"/>
              </a:solidFill>
              <a:prstDash val="solid"/>
              <a:miter lim="400000"/>
            </a:ln>
          </a:top>
          <a:bottom>
            <a:ln w="12700" cap="flat">
              <a:noFill/>
              <a:miter lim="400000"/>
            </a:ln>
          </a:bottom>
          <a:insideH>
            <a:ln w="50800" cap="flat">
              <a:solidFill>
                <a:srgbClr val="000000"/>
              </a:solidFill>
              <a:custDash>
                <a:ds d="200000" sp="200000"/>
              </a:custDash>
              <a:miter lim="400000"/>
            </a:ln>
          </a:insideH>
          <a:insideV>
            <a:ln w="508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50800" cap="flat">
              <a:solidFill>
                <a:srgbClr val="000000"/>
              </a:solidFill>
              <a:custDash>
                <a:ds d="200000" sp="200000"/>
              </a:custDash>
              <a:miter lim="400000"/>
            </a:ln>
          </a:left>
          <a:right>
            <a:ln w="50800" cap="flat">
              <a:solidFill>
                <a:srgbClr val="000000"/>
              </a:solidFill>
              <a:custDash>
                <a:ds d="200000" sp="200000"/>
              </a:custDash>
              <a:miter lim="400000"/>
            </a:ln>
          </a:right>
          <a:top>
            <a:ln w="12700" cap="flat">
              <a:noFill/>
              <a:miter lim="400000"/>
            </a:ln>
          </a:top>
          <a:bottom>
            <a:ln w="50800" cap="flat">
              <a:solidFill>
                <a:srgbClr val="000000"/>
              </a:solidFill>
              <a:prstDash val="solid"/>
              <a:miter lim="400000"/>
            </a:ln>
          </a:bottom>
          <a:insideH>
            <a:ln w="50800" cap="flat">
              <a:solidFill>
                <a:srgbClr val="000000"/>
              </a:solidFill>
              <a:custDash>
                <a:ds d="200000" sp="200000"/>
              </a:custDash>
              <a:miter lim="400000"/>
            </a:ln>
          </a:insideH>
          <a:insideV>
            <a:ln w="508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50800" cap="flat">
              <a:noFill/>
              <a:miter lim="400000"/>
            </a:ln>
          </a:right>
          <a:top>
            <a:ln w="12700" cap="flat">
              <a:noFill/>
              <a:miter lim="400000"/>
            </a:ln>
          </a:top>
          <a:bottom>
            <a:ln w="12700" cap="flat">
              <a:noFill/>
              <a:miter lim="400000"/>
            </a:ln>
          </a:bottom>
          <a:insideH>
            <a:ln w="12700" cap="flat">
              <a:noFill/>
              <a:miter lim="400000"/>
            </a:ln>
          </a:insideH>
          <a:insideV>
            <a:ln w="508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50800" cap="flat">
              <a:solidFill>
                <a:srgbClr val="3797C6"/>
              </a:solidFill>
              <a:prstDash val="solid"/>
              <a:miter lim="400000"/>
            </a:ln>
          </a:top>
          <a:bottom>
            <a:ln w="12700" cap="flat">
              <a:noFill/>
              <a:miter lim="400000"/>
            </a:ln>
          </a:bottom>
          <a:insideH>
            <a:ln w="508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50800" cap="flat">
              <a:noFill/>
              <a:miter lim="400000"/>
            </a:ln>
          </a:bottom>
          <a:insideH>
            <a:ln w="508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6233" autoAdjust="0"/>
  </p:normalViewPr>
  <p:slideViewPr>
    <p:cSldViewPr snapToGrid="0">
      <p:cViewPr varScale="1">
        <p:scale>
          <a:sx n="25" d="100"/>
          <a:sy n="25" d="100"/>
        </p:scale>
        <p:origin x="1488" y="216"/>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7" name="Shape 77"/>
          <p:cNvSpPr>
            <a:spLocks noGrp="1" noRot="1" noChangeAspect="1"/>
          </p:cNvSpPr>
          <p:nvPr>
            <p:ph type="sldImg"/>
          </p:nvPr>
        </p:nvSpPr>
        <p:spPr>
          <a:xfrm>
            <a:off x="1143000" y="685800"/>
            <a:ext cx="4572000" cy="3429000"/>
          </a:xfrm>
          <a:prstGeom prst="rect">
            <a:avLst/>
          </a:prstGeom>
        </p:spPr>
        <p:txBody>
          <a:bodyPr/>
          <a:lstStyle/>
          <a:p>
            <a:endParaRPr/>
          </a:p>
        </p:txBody>
      </p:sp>
      <p:sp>
        <p:nvSpPr>
          <p:cNvPr id="78" name="Shape 7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Spiel:</a:t>
            </a:r>
          </a:p>
          <a:p>
            <a:r>
              <a:rPr lang="en-US" dirty="0"/>
              <a:t>Introduce myself and project name</a:t>
            </a:r>
          </a:p>
          <a:p>
            <a:r>
              <a:rPr lang="en-US" dirty="0"/>
              <a:t>Mention Debris Issue in near earth orbit + Electrostatic actuation</a:t>
            </a:r>
          </a:p>
          <a:p>
            <a:r>
              <a:rPr lang="en-US" dirty="0"/>
              <a:t>State Objective (Build on labs findings to increase efficiency of debris removal through supercharging)</a:t>
            </a:r>
          </a:p>
          <a:p>
            <a:r>
              <a:rPr lang="en-US" dirty="0"/>
              <a:t>Results</a:t>
            </a:r>
          </a:p>
          <a:p>
            <a:endParaRPr lang="en-US" dirty="0"/>
          </a:p>
        </p:txBody>
      </p:sp>
    </p:spTree>
    <p:extLst>
      <p:ext uri="{BB962C8B-B14F-4D97-AF65-F5344CB8AC3E}">
        <p14:creationId xmlns:p14="http://schemas.microsoft.com/office/powerpoint/2010/main" val="19902977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space-flight.org/docs/2012_winter/2012_winter.html"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www.space-flight.org/docs/2012_winter/2012_winter.html"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Subtitle">
    <p:spTree>
      <p:nvGrpSpPr>
        <p:cNvPr id="1" name=""/>
        <p:cNvGrpSpPr/>
        <p:nvPr/>
      </p:nvGrpSpPr>
      <p:grpSpPr>
        <a:xfrm>
          <a:off x="0" y="0"/>
          <a:ext cx="0" cy="0"/>
          <a:chOff x="0" y="0"/>
          <a:chExt cx="0" cy="0"/>
        </a:xfrm>
      </p:grpSpPr>
      <p:pic>
        <p:nvPicPr>
          <p:cNvPr id="13" name="ccar_logo_lightBG_color.png" descr="ccar_logo_lightBG_color.png"/>
          <p:cNvPicPr>
            <a:picLocks noChangeAspect="1"/>
          </p:cNvPicPr>
          <p:nvPr/>
        </p:nvPicPr>
        <p:blipFill>
          <a:blip r:embed="rId2"/>
          <a:stretch>
            <a:fillRect/>
          </a:stretch>
        </p:blipFill>
        <p:spPr>
          <a:xfrm>
            <a:off x="193140" y="25531959"/>
            <a:ext cx="10534508" cy="5067806"/>
          </a:xfrm>
          <a:prstGeom prst="rect">
            <a:avLst/>
          </a:prstGeom>
          <a:ln w="50800">
            <a:miter lim="400000"/>
          </a:ln>
        </p:spPr>
      </p:pic>
      <p:sp>
        <p:nvSpPr>
          <p:cNvPr id="14" name="Line"/>
          <p:cNvSpPr/>
          <p:nvPr/>
        </p:nvSpPr>
        <p:spPr>
          <a:xfrm>
            <a:off x="2194559" y="16020287"/>
            <a:ext cx="39502082" cy="128"/>
          </a:xfrm>
          <a:prstGeom prst="line">
            <a:avLst/>
          </a:prstGeom>
          <a:ln w="50800">
            <a:solidFill>
              <a:srgbClr val="9A9A9A"/>
            </a:solidFill>
            <a:miter lim="400000"/>
          </a:ln>
        </p:spPr>
        <p:txBody>
          <a:bodyPr lIns="219456" tIns="219456" rIns="219456" bIns="219456" anchor="ctr"/>
          <a:lstStyle/>
          <a:p>
            <a:pPr>
              <a:defRPr sz="5000">
                <a:solidFill>
                  <a:srgbClr val="000000"/>
                </a:solidFill>
                <a:latin typeface="Helvetica"/>
                <a:ea typeface="Helvetica"/>
                <a:cs typeface="Helvetica"/>
                <a:sym typeface="Helvetica"/>
              </a:defRPr>
            </a:pPr>
            <a:endParaRPr/>
          </a:p>
        </p:txBody>
      </p:sp>
      <p:sp>
        <p:nvSpPr>
          <p:cNvPr id="15" name="Title Text"/>
          <p:cNvSpPr txBox="1">
            <a:spLocks noGrp="1"/>
          </p:cNvSpPr>
          <p:nvPr>
            <p:ph type="title"/>
          </p:nvPr>
        </p:nvSpPr>
        <p:spPr>
          <a:xfrm>
            <a:off x="1920239" y="4443983"/>
            <a:ext cx="40050722" cy="10698481"/>
          </a:xfrm>
          <a:prstGeom prst="rect">
            <a:avLst/>
          </a:prstGeom>
          <a:effectLst>
            <a:outerShdw blurRad="431800" dist="215900" dir="2700000" rotWithShape="0">
              <a:srgbClr val="CBCBCB">
                <a:alpha val="75000"/>
              </a:srgbClr>
            </a:outerShdw>
          </a:effectLst>
        </p:spPr>
        <p:txBody>
          <a:bodyPr/>
          <a:lstStyle>
            <a:lvl1pPr>
              <a:defRPr sz="20600" b="1">
                <a:solidFill>
                  <a:srgbClr val="C9B37C"/>
                </a:solidFill>
                <a:uFill>
                  <a:solidFill>
                    <a:srgbClr val="A5311D"/>
                  </a:solidFill>
                </a:uFill>
                <a:latin typeface="+mn-lt"/>
                <a:ea typeface="+mn-ea"/>
                <a:cs typeface="+mn-cs"/>
                <a:sym typeface="Helvetica Neue"/>
              </a:defRPr>
            </a:lvl1pPr>
          </a:lstStyle>
          <a:p>
            <a:r>
              <a:t>Title Text</a:t>
            </a:r>
          </a:p>
        </p:txBody>
      </p:sp>
      <p:sp>
        <p:nvSpPr>
          <p:cNvPr id="16" name="Body Level One…"/>
          <p:cNvSpPr txBox="1">
            <a:spLocks noGrp="1"/>
          </p:cNvSpPr>
          <p:nvPr>
            <p:ph type="body" sz="half" idx="1"/>
          </p:nvPr>
        </p:nvSpPr>
        <p:spPr>
          <a:xfrm>
            <a:off x="1920239" y="16952976"/>
            <a:ext cx="40050722" cy="10698481"/>
          </a:xfrm>
          <a:prstGeom prst="rect">
            <a:avLst/>
          </a:prstGeom>
        </p:spPr>
        <p:txBody>
          <a:bodyPr/>
          <a:lstStyle>
            <a:lvl1pPr marL="0" indent="0">
              <a:spcBef>
                <a:spcPts val="0"/>
              </a:spcBef>
              <a:buSzTx/>
              <a:buNone/>
              <a:defRPr>
                <a:solidFill>
                  <a:srgbClr val="515151"/>
                </a:solidFill>
              </a:defRPr>
            </a:lvl1pPr>
            <a:lvl2pPr marL="0" indent="0">
              <a:spcBef>
                <a:spcPts val="0"/>
              </a:spcBef>
              <a:buSzTx/>
              <a:buNone/>
              <a:defRPr>
                <a:solidFill>
                  <a:srgbClr val="515151"/>
                </a:solidFill>
              </a:defRPr>
            </a:lvl2pPr>
            <a:lvl3pPr marL="0" indent="0">
              <a:spcBef>
                <a:spcPts val="0"/>
              </a:spcBef>
              <a:buSzTx/>
              <a:buNone/>
              <a:defRPr>
                <a:solidFill>
                  <a:srgbClr val="515151"/>
                </a:solidFill>
              </a:defRPr>
            </a:lvl3pPr>
            <a:lvl4pPr marL="0" indent="0">
              <a:spcBef>
                <a:spcPts val="0"/>
              </a:spcBef>
              <a:buSzTx/>
              <a:buNone/>
              <a:defRPr>
                <a:solidFill>
                  <a:srgbClr val="515151"/>
                </a:solidFill>
              </a:defRPr>
            </a:lvl4pPr>
            <a:lvl5pPr marL="0" indent="0">
              <a:spcBef>
                <a:spcPts val="0"/>
              </a:spcBef>
              <a:buSzTx/>
              <a:buNone/>
              <a:defRPr>
                <a:solidFill>
                  <a:srgbClr val="515151"/>
                </a:solidFill>
              </a:defRPr>
            </a:lvl5pPr>
          </a:lstStyle>
          <a:p>
            <a:r>
              <a:t>Body Level One</a:t>
            </a:r>
          </a:p>
          <a:p>
            <a:pPr lvl="1"/>
            <a:r>
              <a:t>Body Level Two</a:t>
            </a:r>
          </a:p>
          <a:p>
            <a:pPr lvl="2"/>
            <a:r>
              <a:t>Body Level Three</a:t>
            </a:r>
          </a:p>
          <a:p>
            <a:pPr lvl="3"/>
            <a:r>
              <a:t>Body Level Four</a:t>
            </a:r>
          </a:p>
          <a:p>
            <a:pPr lvl="4"/>
            <a:r>
              <a:t>Body Level Five</a:t>
            </a:r>
          </a:p>
        </p:txBody>
      </p:sp>
      <p:sp>
        <p:nvSpPr>
          <p:cNvPr id="17" name="Slide Number"/>
          <p:cNvSpPr txBox="1">
            <a:spLocks noGrp="1"/>
          </p:cNvSpPr>
          <p:nvPr>
            <p:ph type="sldNum" sz="quarter" idx="2"/>
          </p:nvPr>
        </p:nvSpPr>
        <p:spPr>
          <a:xfrm>
            <a:off x="42549154" y="31107887"/>
            <a:ext cx="935026" cy="949250"/>
          </a:xfrm>
          <a:prstGeom prst="rect">
            <a:avLst/>
          </a:prstGeom>
        </p:spPr>
        <p:txBody>
          <a:bodyPr/>
          <a:lstStyle/>
          <a:p>
            <a:fld id="{86CB4B4D-7CA3-9044-876B-883B54F8677D}" type="slidenum">
              <a:t>‹#›</a:t>
            </a:fld>
            <a:endParaRPr/>
          </a:p>
        </p:txBody>
      </p:sp>
      <p:pic>
        <p:nvPicPr>
          <p:cNvPr id="18" name="Image" descr="Image"/>
          <p:cNvPicPr>
            <a:picLocks noChangeAspect="1"/>
          </p:cNvPicPr>
          <p:nvPr/>
        </p:nvPicPr>
        <p:blipFill>
          <a:blip r:embed="rId3"/>
          <a:stretch>
            <a:fillRect/>
          </a:stretch>
        </p:blipFill>
        <p:spPr>
          <a:xfrm>
            <a:off x="33857201" y="25842884"/>
            <a:ext cx="9159468" cy="5751100"/>
          </a:xfrm>
          <a:prstGeom prst="rect">
            <a:avLst/>
          </a:prstGeom>
          <a:ln w="50800">
            <a:miter lim="400000"/>
          </a:ln>
          <a:effectLst>
            <a:outerShdw blurRad="266700" dist="101600" dir="5400000" rotWithShape="0">
              <a:srgbClr val="000000">
                <a:alpha val="50000"/>
              </a:srgbClr>
            </a:outerShdw>
          </a:effectLst>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Subtitle copy">
    <p:spTree>
      <p:nvGrpSpPr>
        <p:cNvPr id="1" name=""/>
        <p:cNvGrpSpPr/>
        <p:nvPr/>
      </p:nvGrpSpPr>
      <p:grpSpPr>
        <a:xfrm>
          <a:off x="0" y="0"/>
          <a:ext cx="0" cy="0"/>
          <a:chOff x="0" y="0"/>
          <a:chExt cx="0" cy="0"/>
        </a:xfrm>
      </p:grpSpPr>
      <p:pic>
        <p:nvPicPr>
          <p:cNvPr id="25" name="AuroraBorealis.jpg" descr="AuroraBorealis.jpg"/>
          <p:cNvPicPr>
            <a:picLocks noChangeAspect="1"/>
          </p:cNvPicPr>
          <p:nvPr/>
        </p:nvPicPr>
        <p:blipFill>
          <a:blip r:embed="rId2"/>
          <a:stretch>
            <a:fillRect/>
          </a:stretch>
        </p:blipFill>
        <p:spPr>
          <a:xfrm>
            <a:off x="-1" y="-1"/>
            <a:ext cx="43891204" cy="32918401"/>
          </a:xfrm>
          <a:prstGeom prst="rect">
            <a:avLst/>
          </a:prstGeom>
          <a:ln w="50800">
            <a:miter lim="400000"/>
          </a:ln>
        </p:spPr>
      </p:pic>
      <p:sp>
        <p:nvSpPr>
          <p:cNvPr id="26" name="Line"/>
          <p:cNvSpPr/>
          <p:nvPr/>
        </p:nvSpPr>
        <p:spPr>
          <a:xfrm>
            <a:off x="2194559" y="16020287"/>
            <a:ext cx="39502082" cy="128"/>
          </a:xfrm>
          <a:prstGeom prst="line">
            <a:avLst/>
          </a:prstGeom>
          <a:ln w="50800">
            <a:solidFill>
              <a:srgbClr val="9A9A9A"/>
            </a:solidFill>
            <a:miter lim="400000"/>
          </a:ln>
        </p:spPr>
        <p:txBody>
          <a:bodyPr lIns="219456" tIns="219456" rIns="219456" bIns="219456" anchor="ctr"/>
          <a:lstStyle/>
          <a:p>
            <a:pPr>
              <a:defRPr sz="5000">
                <a:solidFill>
                  <a:srgbClr val="000000"/>
                </a:solidFill>
                <a:latin typeface="Helvetica"/>
                <a:ea typeface="Helvetica"/>
                <a:cs typeface="Helvetica"/>
                <a:sym typeface="Helvetica"/>
              </a:defRPr>
            </a:pPr>
            <a:endParaRPr/>
          </a:p>
        </p:txBody>
      </p:sp>
      <p:sp>
        <p:nvSpPr>
          <p:cNvPr id="27" name="Title Text"/>
          <p:cNvSpPr txBox="1">
            <a:spLocks noGrp="1"/>
          </p:cNvSpPr>
          <p:nvPr>
            <p:ph type="title"/>
          </p:nvPr>
        </p:nvSpPr>
        <p:spPr>
          <a:xfrm>
            <a:off x="1920239" y="4443983"/>
            <a:ext cx="40050722" cy="10698481"/>
          </a:xfrm>
          <a:prstGeom prst="rect">
            <a:avLst/>
          </a:prstGeom>
        </p:spPr>
        <p:txBody>
          <a:bodyPr/>
          <a:lstStyle>
            <a:lvl1pPr algn="ctr">
              <a:defRPr sz="20600" b="1">
                <a:solidFill>
                  <a:srgbClr val="C9B37C"/>
                </a:solidFill>
                <a:uFill>
                  <a:solidFill>
                    <a:srgbClr val="A5311D"/>
                  </a:solidFill>
                </a:uFill>
                <a:latin typeface="+mn-lt"/>
                <a:ea typeface="+mn-ea"/>
                <a:cs typeface="+mn-cs"/>
                <a:sym typeface="Helvetica Neue"/>
              </a:defRPr>
            </a:lvl1pPr>
          </a:lstStyle>
          <a:p>
            <a:r>
              <a:t>Title Text</a:t>
            </a:r>
          </a:p>
        </p:txBody>
      </p:sp>
      <p:sp>
        <p:nvSpPr>
          <p:cNvPr id="28" name="Body Level One…"/>
          <p:cNvSpPr txBox="1">
            <a:spLocks noGrp="1"/>
          </p:cNvSpPr>
          <p:nvPr>
            <p:ph type="body" sz="half" idx="1"/>
          </p:nvPr>
        </p:nvSpPr>
        <p:spPr>
          <a:xfrm>
            <a:off x="1920239" y="16952976"/>
            <a:ext cx="40050722" cy="10698481"/>
          </a:xfrm>
          <a:prstGeom prst="rect">
            <a:avLst/>
          </a:prstGeom>
          <a:effectLst>
            <a:outerShdw blurRad="101600" dist="101600" dir="2700000" rotWithShape="0">
              <a:srgbClr val="2F2F2F">
                <a:alpha val="75000"/>
              </a:srgbClr>
            </a:outerShdw>
          </a:effectLst>
        </p:spPr>
        <p:txBody>
          <a:bodyPr/>
          <a:lstStyle>
            <a:lvl1pPr marL="0" indent="0">
              <a:spcBef>
                <a:spcPts val="0"/>
              </a:spcBef>
              <a:buSzTx/>
              <a:buNone/>
              <a:defRPr sz="9400">
                <a:solidFill>
                  <a:srgbClr val="FFFFFF"/>
                </a:solidFill>
              </a:defRPr>
            </a:lvl1pPr>
            <a:lvl2pPr marL="0" indent="0">
              <a:spcBef>
                <a:spcPts val="0"/>
              </a:spcBef>
              <a:buSzTx/>
              <a:buNone/>
              <a:defRPr sz="9400">
                <a:solidFill>
                  <a:srgbClr val="FFFFFF"/>
                </a:solidFill>
              </a:defRPr>
            </a:lvl2pPr>
            <a:lvl3pPr marL="0" indent="0">
              <a:spcBef>
                <a:spcPts val="0"/>
              </a:spcBef>
              <a:buSzTx/>
              <a:buNone/>
              <a:defRPr sz="9400">
                <a:solidFill>
                  <a:srgbClr val="FFFFFF"/>
                </a:solidFill>
              </a:defRPr>
            </a:lvl3pPr>
            <a:lvl4pPr marL="0" indent="0">
              <a:spcBef>
                <a:spcPts val="0"/>
              </a:spcBef>
              <a:buSzTx/>
              <a:buNone/>
              <a:defRPr sz="9400">
                <a:solidFill>
                  <a:srgbClr val="FFFFFF"/>
                </a:solidFill>
              </a:defRPr>
            </a:lvl4pPr>
            <a:lvl5pPr marL="0" indent="0">
              <a:spcBef>
                <a:spcPts val="0"/>
              </a:spcBef>
              <a:buSzTx/>
              <a:buNone/>
              <a:defRPr sz="9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xfrm>
            <a:off x="42549154" y="31107887"/>
            <a:ext cx="935026" cy="949250"/>
          </a:xfrm>
          <a:prstGeom prst="rect">
            <a:avLst/>
          </a:prstGeom>
        </p:spPr>
        <p:txBody>
          <a:bodyPr/>
          <a:lstStyle/>
          <a:p>
            <a:fld id="{86CB4B4D-7CA3-9044-876B-883B54F8677D}" type="slidenum">
              <a:t>‹#›</a:t>
            </a:fld>
            <a:endParaRPr/>
          </a:p>
        </p:txBody>
      </p:sp>
      <p:pic>
        <p:nvPicPr>
          <p:cNvPr id="30" name="Image" descr="Image"/>
          <p:cNvPicPr>
            <a:picLocks noChangeAspect="1"/>
          </p:cNvPicPr>
          <p:nvPr/>
        </p:nvPicPr>
        <p:blipFill>
          <a:blip r:embed="rId3"/>
          <a:stretch>
            <a:fillRect/>
          </a:stretch>
        </p:blipFill>
        <p:spPr>
          <a:xfrm>
            <a:off x="33916112" y="338804"/>
            <a:ext cx="9159469" cy="5751100"/>
          </a:xfrm>
          <a:prstGeom prst="rect">
            <a:avLst/>
          </a:prstGeom>
          <a:ln w="50800">
            <a:miter lim="400000"/>
          </a:ln>
        </p:spPr>
      </p:pic>
      <p:pic>
        <p:nvPicPr>
          <p:cNvPr id="31" name="ccar_logo_darkBG_color.png" descr="ccar_logo_darkBG_color.png"/>
          <p:cNvPicPr>
            <a:picLocks noChangeAspect="1"/>
          </p:cNvPicPr>
          <p:nvPr/>
        </p:nvPicPr>
        <p:blipFill>
          <a:blip r:embed="rId4"/>
          <a:stretch>
            <a:fillRect/>
          </a:stretch>
        </p:blipFill>
        <p:spPr>
          <a:xfrm>
            <a:off x="-1" y="338804"/>
            <a:ext cx="11723394" cy="5751100"/>
          </a:xfrm>
          <a:prstGeom prst="rect">
            <a:avLst/>
          </a:prstGeom>
          <a:ln w="50800">
            <a:miter lim="400000"/>
          </a:ln>
        </p:spPr>
      </p:pic>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pic>
        <p:nvPicPr>
          <p:cNvPr id="38" name="AuroraBorealis.jpg" descr="AuroraBorealis.jpg"/>
          <p:cNvPicPr>
            <a:picLocks noChangeAspect="1"/>
          </p:cNvPicPr>
          <p:nvPr/>
        </p:nvPicPr>
        <p:blipFill>
          <a:blip r:embed="rId2"/>
          <a:srcRect l="15392" t="45079" r="3701" b="42328"/>
          <a:stretch>
            <a:fillRect/>
          </a:stretch>
        </p:blipFill>
        <p:spPr>
          <a:xfrm>
            <a:off x="0" y="0"/>
            <a:ext cx="43891200" cy="5123587"/>
          </a:xfrm>
          <a:prstGeom prst="rect">
            <a:avLst/>
          </a:prstGeom>
          <a:ln w="50800">
            <a:solidFill>
              <a:srgbClr val="000000"/>
            </a:solidFill>
            <a:miter lim="400000"/>
          </a:ln>
          <a:effectLst/>
        </p:spPr>
      </p:pic>
      <p:sp>
        <p:nvSpPr>
          <p:cNvPr id="39" name="Title Text"/>
          <p:cNvSpPr txBox="1">
            <a:spLocks noGrp="1"/>
          </p:cNvSpPr>
          <p:nvPr>
            <p:ph type="title"/>
          </p:nvPr>
        </p:nvSpPr>
        <p:spPr>
          <a:xfrm>
            <a:off x="1920239" y="-1"/>
            <a:ext cx="31995871" cy="4531125"/>
          </a:xfrm>
          <a:prstGeom prst="rect">
            <a:avLst/>
          </a:prstGeom>
          <a:effectLst>
            <a:outerShdw blurRad="431800" dist="215900" dir="2700000" rotWithShape="0">
              <a:srgbClr val="CBCBCB">
                <a:alpha val="75000"/>
              </a:srgbClr>
            </a:outerShdw>
          </a:effectLst>
        </p:spPr>
        <p:txBody>
          <a:bodyPr anchor="ctr"/>
          <a:lstStyle>
            <a:lvl1pPr>
              <a:defRPr b="1">
                <a:solidFill>
                  <a:srgbClr val="FFFFFF"/>
                </a:solidFill>
                <a:effectLst>
                  <a:outerShdw blurRad="50800" dist="25400" dir="2700000" rotWithShape="0">
                    <a:srgbClr val="000000">
                      <a:alpha val="75000"/>
                    </a:srgbClr>
                  </a:outerShdw>
                </a:effectLst>
                <a:latin typeface="+mn-lt"/>
                <a:ea typeface="+mn-ea"/>
                <a:cs typeface="+mn-cs"/>
                <a:sym typeface="Helvetica Neue"/>
              </a:defRPr>
            </a:lvl1pPr>
          </a:lstStyle>
          <a:p>
            <a:r>
              <a:t>Title Text</a:t>
            </a:r>
          </a:p>
        </p:txBody>
      </p:sp>
      <p:sp>
        <p:nvSpPr>
          <p:cNvPr id="40" name="Body Level One…"/>
          <p:cNvSpPr txBox="1">
            <a:spLocks noGrp="1"/>
          </p:cNvSpPr>
          <p:nvPr>
            <p:ph type="body" idx="1"/>
          </p:nvPr>
        </p:nvSpPr>
        <p:spPr>
          <a:xfrm>
            <a:off x="1920239" y="5437536"/>
            <a:ext cx="40050722" cy="24573073"/>
          </a:xfrm>
          <a:prstGeom prst="rect">
            <a:avLst/>
          </a:prstGeom>
        </p:spPr>
        <p:txBody>
          <a:bodyPr/>
          <a:lstStyle>
            <a:lvl1pPr marL="868218" indent="-868218">
              <a:spcBef>
                <a:spcPts val="10800"/>
              </a:spcBef>
              <a:defRPr sz="9400">
                <a:solidFill>
                  <a:srgbClr val="515151"/>
                </a:solidFill>
              </a:defRPr>
            </a:lvl1pPr>
            <a:lvl2pPr marL="1200855" indent="-857955">
              <a:spcBef>
                <a:spcPts val="4700"/>
              </a:spcBef>
              <a:defRPr sz="7600">
                <a:solidFill>
                  <a:srgbClr val="515151"/>
                </a:solidFill>
              </a:defRPr>
            </a:lvl2pPr>
            <a:lvl3pPr marL="1556455" indent="-857955">
              <a:spcBef>
                <a:spcPts val="4700"/>
              </a:spcBef>
              <a:defRPr sz="7600">
                <a:solidFill>
                  <a:srgbClr val="515151"/>
                </a:solidFill>
              </a:defRPr>
            </a:lvl3pPr>
            <a:lvl4pPr marL="1899355" indent="-857955">
              <a:spcBef>
                <a:spcPts val="4700"/>
              </a:spcBef>
              <a:defRPr sz="7600">
                <a:solidFill>
                  <a:srgbClr val="515151"/>
                </a:solidFill>
              </a:defRPr>
            </a:lvl4pPr>
            <a:lvl5pPr marL="2242255" indent="-857955">
              <a:spcBef>
                <a:spcPts val="4700"/>
              </a:spcBef>
              <a:defRPr sz="7600">
                <a:solidFill>
                  <a:srgbClr val="515151"/>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42" name="Image" descr="Image"/>
          <p:cNvPicPr>
            <a:picLocks noChangeAspect="1"/>
          </p:cNvPicPr>
          <p:nvPr/>
        </p:nvPicPr>
        <p:blipFill>
          <a:blip r:embed="rId3"/>
          <a:stretch>
            <a:fillRect/>
          </a:stretch>
        </p:blipFill>
        <p:spPr>
          <a:xfrm>
            <a:off x="0" y="731768"/>
            <a:ext cx="6051030" cy="3799356"/>
          </a:xfrm>
          <a:prstGeom prst="rect">
            <a:avLst/>
          </a:prstGeom>
          <a:ln w="50800">
            <a:miter lim="400000"/>
          </a:ln>
        </p:spPr>
      </p:pic>
      <p:pic>
        <p:nvPicPr>
          <p:cNvPr id="3" name="Picture 2">
            <a:extLst>
              <a:ext uri="{FF2B5EF4-FFF2-40B4-BE49-F238E27FC236}">
                <a16:creationId xmlns:a16="http://schemas.microsoft.com/office/drawing/2014/main" id="{80F1F0B1-A504-3770-8B99-94BC84F3856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8157494" y="655059"/>
            <a:ext cx="3813467" cy="3813467"/>
          </a:xfrm>
          <a:prstGeom prst="rect">
            <a:avLst/>
          </a:prstGeom>
        </p:spPr>
      </p:pic>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pic>
        <p:nvPicPr>
          <p:cNvPr id="49" name="AuroraBorealis.jpg" descr="AuroraBorealis.jpg"/>
          <p:cNvPicPr>
            <a:picLocks noChangeAspect="1"/>
          </p:cNvPicPr>
          <p:nvPr/>
        </p:nvPicPr>
        <p:blipFill>
          <a:blip r:embed="rId2"/>
          <a:srcRect l="11603" t="38934" b="42328"/>
          <a:stretch>
            <a:fillRect/>
          </a:stretch>
        </p:blipFill>
        <p:spPr>
          <a:xfrm>
            <a:off x="-105799" y="-2500040"/>
            <a:ext cx="44056325" cy="7003903"/>
          </a:xfrm>
          <a:prstGeom prst="rect">
            <a:avLst/>
          </a:prstGeom>
          <a:ln w="50800">
            <a:solidFill>
              <a:srgbClr val="000000"/>
            </a:solidFill>
            <a:miter lim="400000"/>
          </a:ln>
          <a:effectLst>
            <a:reflection stA="50000" endPos="40000" dir="5400000" sy="-100000" algn="bl" rotWithShape="0"/>
          </a:effectLst>
        </p:spPr>
      </p:pic>
      <p:sp>
        <p:nvSpPr>
          <p:cNvPr id="50" name="22nd AAS/AIAA Space Flight Mechanics Meeting, Charleston, SC, January 29 - February 2, 2012"/>
          <p:cNvSpPr txBox="1"/>
          <p:nvPr/>
        </p:nvSpPr>
        <p:spPr>
          <a:xfrm>
            <a:off x="1884827" y="30998160"/>
            <a:ext cx="40050722" cy="1155701"/>
          </a:xfrm>
          <a:prstGeom prst="rect">
            <a:avLst/>
          </a:prstGeom>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64592" tIns="164592" rIns="164592" bIns="164592">
            <a:spAutoFit/>
          </a:bodyPr>
          <a:lstStyle/>
          <a:p>
            <a:pPr algn="ctr">
              <a:defRPr sz="5000">
                <a:solidFill>
                  <a:srgbClr val="919191"/>
                </a:solidFill>
              </a:defRPr>
            </a:pPr>
            <a:r>
              <a:rPr>
                <a:hlinkClick r:id="rId3"/>
              </a:rPr>
              <a:t>22nd AAS/AIAA Space Flight Mechanics Meeting</a:t>
            </a:r>
            <a:r>
              <a:t>, Charleston, SC, January 29 - February 2, 2012</a:t>
            </a:r>
          </a:p>
        </p:txBody>
      </p:sp>
      <p:sp>
        <p:nvSpPr>
          <p:cNvPr id="51" name="Title Text"/>
          <p:cNvSpPr txBox="1">
            <a:spLocks noGrp="1"/>
          </p:cNvSpPr>
          <p:nvPr>
            <p:ph type="title"/>
          </p:nvPr>
        </p:nvSpPr>
        <p:spPr>
          <a:xfrm>
            <a:off x="1920239" y="-1"/>
            <a:ext cx="31995877" cy="4476967"/>
          </a:xfrm>
          <a:prstGeom prst="rect">
            <a:avLst/>
          </a:prstGeom>
          <a:effectLst>
            <a:outerShdw blurRad="431800" dist="215900" dir="2700000" rotWithShape="0">
              <a:srgbClr val="CBCBCB">
                <a:alpha val="75000"/>
              </a:srgbClr>
            </a:outerShdw>
          </a:effectLst>
        </p:spPr>
        <p:txBody>
          <a:bodyPr anchor="ctr"/>
          <a:lstStyle>
            <a:lvl1pPr>
              <a:defRPr b="1">
                <a:solidFill>
                  <a:srgbClr val="FFFFFF"/>
                </a:solidFill>
                <a:effectLst>
                  <a:outerShdw blurRad="50800" dist="25400" dir="2700000" rotWithShape="0">
                    <a:srgbClr val="000000">
                      <a:alpha val="75000"/>
                    </a:srgbClr>
                  </a:outerShdw>
                </a:effectLst>
                <a:latin typeface="+mn-lt"/>
                <a:ea typeface="+mn-ea"/>
                <a:cs typeface="+mn-cs"/>
                <a:sym typeface="Helvetica Neue"/>
              </a:defRPr>
            </a:lvl1pPr>
          </a:lstStyle>
          <a:p>
            <a:r>
              <a:t>Title Text</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53" name="Image" descr="Image"/>
          <p:cNvPicPr>
            <a:picLocks noChangeAspect="1"/>
          </p:cNvPicPr>
          <p:nvPr/>
        </p:nvPicPr>
        <p:blipFill>
          <a:blip r:embed="rId4"/>
          <a:stretch>
            <a:fillRect/>
          </a:stretch>
        </p:blipFill>
        <p:spPr>
          <a:xfrm>
            <a:off x="35470331" y="338804"/>
            <a:ext cx="6051030" cy="3799356"/>
          </a:xfrm>
          <a:prstGeom prst="rect">
            <a:avLst/>
          </a:prstGeom>
          <a:ln w="50800">
            <a:miter lim="400000"/>
          </a:ln>
        </p:spPr>
      </p:pic>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pic>
        <p:nvPicPr>
          <p:cNvPr id="60" name="AuroraBorealis.jpg" descr="AuroraBorealis.jpg"/>
          <p:cNvPicPr>
            <a:picLocks noChangeAspect="1"/>
          </p:cNvPicPr>
          <p:nvPr/>
        </p:nvPicPr>
        <p:blipFill>
          <a:blip r:embed="rId2"/>
          <a:srcRect l="11603" t="38934" b="42328"/>
          <a:stretch>
            <a:fillRect/>
          </a:stretch>
        </p:blipFill>
        <p:spPr>
          <a:xfrm>
            <a:off x="-105799" y="-2500040"/>
            <a:ext cx="44056325" cy="7003903"/>
          </a:xfrm>
          <a:prstGeom prst="rect">
            <a:avLst/>
          </a:prstGeom>
          <a:ln w="50800">
            <a:solidFill>
              <a:srgbClr val="000000"/>
            </a:solidFill>
            <a:miter lim="400000"/>
          </a:ln>
          <a:effectLst>
            <a:reflection stA="50000" endPos="40000" dir="5400000" sy="-100000" algn="bl" rotWithShape="0"/>
          </a:effectLst>
        </p:spPr>
      </p:pic>
      <p:sp>
        <p:nvSpPr>
          <p:cNvPr id="61" name="22nd AAS/AIAA Space Flight Mechanics Meeting, Charleston, SC, January 29 - February 2, 2012"/>
          <p:cNvSpPr txBox="1"/>
          <p:nvPr/>
        </p:nvSpPr>
        <p:spPr>
          <a:xfrm>
            <a:off x="1884827" y="30998160"/>
            <a:ext cx="40050722" cy="1155701"/>
          </a:xfrm>
          <a:prstGeom prst="rect">
            <a:avLst/>
          </a:prstGeom>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64592" tIns="164592" rIns="164592" bIns="164592">
            <a:spAutoFit/>
          </a:bodyPr>
          <a:lstStyle/>
          <a:p>
            <a:pPr algn="ctr">
              <a:defRPr sz="5000">
                <a:solidFill>
                  <a:srgbClr val="919191"/>
                </a:solidFill>
              </a:defRPr>
            </a:pPr>
            <a:r>
              <a:rPr>
                <a:hlinkClick r:id="rId3"/>
              </a:rPr>
              <a:t>22nd AAS/AIAA Space Flight Mechanics Meeting</a:t>
            </a:r>
            <a:r>
              <a:t>, Charleston, SC, January 29 - February 2, 2012</a:t>
            </a:r>
          </a:p>
        </p:txBody>
      </p:sp>
      <p:sp>
        <p:nvSpPr>
          <p:cNvPr id="62" name="Title Text"/>
          <p:cNvSpPr txBox="1">
            <a:spLocks noGrp="1"/>
          </p:cNvSpPr>
          <p:nvPr>
            <p:ph type="title"/>
          </p:nvPr>
        </p:nvSpPr>
        <p:spPr>
          <a:xfrm>
            <a:off x="960119" y="12508991"/>
            <a:ext cx="41970961" cy="7900417"/>
          </a:xfrm>
          <a:prstGeom prst="rect">
            <a:avLst/>
          </a:prstGeom>
          <a:effectLst>
            <a:outerShdw blurRad="546100" dist="317500" dir="2700000" rotWithShape="0">
              <a:srgbClr val="CBCBCB">
                <a:alpha val="75000"/>
              </a:srgbClr>
            </a:outerShdw>
          </a:effectLst>
        </p:spPr>
        <p:txBody>
          <a:bodyPr anchor="ctr"/>
          <a:lstStyle>
            <a:lvl1pPr algn="ctr">
              <a:defRPr sz="20600" b="1">
                <a:solidFill>
                  <a:srgbClr val="C9B37C"/>
                </a:solidFill>
                <a:latin typeface="+mn-lt"/>
                <a:ea typeface="+mn-ea"/>
                <a:cs typeface="+mn-cs"/>
                <a:sym typeface="Helvetica Neue"/>
              </a:defRPr>
            </a:lvl1pPr>
          </a:lstStyle>
          <a:p>
            <a:r>
              <a:t>Title Text</a:t>
            </a:r>
          </a:p>
        </p:txBody>
      </p:sp>
      <p:sp>
        <p:nvSpPr>
          <p:cNvPr id="63" name="Slide Number"/>
          <p:cNvSpPr txBox="1">
            <a:spLocks noGrp="1"/>
          </p:cNvSpPr>
          <p:nvPr>
            <p:ph type="sldNum" sz="quarter" idx="2"/>
          </p:nvPr>
        </p:nvSpPr>
        <p:spPr>
          <a:xfrm>
            <a:off x="42604019" y="31107887"/>
            <a:ext cx="935026" cy="949250"/>
          </a:xfrm>
          <a:prstGeom prst="rect">
            <a:avLst/>
          </a:prstGeom>
        </p:spPr>
        <p:txBody>
          <a:bodyPr/>
          <a:lstStyle/>
          <a:p>
            <a:fld id="{86CB4B4D-7CA3-9044-876B-883B54F8677D}" type="slidenum">
              <a:t>‹#›</a:t>
            </a:fld>
            <a:endParaRPr/>
          </a:p>
        </p:txBody>
      </p:sp>
      <p:pic>
        <p:nvPicPr>
          <p:cNvPr id="64" name="Image" descr="Image"/>
          <p:cNvPicPr>
            <a:picLocks noChangeAspect="1"/>
          </p:cNvPicPr>
          <p:nvPr/>
        </p:nvPicPr>
        <p:blipFill>
          <a:blip r:embed="rId4"/>
          <a:stretch>
            <a:fillRect/>
          </a:stretch>
        </p:blipFill>
        <p:spPr>
          <a:xfrm>
            <a:off x="35470331" y="338804"/>
            <a:ext cx="6051030" cy="3799356"/>
          </a:xfrm>
          <a:prstGeom prst="rect">
            <a:avLst/>
          </a:prstGeom>
          <a:ln w="50800">
            <a:miter lim="400000"/>
          </a:ln>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www.space-flight.org/docs/2012_winter/2012_winter.html" TargetMode="Externa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22nd AAS/AIAA Space Flight Mechanics Meeting, Charleston, SC, January 29 - February 2, 2012"/>
          <p:cNvSpPr txBox="1"/>
          <p:nvPr/>
        </p:nvSpPr>
        <p:spPr>
          <a:xfrm>
            <a:off x="1884827" y="30998160"/>
            <a:ext cx="40050722" cy="1155701"/>
          </a:xfrm>
          <a:prstGeom prst="rect">
            <a:avLst/>
          </a:prstGeom>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64592" tIns="164592" rIns="164592" bIns="164592">
            <a:spAutoFit/>
          </a:bodyPr>
          <a:lstStyle/>
          <a:p>
            <a:pPr algn="ctr">
              <a:defRPr sz="5000">
                <a:solidFill>
                  <a:srgbClr val="919191"/>
                </a:solidFill>
              </a:defRPr>
            </a:pPr>
            <a:r>
              <a:rPr>
                <a:hlinkClick r:id="rId8"/>
              </a:rPr>
              <a:t>22nd AAS/AIAA Space Flight Mechanics Meeting</a:t>
            </a:r>
            <a:r>
              <a:t>, Charleston, SC, January 29 - February 2, 2012</a:t>
            </a:r>
          </a:p>
        </p:txBody>
      </p:sp>
      <p:sp>
        <p:nvSpPr>
          <p:cNvPr id="3" name="Slide Number"/>
          <p:cNvSpPr txBox="1">
            <a:spLocks noGrp="1"/>
          </p:cNvSpPr>
          <p:nvPr>
            <p:ph type="sldNum" sz="quarter" idx="2"/>
          </p:nvPr>
        </p:nvSpPr>
        <p:spPr>
          <a:xfrm>
            <a:off x="42608066" y="31107887"/>
            <a:ext cx="935025" cy="949250"/>
          </a:xfrm>
          <a:prstGeom prst="rect">
            <a:avLst/>
          </a:prstGeom>
          <a:ln w="50800">
            <a:miter lim="400000"/>
          </a:ln>
        </p:spPr>
        <p:txBody>
          <a:bodyPr wrap="none" lIns="164592" tIns="164592" rIns="164592" bIns="164592">
            <a:normAutofit/>
          </a:bodyPr>
          <a:lstStyle>
            <a:lvl1pPr algn="ctr">
              <a:defRPr sz="4200">
                <a:solidFill>
                  <a:srgbClr val="000000"/>
                </a:solidFill>
                <a:latin typeface="+mn-lt"/>
                <a:ea typeface="+mn-ea"/>
                <a:cs typeface="+mn-cs"/>
                <a:sym typeface="Helvetica Neue"/>
              </a:defRPr>
            </a:lvl1pPr>
          </a:lstStyle>
          <a:p>
            <a:fld id="{86CB4B4D-7CA3-9044-876B-883B54F8677D}" type="slidenum">
              <a:t>‹#›</a:t>
            </a:fld>
            <a:endParaRPr/>
          </a:p>
        </p:txBody>
      </p:sp>
      <p:pic>
        <p:nvPicPr>
          <p:cNvPr id="4" name="Image" descr="Image"/>
          <p:cNvPicPr>
            <a:picLocks noChangeAspect="1"/>
          </p:cNvPicPr>
          <p:nvPr/>
        </p:nvPicPr>
        <p:blipFill>
          <a:blip r:embed="rId9">
            <a:alphaModFix amt="20000"/>
          </a:blip>
          <a:stretch>
            <a:fillRect/>
          </a:stretch>
        </p:blipFill>
        <p:spPr>
          <a:xfrm>
            <a:off x="35470331" y="338804"/>
            <a:ext cx="6051030" cy="3799356"/>
          </a:xfrm>
          <a:prstGeom prst="rect">
            <a:avLst/>
          </a:prstGeom>
          <a:ln w="50800">
            <a:miter lim="400000"/>
          </a:ln>
        </p:spPr>
      </p:pic>
      <p:sp>
        <p:nvSpPr>
          <p:cNvPr id="5" name="Title Text"/>
          <p:cNvSpPr txBox="1">
            <a:spLocks noGrp="1"/>
          </p:cNvSpPr>
          <p:nvPr>
            <p:ph type="title"/>
          </p:nvPr>
        </p:nvSpPr>
        <p:spPr>
          <a:xfrm>
            <a:off x="1920239" y="1097279"/>
            <a:ext cx="40050722" cy="4718305"/>
          </a:xfrm>
          <a:prstGeom prst="rect">
            <a:avLst/>
          </a:prstGeom>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64592" tIns="164592" rIns="164592" bIns="164592" anchor="b">
            <a:normAutofit/>
          </a:bodyPr>
          <a:lstStyle/>
          <a:p>
            <a:r>
              <a:t>Title Text</a:t>
            </a:r>
          </a:p>
        </p:txBody>
      </p:sp>
      <p:sp>
        <p:nvSpPr>
          <p:cNvPr id="6" name="Body Level One…"/>
          <p:cNvSpPr txBox="1">
            <a:spLocks noGrp="1"/>
          </p:cNvSpPr>
          <p:nvPr>
            <p:ph type="body" idx="1"/>
          </p:nvPr>
        </p:nvSpPr>
        <p:spPr>
          <a:xfrm>
            <a:off x="1920239" y="7845551"/>
            <a:ext cx="40050722" cy="22165057"/>
          </a:xfrm>
          <a:prstGeom prst="rect">
            <a:avLst/>
          </a:prstGeom>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64592" tIns="164592" rIns="164592" bIns="164592">
            <a:normAutofit/>
          </a:bodyPr>
          <a:lstStyle/>
          <a:p>
            <a:r>
              <a:t>Body Level One</a:t>
            </a:r>
          </a:p>
          <a:p>
            <a:pPr lvl="1"/>
            <a:r>
              <a:t>Body Level Two</a:t>
            </a:r>
          </a:p>
          <a:p>
            <a:pPr lvl="2"/>
            <a:r>
              <a:t>Body Level Three</a:t>
            </a:r>
          </a:p>
          <a:p>
            <a:pPr lvl="3"/>
            <a:r>
              <a:t>Body Level Four</a:t>
            </a:r>
          </a:p>
          <a:p>
            <a:pPr lvl="4"/>
            <a:r>
              <a:t>Body Level Five</a:t>
            </a:r>
          </a:p>
        </p:txBody>
      </p:sp>
      <p:sp>
        <p:nvSpPr>
          <p:cNvPr id="7" name="Rounded Rectangle 6">
            <a:extLst>
              <a:ext uri="{FF2B5EF4-FFF2-40B4-BE49-F238E27FC236}">
                <a16:creationId xmlns:a16="http://schemas.microsoft.com/office/drawing/2014/main" id="{313B1209-CFDB-405E-856B-B035AABDE395}"/>
              </a:ext>
            </a:extLst>
          </p:cNvPr>
          <p:cNvSpPr/>
          <p:nvPr userDrawn="1"/>
        </p:nvSpPr>
        <p:spPr>
          <a:xfrm>
            <a:off x="20777200" y="17188052"/>
            <a:ext cx="10820400" cy="980694"/>
          </a:xfrm>
          <a:prstGeom prst="roundRect">
            <a:avLst/>
          </a:prstGeom>
          <a:solidFill>
            <a:schemeClr val="bg2">
              <a:alpha val="50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ctr">
            <a:spAutoFit/>
          </a:bodyPr>
          <a:lstStyle/>
          <a:p>
            <a:pPr marL="0" marR="0" indent="0" algn="ctr" defTabSz="1975104"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chemeClr val="bg2">
                  <a:lumMod val="10000"/>
                </a:schemeClr>
              </a:solidFill>
              <a:effectLst/>
              <a:uFillTx/>
              <a:latin typeface="Helvetica Neue Light"/>
              <a:ea typeface="Helvetica Neue Light"/>
              <a:cs typeface="+mn-cs"/>
              <a:sym typeface="Helvetica Neue Ligh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1pPr>
      <a:lvl2pPr marL="0" marR="0" indent="22860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2pPr>
      <a:lvl3pPr marL="0" marR="0" indent="45720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3pPr>
      <a:lvl4pPr marL="0" marR="0" indent="68580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4pPr>
      <a:lvl5pPr marL="0" marR="0" indent="91440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5pPr>
      <a:lvl6pPr marL="0" marR="0" indent="114300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6pPr>
      <a:lvl7pPr marL="0" marR="0" indent="137160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7pPr>
      <a:lvl8pPr marL="0" marR="0" indent="160020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8pPr>
      <a:lvl9pPr marL="0" marR="0" indent="1828800" algn="l" defTabSz="1975104" latinLnBrk="0">
        <a:lnSpc>
          <a:spcPct val="100000"/>
        </a:lnSpc>
        <a:spcBef>
          <a:spcPts val="0"/>
        </a:spcBef>
        <a:spcAft>
          <a:spcPts val="0"/>
        </a:spcAft>
        <a:buClrTx/>
        <a:buSzTx/>
        <a:buFontTx/>
        <a:buNone/>
        <a:tabLst/>
        <a:defRPr sz="13800" b="0" i="0" u="none" strike="noStrike" cap="none" spc="0" baseline="0">
          <a:solidFill>
            <a:srgbClr val="000000"/>
          </a:solidFill>
          <a:uFillTx/>
          <a:latin typeface="Helvetica Neue Light"/>
          <a:ea typeface="Helvetica Neue Light"/>
          <a:cs typeface="Helvetica Neue Light"/>
          <a:sym typeface="Helvetica Neue Light"/>
        </a:defRPr>
      </a:lvl9pPr>
    </p:titleStyle>
    <p:bodyStyle>
      <a:lvl1pPr marL="873760" marR="0" indent="-873760"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1pPr>
      <a:lvl2pPr marL="1216660" marR="0" indent="-873760"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2pPr>
      <a:lvl3pPr marL="1572260" marR="0" indent="-873760"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3pPr>
      <a:lvl4pPr marL="1915160" marR="0" indent="-873760"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4pPr>
      <a:lvl5pPr marL="2258060" marR="0" indent="-873760"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5pPr>
      <a:lvl6pPr marL="2600960" marR="0" indent="-873760"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6pPr>
      <a:lvl7pPr marL="2943860" marR="0" indent="-873760"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7pPr>
      <a:lvl8pPr marL="3286759" marR="0" indent="-873759"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8pPr>
      <a:lvl9pPr marL="3629659" marR="0" indent="-873759" algn="l" defTabSz="1975104" latinLnBrk="0">
        <a:lnSpc>
          <a:spcPct val="100000"/>
        </a:lnSpc>
        <a:spcBef>
          <a:spcPts val="16400"/>
        </a:spcBef>
        <a:spcAft>
          <a:spcPts val="0"/>
        </a:spcAft>
        <a:buClrTx/>
        <a:buSzPct val="100000"/>
        <a:buFontTx/>
        <a:buChar char="•"/>
        <a:tabLst/>
        <a:defRPr sz="8600" b="0" i="0" u="none" strike="noStrike" cap="none" spc="0" baseline="0">
          <a:solidFill>
            <a:srgbClr val="747474"/>
          </a:solidFill>
          <a:uFillTx/>
          <a:latin typeface="+mn-lt"/>
          <a:ea typeface="+mn-ea"/>
          <a:cs typeface="+mn-cs"/>
          <a:sym typeface="Helvetica Neue"/>
        </a:defRPr>
      </a:lvl9pPr>
    </p:bodyStyle>
    <p:otherStyle>
      <a:lvl1pPr marL="0" marR="0" indent="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1pPr>
      <a:lvl2pPr marL="0" marR="0" indent="22860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2pPr>
      <a:lvl3pPr marL="0" marR="0" indent="45720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3pPr>
      <a:lvl4pPr marL="0" marR="0" indent="68580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4pPr>
      <a:lvl5pPr marL="0" marR="0" indent="91440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5pPr>
      <a:lvl6pPr marL="0" marR="0" indent="114300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6pPr>
      <a:lvl7pPr marL="0" marR="0" indent="137160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7pPr>
      <a:lvl8pPr marL="0" marR="0" indent="160020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8pPr>
      <a:lvl9pPr marL="0" marR="0" indent="1828800" algn="ctr" defTabSz="1975104" latinLnBrk="0">
        <a:lnSpc>
          <a:spcPct val="100000"/>
        </a:lnSpc>
        <a:spcBef>
          <a:spcPts val="0"/>
        </a:spcBef>
        <a:spcAft>
          <a:spcPts val="0"/>
        </a:spcAft>
        <a:buClrTx/>
        <a:buSzTx/>
        <a:buFontTx/>
        <a:buNone/>
        <a:tabLst/>
        <a:defRPr sz="42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41AD1-04F0-9A05-C6F6-B0A3A0649812}"/>
              </a:ext>
            </a:extLst>
          </p:cNvPr>
          <p:cNvSpPr>
            <a:spLocks noGrp="1"/>
          </p:cNvSpPr>
          <p:nvPr>
            <p:ph type="title"/>
          </p:nvPr>
        </p:nvSpPr>
        <p:spPr>
          <a:xfrm>
            <a:off x="6017556" y="223454"/>
            <a:ext cx="31995871" cy="2213812"/>
          </a:xfrm>
        </p:spPr>
        <p:txBody>
          <a:bodyPr>
            <a:normAutofit/>
          </a:bodyPr>
          <a:lstStyle/>
          <a:p>
            <a:pPr algn="ctr"/>
            <a:r>
              <a:rPr lang="en-US" sz="9600" dirty="0"/>
              <a:t>Electrostatic Tractor Supercharging in Cislunar Space</a:t>
            </a:r>
          </a:p>
        </p:txBody>
      </p:sp>
      <p:sp>
        <p:nvSpPr>
          <p:cNvPr id="17" name="Lorenzzo Quevedo Mantovani, Daniel Huterer Prats, Mark Stephenson, Yumeka Nagano, Afrah Ghedira, Anaïs Cheval, Dr. Hanspeter Schaub">
            <a:extLst>
              <a:ext uri="{FF2B5EF4-FFF2-40B4-BE49-F238E27FC236}">
                <a16:creationId xmlns:a16="http://schemas.microsoft.com/office/drawing/2014/main" id="{5586349F-CB89-7D5E-93F5-980AF093B966}"/>
              </a:ext>
            </a:extLst>
          </p:cNvPr>
          <p:cNvSpPr txBox="1"/>
          <p:nvPr/>
        </p:nvSpPr>
        <p:spPr>
          <a:xfrm>
            <a:off x="11472619" y="1745712"/>
            <a:ext cx="21085744" cy="2431636"/>
          </a:xfrm>
          <a:prstGeom prst="rect">
            <a:avLst/>
          </a:prstGeom>
          <a:ln w="50800">
            <a:miter lim="400000"/>
          </a:ln>
          <a:effectLst>
            <a:outerShdw blurRad="431800" dist="215900" dir="2700000" rotWithShape="0">
              <a:srgbClr val="CBCBCB">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64592" tIns="164592" rIns="164592" bIns="164592" anchor="ctr">
            <a:normAutofit/>
          </a:bodyPr>
          <a:lstStyle>
            <a:lvl1pPr algn="ctr">
              <a:defRPr sz="4400" b="1">
                <a:solidFill>
                  <a:srgbClr val="FFFFFF"/>
                </a:solidFill>
                <a:effectLst>
                  <a:outerShdw blurRad="50800" dist="25400" dir="2700000" rotWithShape="0">
                    <a:srgbClr val="000000">
                      <a:alpha val="75000"/>
                    </a:srgbClr>
                  </a:outerShdw>
                </a:effectLst>
                <a:latin typeface="+mn-lt"/>
                <a:ea typeface="+mn-ea"/>
                <a:cs typeface="+mn-cs"/>
                <a:sym typeface="Helvetica Neue"/>
              </a:defRPr>
            </a:lvl1pPr>
          </a:lstStyle>
          <a:p>
            <a:r>
              <a:rPr lang="en-US" dirty="0">
                <a:latin typeface="Helvetica Neue"/>
              </a:rPr>
              <a:t>Landon Holligan, Kaylee Champion, </a:t>
            </a:r>
            <a:r>
              <a:rPr dirty="0">
                <a:latin typeface="Helvetica Neue"/>
              </a:rPr>
              <a:t>Dr. Hanspeter Schaub</a:t>
            </a:r>
          </a:p>
        </p:txBody>
      </p:sp>
      <p:sp>
        <p:nvSpPr>
          <p:cNvPr id="18" name="Ann and H.J. Smead Aerospace Engineering Sciences, University of Colorado Boulder">
            <a:extLst>
              <a:ext uri="{FF2B5EF4-FFF2-40B4-BE49-F238E27FC236}">
                <a16:creationId xmlns:a16="http://schemas.microsoft.com/office/drawing/2014/main" id="{8EEB2E59-8BCF-C01C-E059-2898D1609D38}"/>
              </a:ext>
            </a:extLst>
          </p:cNvPr>
          <p:cNvSpPr txBox="1"/>
          <p:nvPr/>
        </p:nvSpPr>
        <p:spPr>
          <a:xfrm>
            <a:off x="9190364" y="3485795"/>
            <a:ext cx="25650255" cy="972192"/>
          </a:xfrm>
          <a:prstGeom prst="rect">
            <a:avLst/>
          </a:prstGeom>
          <a:ln w="50800">
            <a:miter lim="400000"/>
          </a:ln>
          <a:effectLst>
            <a:outerShdw blurRad="431800" dist="215900" dir="2700000" rotWithShape="0">
              <a:srgbClr val="CBCBCB">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64592" tIns="164592" rIns="164592" bIns="164592" anchor="ctr">
            <a:normAutofit/>
          </a:bodyPr>
          <a:lstStyle>
            <a:lvl1pPr algn="ctr">
              <a:defRPr sz="3800" b="1">
                <a:solidFill>
                  <a:srgbClr val="FFFFFF"/>
                </a:solidFill>
                <a:effectLst>
                  <a:outerShdw blurRad="50800" dist="25400" dir="2700000" rotWithShape="0">
                    <a:srgbClr val="000000">
                      <a:alpha val="75000"/>
                    </a:srgbClr>
                  </a:outerShdw>
                </a:effectLst>
                <a:latin typeface="+mn-lt"/>
                <a:ea typeface="+mn-ea"/>
                <a:cs typeface="+mn-cs"/>
                <a:sym typeface="Helvetica Neue"/>
              </a:defRPr>
            </a:lvl1pPr>
          </a:lstStyle>
          <a:p>
            <a:r>
              <a:rPr dirty="0">
                <a:latin typeface="Helvetica Neue"/>
              </a:rPr>
              <a:t>Ann and H.J. Smead Aerospace Engineering Sciences, University of Colorado Boulder</a:t>
            </a:r>
          </a:p>
        </p:txBody>
      </p:sp>
      <p:sp>
        <p:nvSpPr>
          <p:cNvPr id="94" name="Rectangle 93">
            <a:extLst>
              <a:ext uri="{FF2B5EF4-FFF2-40B4-BE49-F238E27FC236}">
                <a16:creationId xmlns:a16="http://schemas.microsoft.com/office/drawing/2014/main" id="{C8452140-6C4B-63A4-687D-B3C10317C6B8}"/>
              </a:ext>
            </a:extLst>
          </p:cNvPr>
          <p:cNvSpPr/>
          <p:nvPr/>
        </p:nvSpPr>
        <p:spPr>
          <a:xfrm>
            <a:off x="217715" y="5403425"/>
            <a:ext cx="14173200" cy="27249120"/>
          </a:xfrm>
          <a:prstGeom prst="rect">
            <a:avLst/>
          </a:prstGeom>
          <a:solidFill>
            <a:schemeClr val="bg1">
              <a:lumMod val="75000"/>
              <a:alpha val="50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ctr">
            <a:spAutoFit/>
          </a:bodyPr>
          <a:lstStyle/>
          <a:p>
            <a:pPr marL="0" marR="0" indent="0" algn="ctr" defTabSz="1975104"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chemeClr val="bg2">
                  <a:lumMod val="10000"/>
                </a:schemeClr>
              </a:solidFill>
              <a:effectLst/>
              <a:uFillTx/>
              <a:cs typeface="+mn-cs"/>
              <a:sym typeface="Helvetica Neue Light"/>
            </a:endParaRPr>
          </a:p>
        </p:txBody>
      </p:sp>
      <p:sp>
        <p:nvSpPr>
          <p:cNvPr id="5" name="TextBox 4">
            <a:extLst>
              <a:ext uri="{FF2B5EF4-FFF2-40B4-BE49-F238E27FC236}">
                <a16:creationId xmlns:a16="http://schemas.microsoft.com/office/drawing/2014/main" id="{0BA3F3DF-A113-06FD-F3C6-6E91643CDC61}"/>
              </a:ext>
            </a:extLst>
          </p:cNvPr>
          <p:cNvSpPr txBox="1"/>
          <p:nvPr/>
        </p:nvSpPr>
        <p:spPr>
          <a:xfrm>
            <a:off x="1975147" y="5248900"/>
            <a:ext cx="10770559" cy="1311850"/>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5600" b="1" dirty="0">
                <a:solidFill>
                  <a:schemeClr val="bg2">
                    <a:lumMod val="10000"/>
                  </a:schemeClr>
                </a:solidFill>
                <a:latin typeface="Arial" panose="020B0604020202020204" pitchFamily="34" charset="0"/>
                <a:ea typeface="+mn-ea"/>
                <a:cs typeface="Arial" panose="020B0604020202020204" pitchFamily="34" charset="0"/>
                <a:sym typeface="Helvetica Neue"/>
              </a:rPr>
              <a:t>Motivation </a:t>
            </a:r>
            <a:r>
              <a:rPr lang="en-US" sz="5600" b="1" dirty="0">
                <a:solidFill>
                  <a:schemeClr val="bg2">
                    <a:lumMod val="10000"/>
                  </a:schemeClr>
                </a:solidFill>
                <a:latin typeface="Arial" panose="020B0604020202020204" pitchFamily="34" charset="0"/>
                <a:cs typeface="Arial" panose="020B0604020202020204" pitchFamily="34" charset="0"/>
                <a:sym typeface="Helvetica Neue"/>
              </a:rPr>
              <a:t>&amp; Background</a:t>
            </a:r>
            <a:r>
              <a:rPr lang="en-US" sz="5600" b="1" dirty="0">
                <a:solidFill>
                  <a:schemeClr val="bg2">
                    <a:lumMod val="10000"/>
                  </a:schemeClr>
                </a:solidFill>
                <a:latin typeface="Arial" panose="020B0604020202020204" pitchFamily="34" charset="0"/>
                <a:ea typeface="+mn-ea"/>
                <a:cs typeface="Arial" panose="020B0604020202020204" pitchFamily="34" charset="0"/>
                <a:sym typeface="Helvetica Neue"/>
              </a:rPr>
              <a:t> </a:t>
            </a:r>
          </a:p>
        </p:txBody>
      </p:sp>
      <p:sp>
        <p:nvSpPr>
          <p:cNvPr id="6" name="Rounded Rectangle 5">
            <a:extLst>
              <a:ext uri="{FF2B5EF4-FFF2-40B4-BE49-F238E27FC236}">
                <a16:creationId xmlns:a16="http://schemas.microsoft.com/office/drawing/2014/main" id="{2C04D59F-21AF-98FB-CE6E-03A4853A82AF}"/>
              </a:ext>
            </a:extLst>
          </p:cNvPr>
          <p:cNvSpPr/>
          <p:nvPr/>
        </p:nvSpPr>
        <p:spPr>
          <a:xfrm>
            <a:off x="730308" y="6456369"/>
            <a:ext cx="13213080" cy="8647073"/>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marL="571500" indent="-571500" defTabSz="914400" eaLnBrk="0" fontAlgn="base">
              <a:spcBef>
                <a:spcPct val="0"/>
              </a:spcBef>
              <a:spcAft>
                <a:spcPct val="0"/>
              </a:spcAft>
              <a:buFont typeface="Arial" panose="020B0604020202020204" pitchFamily="34" charset="0"/>
              <a:buChar char="•"/>
            </a:pPr>
            <a:r>
              <a:rPr lang="en-US" sz="3200" b="1" dirty="0">
                <a:solidFill>
                  <a:schemeClr val="bg2">
                    <a:lumMod val="10000"/>
                  </a:schemeClr>
                </a:solidFill>
                <a:latin typeface="Arial"/>
                <a:cs typeface="Arial"/>
              </a:rPr>
              <a:t>Space debris </a:t>
            </a:r>
            <a:r>
              <a:rPr lang="en-US" sz="3200" dirty="0">
                <a:solidFill>
                  <a:schemeClr val="bg2">
                    <a:lumMod val="10000"/>
                  </a:schemeClr>
                </a:solidFill>
                <a:latin typeface="Arial"/>
                <a:cs typeface="Arial"/>
              </a:rPr>
              <a:t>is a growing issue in near-Earth orbits. As companies look towards the Moon as a new objective, it becomes critical to develop and implement safe debris mitigation and removal strategies. </a:t>
            </a:r>
            <a:br>
              <a:rPr lang="en-US" sz="3200" dirty="0">
                <a:solidFill>
                  <a:schemeClr val="bg2">
                    <a:lumMod val="10000"/>
                  </a:schemeClr>
                </a:solidFill>
                <a:latin typeface="Arial"/>
                <a:cs typeface="Arial"/>
              </a:rPr>
            </a:br>
            <a:endParaRPr lang="en-US" sz="3200" dirty="0">
              <a:solidFill>
                <a:schemeClr val="bg2">
                  <a:lumMod val="10000"/>
                </a:schemeClr>
              </a:solidFill>
              <a:latin typeface="Arial"/>
              <a:cs typeface="Arial"/>
            </a:endParaRPr>
          </a:p>
          <a:p>
            <a:pPr marL="571500" indent="-571500" defTabSz="914400" eaLnBrk="0" fontAlgn="base">
              <a:spcBef>
                <a:spcPct val="0"/>
              </a:spcBef>
              <a:spcAft>
                <a:spcPct val="0"/>
              </a:spcAft>
              <a:buFont typeface="Arial" panose="020B0604020202020204" pitchFamily="34" charset="0"/>
              <a:buChar char="•"/>
            </a:pPr>
            <a:r>
              <a:rPr lang="en-US" sz="3200" dirty="0">
                <a:solidFill>
                  <a:schemeClr val="bg2">
                    <a:lumMod val="10000"/>
                  </a:schemeClr>
                </a:solidFill>
                <a:latin typeface="Arial"/>
                <a:cs typeface="Arial"/>
              </a:rPr>
              <a:t>One proposed technology is </a:t>
            </a:r>
            <a:r>
              <a:rPr lang="en-US" sz="3200" b="1" dirty="0">
                <a:solidFill>
                  <a:schemeClr val="bg2">
                    <a:lumMod val="10000"/>
                  </a:schemeClr>
                </a:solidFill>
                <a:latin typeface="Arial"/>
                <a:cs typeface="Arial"/>
              </a:rPr>
              <a:t>electrostatic actuation,</a:t>
            </a:r>
            <a:r>
              <a:rPr lang="en-US" sz="3200" dirty="0">
                <a:solidFill>
                  <a:schemeClr val="bg2">
                    <a:lumMod val="10000"/>
                  </a:schemeClr>
                </a:solidFill>
                <a:latin typeface="Arial"/>
                <a:cs typeface="Arial"/>
              </a:rPr>
              <a:t> which involves a servicer spacecraft equipped with an electron gun aimed at a target spacecraft or piece of debris.</a:t>
            </a:r>
          </a:p>
          <a:p>
            <a:pPr marL="1828800" lvl="2" indent="-457200" defTabSz="914400" eaLnBrk="0" fontAlgn="base">
              <a:spcBef>
                <a:spcPct val="0"/>
              </a:spcBef>
              <a:spcAft>
                <a:spcPct val="0"/>
              </a:spcAft>
              <a:buFont typeface="Courier New" panose="02070309020205020404" pitchFamily="49" charset="0"/>
              <a:buChar char="o"/>
            </a:pPr>
            <a:r>
              <a:rPr lang="en-US" sz="3200" dirty="0">
                <a:solidFill>
                  <a:schemeClr val="bg2">
                    <a:lumMod val="10000"/>
                  </a:schemeClr>
                </a:solidFill>
                <a:latin typeface="Arial"/>
                <a:cs typeface="Arial"/>
              </a:rPr>
              <a:t>The servicer charges positively</a:t>
            </a:r>
            <a:r>
              <a:rPr lang="en-US" sz="3200" b="1" dirty="0">
                <a:solidFill>
                  <a:schemeClr val="bg2">
                    <a:lumMod val="10000"/>
                  </a:schemeClr>
                </a:solidFill>
                <a:latin typeface="Arial"/>
                <a:cs typeface="Arial"/>
              </a:rPr>
              <a:t> </a:t>
            </a:r>
            <a:r>
              <a:rPr lang="en-US" sz="3200" dirty="0">
                <a:solidFill>
                  <a:schemeClr val="bg2">
                    <a:lumMod val="10000"/>
                  </a:schemeClr>
                </a:solidFill>
                <a:latin typeface="Arial"/>
                <a:cs typeface="Arial"/>
              </a:rPr>
              <a:t>while the</a:t>
            </a:r>
            <a:r>
              <a:rPr lang="en-US" sz="3200" b="1" dirty="0">
                <a:solidFill>
                  <a:schemeClr val="bg2">
                    <a:lumMod val="10000"/>
                  </a:schemeClr>
                </a:solidFill>
                <a:latin typeface="Arial"/>
                <a:cs typeface="Arial"/>
              </a:rPr>
              <a:t> </a:t>
            </a:r>
            <a:r>
              <a:rPr lang="en-US" sz="3200" dirty="0">
                <a:solidFill>
                  <a:schemeClr val="bg2">
                    <a:lumMod val="10000"/>
                  </a:schemeClr>
                </a:solidFill>
                <a:latin typeface="Arial"/>
                <a:cs typeface="Arial"/>
              </a:rPr>
              <a:t>target charges negatively, creating an attractive force between them.</a:t>
            </a:r>
            <a:br>
              <a:rPr lang="en-US" sz="3200" dirty="0">
                <a:solidFill>
                  <a:schemeClr val="bg2">
                    <a:lumMod val="10000"/>
                  </a:schemeClr>
                </a:solidFill>
                <a:latin typeface="Arial"/>
                <a:cs typeface="Arial"/>
              </a:rPr>
            </a:br>
            <a:endParaRPr lang="en-US" sz="3200" b="1" dirty="0">
              <a:solidFill>
                <a:schemeClr val="bg2">
                  <a:lumMod val="10000"/>
                </a:schemeClr>
              </a:solidFill>
              <a:latin typeface="Arial"/>
              <a:cs typeface="Arial"/>
            </a:endParaRPr>
          </a:p>
          <a:p>
            <a:pPr marL="571500" indent="-571500" defTabSz="914400" eaLnBrk="0" fontAlgn="base">
              <a:spcBef>
                <a:spcPct val="0"/>
              </a:spcBef>
              <a:spcAft>
                <a:spcPct val="0"/>
              </a:spcAft>
              <a:buFont typeface="Arial" panose="020B0604020202020204" pitchFamily="34" charset="0"/>
              <a:buChar char="•"/>
            </a:pPr>
            <a:r>
              <a:rPr lang="en-US" sz="3200" b="1" dirty="0">
                <a:solidFill>
                  <a:schemeClr val="bg2">
                    <a:lumMod val="10000"/>
                  </a:schemeClr>
                </a:solidFill>
                <a:latin typeface="Arial"/>
                <a:ea typeface="+mn-ea"/>
                <a:cs typeface="Arial"/>
              </a:rPr>
              <a:t>Spacecraft Wakes </a:t>
            </a:r>
            <a:r>
              <a:rPr lang="en-US" sz="3200" dirty="0">
                <a:solidFill>
                  <a:schemeClr val="bg2">
                    <a:lumMod val="10000"/>
                  </a:schemeClr>
                </a:solidFill>
                <a:latin typeface="Arial"/>
                <a:cs typeface="Arial"/>
              </a:rPr>
              <a:t>are</a:t>
            </a:r>
            <a:r>
              <a:rPr lang="en-US" sz="3200" dirty="0">
                <a:solidFill>
                  <a:schemeClr val="bg2">
                    <a:lumMod val="10000"/>
                  </a:schemeClr>
                </a:solidFill>
                <a:latin typeface="Arial"/>
                <a:ea typeface="+mn-ea"/>
                <a:cs typeface="Arial"/>
              </a:rPr>
              <a:t> </a:t>
            </a:r>
            <a:r>
              <a:rPr lang="en-US" sz="3200" dirty="0">
                <a:solidFill>
                  <a:schemeClr val="bg2">
                    <a:lumMod val="10000"/>
                  </a:schemeClr>
                </a:solidFill>
                <a:latin typeface="Arial"/>
                <a:cs typeface="Arial"/>
              </a:rPr>
              <a:t>regions on the eclipse, or anti-velocity side of the spacecraft, depending on the environment, devoid of ions. </a:t>
            </a:r>
          </a:p>
          <a:p>
            <a:pPr defTabSz="914400" eaLnBrk="0" fontAlgn="base">
              <a:spcBef>
                <a:spcPct val="0"/>
              </a:spcBef>
              <a:spcAft>
                <a:spcPct val="0"/>
              </a:spcAft>
            </a:pPr>
            <a:endParaRPr lang="en-US" sz="3200" dirty="0">
              <a:solidFill>
                <a:schemeClr val="bg2">
                  <a:lumMod val="10000"/>
                </a:schemeClr>
              </a:solidFill>
              <a:latin typeface="Arial"/>
              <a:cs typeface="Arial"/>
            </a:endParaRPr>
          </a:p>
          <a:p>
            <a:pPr marL="571500" indent="-571500" defTabSz="914400" eaLnBrk="0" fontAlgn="base">
              <a:spcBef>
                <a:spcPct val="0"/>
              </a:spcBef>
              <a:spcAft>
                <a:spcPct val="0"/>
              </a:spcAft>
              <a:buFont typeface="Arial" panose="020B0604020202020204" pitchFamily="34" charset="0"/>
              <a:buChar char="•"/>
            </a:pPr>
            <a:r>
              <a:rPr lang="en-US" sz="3200" b="1" dirty="0">
                <a:solidFill>
                  <a:schemeClr val="bg2">
                    <a:lumMod val="10000"/>
                  </a:schemeClr>
                </a:solidFill>
                <a:latin typeface="Arial"/>
                <a:cs typeface="Arial"/>
                <a:sym typeface="Helvetica Neue"/>
              </a:rPr>
              <a:t>Supercharging </a:t>
            </a:r>
            <a:r>
              <a:rPr lang="en-US" sz="3200" dirty="0">
                <a:solidFill>
                  <a:schemeClr val="bg2">
                    <a:lumMod val="10000"/>
                  </a:schemeClr>
                </a:solidFill>
                <a:latin typeface="Arial"/>
                <a:cs typeface="Arial"/>
                <a:sym typeface="Helvetica Neue"/>
              </a:rPr>
              <a:t>occurs when the target and servicer reach a potential difference larger than the beam energy.</a:t>
            </a:r>
          </a:p>
          <a:p>
            <a:pPr marL="1828800" indent="-457200" defTabSz="914400" eaLnBrk="0" fontAlgn="base">
              <a:spcBef>
                <a:spcPct val="0"/>
              </a:spcBef>
              <a:spcAft>
                <a:spcPct val="0"/>
              </a:spcAft>
              <a:buFont typeface="Courier New" panose="02070309020205020404" pitchFamily="49" charset="0"/>
              <a:buChar char="o"/>
            </a:pPr>
            <a:r>
              <a:rPr lang="en-US" sz="3200" dirty="0">
                <a:solidFill>
                  <a:schemeClr val="bg2">
                    <a:lumMod val="10000"/>
                  </a:schemeClr>
                </a:solidFill>
                <a:latin typeface="Arial"/>
                <a:cs typeface="Arial"/>
              </a:rPr>
              <a:t>Initially seen when target is in servicer’s spacecraft wake 	</a:t>
            </a:r>
          </a:p>
        </p:txBody>
      </p:sp>
      <p:grpSp>
        <p:nvGrpSpPr>
          <p:cNvPr id="4" name="Group 3">
            <a:extLst>
              <a:ext uri="{FF2B5EF4-FFF2-40B4-BE49-F238E27FC236}">
                <a16:creationId xmlns:a16="http://schemas.microsoft.com/office/drawing/2014/main" id="{DF87E74C-023F-0739-B716-CCCD609EB8C9}"/>
              </a:ext>
            </a:extLst>
          </p:cNvPr>
          <p:cNvGrpSpPr/>
          <p:nvPr/>
        </p:nvGrpSpPr>
        <p:grpSpPr>
          <a:xfrm>
            <a:off x="684588" y="15428321"/>
            <a:ext cx="13258800" cy="5364307"/>
            <a:chOff x="978983" y="16688433"/>
            <a:chExt cx="13709946" cy="5364307"/>
          </a:xfrm>
        </p:grpSpPr>
        <p:pic>
          <p:nvPicPr>
            <p:cNvPr id="19" name="Picture 18" descr="A satellite with a satellite and earth in the background&#10;&#10;AI-generated content may be incorrect.">
              <a:extLst>
                <a:ext uri="{FF2B5EF4-FFF2-40B4-BE49-F238E27FC236}">
                  <a16:creationId xmlns:a16="http://schemas.microsoft.com/office/drawing/2014/main" id="{B2D3CF4E-5D39-FC55-B9B1-AE4770A64342}"/>
                </a:ext>
              </a:extLst>
            </p:cNvPr>
            <p:cNvPicPr>
              <a:picLocks noChangeAspect="1"/>
            </p:cNvPicPr>
            <p:nvPr/>
          </p:nvPicPr>
          <p:blipFill>
            <a:blip r:embed="rId3">
              <a:extLst>
                <a:ext uri="{28A0092B-C50C-407E-A947-70E740481C1C}">
                  <a14:useLocalDpi xmlns:a14="http://schemas.microsoft.com/office/drawing/2010/main" val="0"/>
                </a:ext>
              </a:extLst>
            </a:blip>
            <a:srcRect l="187" r="-375" b="8569"/>
            <a:stretch>
              <a:fillRect/>
            </a:stretch>
          </p:blipFill>
          <p:spPr>
            <a:xfrm>
              <a:off x="1036184" y="16688433"/>
              <a:ext cx="6072448" cy="428315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Rounded Rectangle 21">
              <a:extLst>
                <a:ext uri="{FF2B5EF4-FFF2-40B4-BE49-F238E27FC236}">
                  <a16:creationId xmlns:a16="http://schemas.microsoft.com/office/drawing/2014/main" id="{4F93864E-3AE5-1E59-22EF-F43CBECA747C}"/>
                </a:ext>
              </a:extLst>
            </p:cNvPr>
            <p:cNvSpPr/>
            <p:nvPr/>
          </p:nvSpPr>
          <p:spPr>
            <a:xfrm>
              <a:off x="978983" y="21191948"/>
              <a:ext cx="6214934" cy="857298"/>
            </a:xfrm>
            <a:prstGeom prst="roundRect">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algn="ctr"/>
              <a:r>
                <a:rPr lang="en-US" sz="3200" dirty="0">
                  <a:solidFill>
                    <a:schemeClr val="bg2">
                      <a:lumMod val="10000"/>
                    </a:schemeClr>
                  </a:solidFill>
                  <a:latin typeface="Arial" panose="020B0604020202020204" pitchFamily="34" charset="0"/>
                  <a:cs typeface="Arial" panose="020B0604020202020204" pitchFamily="34" charset="0"/>
                  <a:sym typeface="Helvetica Neue"/>
                </a:rPr>
                <a:t>Electrostatic Tractor Concept</a:t>
              </a:r>
            </a:p>
          </p:txBody>
        </p:sp>
        <p:pic>
          <p:nvPicPr>
            <p:cNvPr id="20" name="Picture 19">
              <a:extLst>
                <a:ext uri="{FF2B5EF4-FFF2-40B4-BE49-F238E27FC236}">
                  <a16:creationId xmlns:a16="http://schemas.microsoft.com/office/drawing/2014/main" id="{39AFDEB8-AE81-7D35-5130-A019423C40A2}"/>
                </a:ext>
              </a:extLst>
            </p:cNvPr>
            <p:cNvPicPr>
              <a:picLocks noChangeAspect="1"/>
            </p:cNvPicPr>
            <p:nvPr/>
          </p:nvPicPr>
          <p:blipFill>
            <a:blip r:embed="rId4"/>
            <a:srcRect l="2419" t="654" r="-790" b="1961"/>
            <a:stretch>
              <a:fillRect/>
            </a:stretch>
          </p:blipFill>
          <p:spPr>
            <a:xfrm>
              <a:off x="7898328" y="16689064"/>
              <a:ext cx="6790601" cy="4295799"/>
            </a:xfrm>
            <a:prstGeom prst="roundRect">
              <a:avLst/>
            </a:prstGeom>
            <a:effectLst>
              <a:outerShdw blurRad="50800" dist="50800" dir="7800000" algn="ctr" rotWithShape="0">
                <a:srgbClr val="000000">
                  <a:alpha val="40000"/>
                </a:srgbClr>
              </a:outerShdw>
              <a:softEdge rad="0"/>
            </a:effectLst>
          </p:spPr>
        </p:pic>
        <p:sp>
          <p:nvSpPr>
            <p:cNvPr id="23" name="Rounded Rectangle 22">
              <a:extLst>
                <a:ext uri="{FF2B5EF4-FFF2-40B4-BE49-F238E27FC236}">
                  <a16:creationId xmlns:a16="http://schemas.microsoft.com/office/drawing/2014/main" id="{F73F178F-0DFF-E913-1407-1136F9C4D791}"/>
                </a:ext>
              </a:extLst>
            </p:cNvPr>
            <p:cNvSpPr/>
            <p:nvPr/>
          </p:nvSpPr>
          <p:spPr>
            <a:xfrm>
              <a:off x="8182117" y="21195442"/>
              <a:ext cx="6214934" cy="857298"/>
            </a:xfrm>
            <a:prstGeom prst="roundRect">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algn="ctr"/>
              <a:r>
                <a:rPr lang="en-US" sz="3200" dirty="0">
                  <a:solidFill>
                    <a:schemeClr val="bg2">
                      <a:lumMod val="10000"/>
                    </a:schemeClr>
                  </a:solidFill>
                  <a:latin typeface="Arial" panose="020B0604020202020204" pitchFamily="34" charset="0"/>
                  <a:cs typeface="Arial" panose="020B0604020202020204" pitchFamily="34" charset="0"/>
                  <a:sym typeface="Helvetica Neue"/>
                </a:rPr>
                <a:t>Spacecraft Wakes</a:t>
              </a:r>
            </a:p>
          </p:txBody>
        </p:sp>
      </p:grpSp>
      <p:sp>
        <p:nvSpPr>
          <p:cNvPr id="95" name="Rectangle 94">
            <a:extLst>
              <a:ext uri="{FF2B5EF4-FFF2-40B4-BE49-F238E27FC236}">
                <a16:creationId xmlns:a16="http://schemas.microsoft.com/office/drawing/2014/main" id="{92149212-E278-2244-ED58-B34939E31AE1}"/>
              </a:ext>
            </a:extLst>
          </p:cNvPr>
          <p:cNvSpPr/>
          <p:nvPr/>
        </p:nvSpPr>
        <p:spPr>
          <a:xfrm>
            <a:off x="29469155" y="5403425"/>
            <a:ext cx="14173200" cy="27249120"/>
          </a:xfrm>
          <a:prstGeom prst="rect">
            <a:avLst/>
          </a:prstGeom>
          <a:solidFill>
            <a:schemeClr val="bg1">
              <a:lumMod val="75000"/>
              <a:alpha val="50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ctr">
            <a:spAutoFit/>
          </a:bodyPr>
          <a:lstStyle/>
          <a:p>
            <a:pPr marL="0" marR="0" indent="0" algn="ctr" defTabSz="1975104"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chemeClr val="bg2">
                  <a:lumMod val="10000"/>
                </a:schemeClr>
              </a:solidFill>
              <a:effectLst/>
              <a:uFillTx/>
              <a:cs typeface="+mn-cs"/>
              <a:sym typeface="Helvetica Neue Light"/>
            </a:endParaRPr>
          </a:p>
        </p:txBody>
      </p:sp>
      <p:sp>
        <p:nvSpPr>
          <p:cNvPr id="13" name="TextBox 12">
            <a:extLst>
              <a:ext uri="{FF2B5EF4-FFF2-40B4-BE49-F238E27FC236}">
                <a16:creationId xmlns:a16="http://schemas.microsoft.com/office/drawing/2014/main" id="{F30553CF-8B12-EAB8-A737-58CEA190D0E9}"/>
              </a:ext>
            </a:extLst>
          </p:cNvPr>
          <p:cNvSpPr txBox="1"/>
          <p:nvPr/>
        </p:nvSpPr>
        <p:spPr>
          <a:xfrm>
            <a:off x="30960546" y="5248900"/>
            <a:ext cx="11190419" cy="1311850"/>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5600" b="1" dirty="0">
                <a:solidFill>
                  <a:schemeClr val="bg2">
                    <a:lumMod val="10000"/>
                  </a:schemeClr>
                </a:solidFill>
                <a:latin typeface="Arial" panose="020B0604020202020204" pitchFamily="34" charset="0"/>
                <a:ea typeface="+mn-ea"/>
                <a:cs typeface="Arial" panose="020B0604020202020204" pitchFamily="34" charset="0"/>
                <a:sym typeface="Helvetica Neue"/>
              </a:rPr>
              <a:t>Validation</a:t>
            </a:r>
          </a:p>
        </p:txBody>
      </p:sp>
      <p:sp>
        <p:nvSpPr>
          <p:cNvPr id="46" name="Rounded Rectangle 45">
            <a:extLst>
              <a:ext uri="{FF2B5EF4-FFF2-40B4-BE49-F238E27FC236}">
                <a16:creationId xmlns:a16="http://schemas.microsoft.com/office/drawing/2014/main" id="{1EA18BEA-B0E6-D9EF-2D69-5DF2A2A6AD6D}"/>
              </a:ext>
            </a:extLst>
          </p:cNvPr>
          <p:cNvSpPr/>
          <p:nvPr/>
        </p:nvSpPr>
        <p:spPr>
          <a:xfrm>
            <a:off x="29926355" y="16333566"/>
            <a:ext cx="13224938" cy="2282125"/>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r>
              <a:rPr lang="en-US" sz="3200" dirty="0">
                <a:solidFill>
                  <a:schemeClr val="bg2">
                    <a:lumMod val="10000"/>
                  </a:schemeClr>
                </a:solidFill>
                <a:latin typeface="Arial" panose="020B0604020202020204" pitchFamily="34" charset="0"/>
                <a:cs typeface="Arial" panose="020B0604020202020204" pitchFamily="34" charset="0"/>
              </a:rPr>
              <a:t>After emitting the electron beam at a target within a wake, it is possible to increase the potential difference to greater than the beam energy. In this case, the change in equilibrium potential increases the electrostatic force by 71.2%.</a:t>
            </a:r>
          </a:p>
        </p:txBody>
      </p:sp>
      <p:grpSp>
        <p:nvGrpSpPr>
          <p:cNvPr id="76" name="Group 75">
            <a:extLst>
              <a:ext uri="{FF2B5EF4-FFF2-40B4-BE49-F238E27FC236}">
                <a16:creationId xmlns:a16="http://schemas.microsoft.com/office/drawing/2014/main" id="{B1561432-6E3E-E00F-3B19-F6147E8E5262}"/>
              </a:ext>
            </a:extLst>
          </p:cNvPr>
          <p:cNvGrpSpPr/>
          <p:nvPr/>
        </p:nvGrpSpPr>
        <p:grpSpPr>
          <a:xfrm>
            <a:off x="30934157" y="12812127"/>
            <a:ext cx="11166997" cy="3151972"/>
            <a:chOff x="31109907" y="12545228"/>
            <a:chExt cx="11166997" cy="3151972"/>
          </a:xfrm>
        </p:grpSpPr>
        <mc:AlternateContent xmlns:mc="http://schemas.openxmlformats.org/markup-compatibility/2006" xmlns:a14="http://schemas.microsoft.com/office/drawing/2010/main">
          <mc:Choice Requires="a14">
            <p:sp>
              <p:nvSpPr>
                <p:cNvPr id="45" name="Rounded Rectangle 44">
                  <a:extLst>
                    <a:ext uri="{FF2B5EF4-FFF2-40B4-BE49-F238E27FC236}">
                      <a16:creationId xmlns:a16="http://schemas.microsoft.com/office/drawing/2014/main" id="{38F6F65B-8C0D-9B78-80BF-412A068C5DAF}"/>
                    </a:ext>
                  </a:extLst>
                </p:cNvPr>
                <p:cNvSpPr/>
                <p:nvPr/>
              </p:nvSpPr>
              <p:spPr>
                <a:xfrm>
                  <a:off x="31109907" y="12545340"/>
                  <a:ext cx="4253813" cy="3151859"/>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algn="ctr"/>
                  <a:r>
                    <a:rPr lang="en-US" sz="3200" dirty="0">
                      <a:solidFill>
                        <a:schemeClr val="bg2">
                          <a:lumMod val="10000"/>
                        </a:schemeClr>
                      </a:solidFill>
                      <a:latin typeface="Arial" panose="020B0604020202020204" pitchFamily="34" charset="0"/>
                      <a:cs typeface="Arial" panose="020B0604020202020204" pitchFamily="34" charset="0"/>
                    </a:rPr>
                    <a:t>Initial Parameters:</a:t>
                  </a:r>
                </a:p>
                <a:p>
                  <a:pPr algn="ctr"/>
                  <a14:m>
                    <m:oMath xmlns:m="http://schemas.openxmlformats.org/officeDocument/2006/math">
                      <m:sSub>
                        <m:sSubPr>
                          <m:ctrlPr>
                            <a:rPr lang="en-US" sz="3200" i="0" smtClean="0">
                              <a:solidFill>
                                <a:schemeClr val="bg2">
                                  <a:lumMod val="10000"/>
                                </a:schemeClr>
                              </a:solidFill>
                              <a:latin typeface="Cambria Math" panose="02040503050406030204" pitchFamily="18" charset="0"/>
                            </a:rPr>
                          </m:ctrlPr>
                        </m:sSubPr>
                        <m:e>
                          <m:r>
                            <m:rPr>
                              <m:sty m:val="p"/>
                            </m:rPr>
                            <a:rPr lang="en-US" sz="3200" i="0" smtClean="0">
                              <a:solidFill>
                                <a:schemeClr val="bg2">
                                  <a:lumMod val="10000"/>
                                </a:schemeClr>
                              </a:solidFill>
                              <a:latin typeface="Cambria Math" panose="02040503050406030204" pitchFamily="18" charset="0"/>
                            </a:rPr>
                            <m:t>ϕ</m:t>
                          </m:r>
                        </m:e>
                        <m:sub>
                          <m:r>
                            <m:rPr>
                              <m:sty m:val="p"/>
                            </m:rPr>
                            <a:rPr lang="en-US" sz="3200" i="0" smtClean="0">
                              <a:solidFill>
                                <a:schemeClr val="bg2">
                                  <a:lumMod val="10000"/>
                                </a:schemeClr>
                              </a:solidFill>
                              <a:latin typeface="Cambria Math" panose="02040503050406030204" pitchFamily="18" charset="0"/>
                            </a:rPr>
                            <m:t>T</m:t>
                          </m:r>
                        </m:sub>
                      </m:sSub>
                      <m:r>
                        <a:rPr lang="en-US" sz="3200" i="0" smtClean="0">
                          <a:solidFill>
                            <a:schemeClr val="bg2">
                              <a:lumMod val="10000"/>
                            </a:schemeClr>
                          </a:solidFill>
                          <a:latin typeface="Cambria Math" panose="02040503050406030204" pitchFamily="18" charset="0"/>
                        </a:rPr>
                        <m:t>=−3 </m:t>
                      </m:r>
                      <m:r>
                        <m:rPr>
                          <m:sty m:val="p"/>
                        </m:rPr>
                        <a:rPr lang="en-US" sz="3200" i="0" smtClean="0">
                          <a:solidFill>
                            <a:schemeClr val="bg2">
                              <a:lumMod val="10000"/>
                            </a:schemeClr>
                          </a:solidFill>
                          <a:latin typeface="Cambria Math" panose="02040503050406030204" pitchFamily="18" charset="0"/>
                        </a:rPr>
                        <m:t>kV</m:t>
                      </m:r>
                    </m:oMath>
                  </a14:m>
                  <a:r>
                    <a:rPr lang="en-US" sz="3200" dirty="0">
                      <a:solidFill>
                        <a:schemeClr val="bg2">
                          <a:lumMod val="10000"/>
                        </a:schemeClr>
                      </a:solidFill>
                      <a:latin typeface="Arial" panose="020B0604020202020204" pitchFamily="34" charset="0"/>
                      <a:cs typeface="Arial" panose="020B0604020202020204" pitchFamily="34" charset="0"/>
                    </a:rPr>
                    <a:t> </a:t>
                  </a:r>
                </a:p>
                <a:p>
                  <a:pPr algn="ctr"/>
                  <a14:m>
                    <m:oMathPara xmlns:m="http://schemas.openxmlformats.org/officeDocument/2006/math">
                      <m:oMath>
                        <m:sSub>
                          <m:sSubPr>
                            <m:ctrlPr>
                              <a:rPr lang="en-US" sz="3200" i="0" smtClean="0">
                                <a:solidFill>
                                  <a:schemeClr val="bg2">
                                    <a:lumMod val="10000"/>
                                  </a:schemeClr>
                                </a:solidFill>
                                <a:latin typeface="Cambria Math" panose="02040503050406030204" pitchFamily="18" charset="0"/>
                              </a:rPr>
                            </m:ctrlPr>
                          </m:sSubPr>
                          <m:e>
                            <m:r>
                              <m:rPr>
                                <m:sty m:val="p"/>
                              </m:rPr>
                              <a:rPr lang="en-US" sz="3200" i="0" smtClean="0">
                                <a:solidFill>
                                  <a:schemeClr val="bg2">
                                    <a:lumMod val="10000"/>
                                  </a:schemeClr>
                                </a:solidFill>
                                <a:latin typeface="Cambria Math" panose="02040503050406030204" pitchFamily="18" charset="0"/>
                              </a:rPr>
                              <m:t>ϕ</m:t>
                            </m:r>
                          </m:e>
                          <m:sub>
                            <m:r>
                              <m:rPr>
                                <m:sty m:val="p"/>
                              </m:rPr>
                              <a:rPr lang="en-US" sz="3200" i="0" smtClean="0">
                                <a:solidFill>
                                  <a:schemeClr val="bg2">
                                    <a:lumMod val="10000"/>
                                  </a:schemeClr>
                                </a:solidFill>
                                <a:latin typeface="Cambria Math" panose="02040503050406030204" pitchFamily="18" charset="0"/>
                              </a:rPr>
                              <m:t>S</m:t>
                            </m:r>
                          </m:sub>
                        </m:sSub>
                        <m:r>
                          <a:rPr lang="en-US" sz="3200" i="0" smtClean="0">
                            <a:solidFill>
                              <a:schemeClr val="bg2">
                                <a:lumMod val="10000"/>
                              </a:schemeClr>
                            </a:solidFill>
                            <a:latin typeface="Cambria Math" panose="02040503050406030204" pitchFamily="18" charset="0"/>
                          </a:rPr>
                          <m:t>=2 </m:t>
                        </m:r>
                        <m:r>
                          <m:rPr>
                            <m:sty m:val="p"/>
                          </m:rPr>
                          <a:rPr lang="en-US" sz="3200" i="0" smtClean="0">
                            <a:solidFill>
                              <a:schemeClr val="bg2">
                                <a:lumMod val="10000"/>
                              </a:schemeClr>
                            </a:solidFill>
                            <a:latin typeface="Cambria Math" panose="02040503050406030204" pitchFamily="18" charset="0"/>
                          </a:rPr>
                          <m:t>kV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r>
                          <a:rPr lang="en-US" sz="3200" b="1" i="0" smtClean="0">
                            <a:solidFill>
                              <a:schemeClr val="bg2">
                                <a:lumMod val="10000"/>
                              </a:schemeClr>
                            </a:solidFill>
                            <a:latin typeface="Cambria Math" panose="02040503050406030204" pitchFamily="18" charset="0"/>
                          </a:rPr>
                          <m:t>∆</m:t>
                        </m:r>
                        <m:r>
                          <a:rPr lang="en-US" sz="3200" b="1" i="0" smtClean="0">
                            <a:solidFill>
                              <a:schemeClr val="bg2">
                                <a:lumMod val="10000"/>
                              </a:schemeClr>
                            </a:solidFill>
                            <a:latin typeface="Cambria Math" panose="02040503050406030204" pitchFamily="18" charset="0"/>
                          </a:rPr>
                          <m:t>𝛟</m:t>
                        </m:r>
                        <m:r>
                          <a:rPr lang="en-US" sz="3200" b="1" i="0" smtClean="0">
                            <a:solidFill>
                              <a:schemeClr val="bg2">
                                <a:lumMod val="10000"/>
                              </a:schemeClr>
                            </a:solidFill>
                            <a:latin typeface="Cambria Math" panose="02040503050406030204" pitchFamily="18" charset="0"/>
                          </a:rPr>
                          <m:t>=</m:t>
                        </m:r>
                        <m:r>
                          <a:rPr lang="en-US" sz="3200" b="1" i="0" smtClean="0">
                            <a:solidFill>
                              <a:schemeClr val="bg2">
                                <a:lumMod val="10000"/>
                              </a:schemeClr>
                            </a:solidFill>
                            <a:latin typeface="Cambria Math" panose="02040503050406030204" pitchFamily="18" charset="0"/>
                          </a:rPr>
                          <m:t>𝟓</m:t>
                        </m:r>
                        <m:r>
                          <a:rPr lang="en-US" sz="3200" b="1" i="0" smtClean="0">
                            <a:solidFill>
                              <a:schemeClr val="bg2">
                                <a:lumMod val="10000"/>
                              </a:schemeClr>
                            </a:solidFill>
                            <a:latin typeface="Cambria Math" panose="02040503050406030204" pitchFamily="18" charset="0"/>
                          </a:rPr>
                          <m:t> </m:t>
                        </m:r>
                        <m:r>
                          <a:rPr lang="en-US" sz="3200" b="1" i="0" smtClean="0">
                            <a:solidFill>
                              <a:schemeClr val="bg2">
                                <a:lumMod val="10000"/>
                              </a:schemeClr>
                            </a:solidFill>
                            <a:latin typeface="Cambria Math" panose="02040503050406030204" pitchFamily="18" charset="0"/>
                          </a:rPr>
                          <m:t>𝐤𝐕</m:t>
                        </m:r>
                      </m:oMath>
                    </m:oMathPara>
                  </a14:m>
                  <a:endParaRPr lang="en-US" sz="3200" b="1" dirty="0">
                    <a:solidFill>
                      <a:schemeClr val="bg2">
                        <a:lumMod val="10000"/>
                      </a:schemeClr>
                    </a:solidFill>
                    <a:latin typeface="Arial" panose="020B0604020202020204" pitchFamily="34" charset="0"/>
                  </a:endParaRPr>
                </a:p>
                <a:p>
                  <a:pPr algn="ctr"/>
                  <a14:m>
                    <m:oMathPara xmlns:m="http://schemas.openxmlformats.org/officeDocument/2006/math">
                      <m:oMath>
                        <m:sSub>
                          <m:sSubPr>
                            <m:ctrlPr>
                              <a:rPr lang="en-US" sz="3200" b="0" i="1">
                                <a:solidFill>
                                  <a:schemeClr val="bg2">
                                    <a:lumMod val="10000"/>
                                  </a:schemeClr>
                                </a:solidFill>
                                <a:latin typeface="Cambria Math" panose="02040503050406030204" pitchFamily="18" charset="0"/>
                              </a:rPr>
                            </m:ctrlPr>
                          </m:sSubPr>
                          <m:e>
                            <m:r>
                              <m:rPr>
                                <m:sty m:val="p"/>
                              </m:rPr>
                              <a:rPr lang="en-US" sz="3200" b="0" i="1">
                                <a:solidFill>
                                  <a:schemeClr val="bg2">
                                    <a:lumMod val="10000"/>
                                  </a:schemeClr>
                                </a:solidFill>
                                <a:latin typeface="Cambria Math" panose="02040503050406030204" pitchFamily="18" charset="0"/>
                              </a:rPr>
                              <m:t>E</m:t>
                            </m:r>
                          </m:e>
                          <m:sub>
                            <m:r>
                              <m:rPr>
                                <m:sty m:val="p"/>
                              </m:rPr>
                              <a:rPr lang="en-US" sz="3200" b="0" i="1">
                                <a:solidFill>
                                  <a:schemeClr val="bg2">
                                    <a:lumMod val="10000"/>
                                  </a:schemeClr>
                                </a:solidFill>
                                <a:latin typeface="Cambria Math" panose="02040503050406030204" pitchFamily="18" charset="0"/>
                              </a:rPr>
                              <m:t>Beam</m:t>
                            </m:r>
                          </m:sub>
                        </m:sSub>
                        <m:r>
                          <a:rPr lang="en-US" sz="3200" b="0">
                            <a:solidFill>
                              <a:schemeClr val="bg2">
                                <a:lumMod val="10000"/>
                              </a:schemeClr>
                            </a:solidFill>
                            <a:latin typeface="Cambria Math" panose="02040503050406030204" pitchFamily="18" charset="0"/>
                          </a:rPr>
                          <m:t>=</m:t>
                        </m:r>
                        <m:r>
                          <a:rPr lang="en-US" sz="3200" b="0" i="1">
                            <a:solidFill>
                              <a:schemeClr val="bg2">
                                <a:lumMod val="10000"/>
                              </a:schemeClr>
                            </a:solidFill>
                            <a:latin typeface="Cambria Math" panose="02040503050406030204" pitchFamily="18" charset="0"/>
                          </a:rPr>
                          <m:t>5</m:t>
                        </m:r>
                        <m:r>
                          <a:rPr lang="en-US" sz="3200" b="0">
                            <a:solidFill>
                              <a:schemeClr val="bg2">
                                <a:lumMod val="10000"/>
                              </a:schemeClr>
                            </a:solidFill>
                            <a:latin typeface="Cambria Math" panose="02040503050406030204" pitchFamily="18" charset="0"/>
                          </a:rPr>
                          <m:t> </m:t>
                        </m:r>
                        <m:r>
                          <m:rPr>
                            <m:sty m:val="p"/>
                          </m:rPr>
                          <a:rPr lang="en-US" sz="3200" b="0" i="1">
                            <a:solidFill>
                              <a:schemeClr val="bg2">
                                <a:lumMod val="10000"/>
                              </a:schemeClr>
                            </a:solidFill>
                            <a:latin typeface="Cambria Math" panose="02040503050406030204" pitchFamily="18" charset="0"/>
                          </a:rPr>
                          <m:t>keV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sSub>
                          <m:sSubPr>
                            <m:ctrlPr>
                              <a:rPr lang="en-US" sz="3200" b="1" i="0" dirty="0" smtClean="0">
                                <a:solidFill>
                                  <a:schemeClr val="bg2">
                                    <a:lumMod val="10000"/>
                                  </a:schemeClr>
                                </a:solidFill>
                                <a:latin typeface="Cambria Math" panose="02040503050406030204" pitchFamily="18" charset="0"/>
                              </a:rPr>
                            </m:ctrlPr>
                          </m:sSubPr>
                          <m:e>
                            <m:r>
                              <a:rPr lang="en-US" sz="3200" b="1" i="0" dirty="0" smtClean="0">
                                <a:solidFill>
                                  <a:schemeClr val="bg2">
                                    <a:lumMod val="10000"/>
                                  </a:schemeClr>
                                </a:solidFill>
                                <a:latin typeface="Cambria Math" panose="02040503050406030204" pitchFamily="18" charset="0"/>
                              </a:rPr>
                              <m:t>𝐅</m:t>
                            </m:r>
                          </m:e>
                          <m:sub>
                            <m:r>
                              <a:rPr lang="en-US" sz="3200" b="1" i="0" dirty="0" smtClean="0">
                                <a:solidFill>
                                  <a:schemeClr val="bg2">
                                    <a:lumMod val="10000"/>
                                  </a:schemeClr>
                                </a:solidFill>
                                <a:latin typeface="Cambria Math" panose="02040503050406030204" pitchFamily="18" charset="0"/>
                              </a:rPr>
                              <m:t>𝐞</m:t>
                            </m:r>
                          </m:sub>
                        </m:sSub>
                        <m:r>
                          <a:rPr lang="en-US" sz="3200" b="1" i="0" dirty="0" smtClean="0">
                            <a:solidFill>
                              <a:schemeClr val="bg2">
                                <a:lumMod val="10000"/>
                              </a:schemeClr>
                            </a:solidFill>
                            <a:latin typeface="Cambria Math" panose="02040503050406030204" pitchFamily="18" charset="0"/>
                          </a:rPr>
                          <m:t>=</m:t>
                        </m:r>
                        <m:r>
                          <a:rPr lang="en-US" sz="3200" b="1" i="0" dirty="0" smtClean="0">
                            <a:solidFill>
                              <a:schemeClr val="bg2">
                                <a:lumMod val="10000"/>
                              </a:schemeClr>
                            </a:solidFill>
                            <a:latin typeface="Cambria Math" panose="02040503050406030204" pitchFamily="18" charset="0"/>
                          </a:rPr>
                          <m:t>𝟎</m:t>
                        </m:r>
                        <m:r>
                          <a:rPr lang="en-US" sz="3200" b="1" i="0" dirty="0" smtClean="0">
                            <a:solidFill>
                              <a:schemeClr val="bg2">
                                <a:lumMod val="10000"/>
                              </a:schemeClr>
                            </a:solidFill>
                            <a:latin typeface="Cambria Math" panose="02040503050406030204" pitchFamily="18" charset="0"/>
                          </a:rPr>
                          <m:t>.</m:t>
                        </m:r>
                        <m:r>
                          <a:rPr lang="en-US" sz="3200" b="1" i="0" dirty="0" smtClean="0">
                            <a:solidFill>
                              <a:schemeClr val="bg2">
                                <a:lumMod val="10000"/>
                              </a:schemeClr>
                            </a:solidFill>
                            <a:latin typeface="Cambria Math" panose="02040503050406030204" pitchFamily="18" charset="0"/>
                          </a:rPr>
                          <m:t>𝟏𝟎𝟒</m:t>
                        </m:r>
                        <m:r>
                          <a:rPr lang="en-US" sz="3200" b="1" i="0" dirty="0" smtClean="0">
                            <a:solidFill>
                              <a:schemeClr val="bg2">
                                <a:lumMod val="10000"/>
                              </a:schemeClr>
                            </a:solidFill>
                            <a:latin typeface="Cambria Math" panose="02040503050406030204" pitchFamily="18" charset="0"/>
                          </a:rPr>
                          <m:t> </m:t>
                        </m:r>
                        <m:r>
                          <a:rPr lang="en-US" sz="3200" b="1" i="0" dirty="0" smtClean="0">
                            <a:solidFill>
                              <a:schemeClr val="bg2">
                                <a:lumMod val="10000"/>
                              </a:schemeClr>
                            </a:solidFill>
                            <a:latin typeface="Cambria Math" panose="02040503050406030204" pitchFamily="18" charset="0"/>
                          </a:rPr>
                          <m:t>𝐦𝐍</m:t>
                        </m:r>
                      </m:oMath>
                    </m:oMathPara>
                  </a14:m>
                  <a:endParaRPr lang="en-US" sz="3200" b="1" dirty="0">
                    <a:solidFill>
                      <a:schemeClr val="bg2">
                        <a:lumMod val="10000"/>
                      </a:schemeClr>
                    </a:solidFill>
                    <a:latin typeface="Arial" panose="020B0604020202020204" pitchFamily="34" charset="0"/>
                    <a:cs typeface="Arial" panose="020B0604020202020204" pitchFamily="34" charset="0"/>
                  </a:endParaRPr>
                </a:p>
                <a:p>
                  <a:pPr algn="ctr" defTabSz="914400" eaLnBrk="0" fontAlgn="base">
                    <a:spcBef>
                      <a:spcPct val="0"/>
                    </a:spcBef>
                    <a:spcAft>
                      <a:spcPct val="0"/>
                    </a:spcAft>
                  </a:pPr>
                  <a:endParaRPr lang="en-US" sz="3200" dirty="0">
                    <a:solidFill>
                      <a:schemeClr val="bg2">
                        <a:lumMod val="10000"/>
                      </a:schemeClr>
                    </a:solidFill>
                    <a:latin typeface="Arial" panose="020B0604020202020204" pitchFamily="34" charset="0"/>
                    <a:cs typeface="Arial" panose="020B0604020202020204" pitchFamily="34" charset="0"/>
                  </a:endParaRPr>
                </a:p>
              </p:txBody>
            </p:sp>
          </mc:Choice>
          <mc:Fallback xmlns="">
            <p:sp>
              <p:nvSpPr>
                <p:cNvPr id="45" name="Rounded Rectangle 44">
                  <a:extLst>
                    <a:ext uri="{FF2B5EF4-FFF2-40B4-BE49-F238E27FC236}">
                      <a16:creationId xmlns:a16="http://schemas.microsoft.com/office/drawing/2014/main" id="{38F6F65B-8C0D-9B78-80BF-412A068C5DAF}"/>
                    </a:ext>
                  </a:extLst>
                </p:cNvPr>
                <p:cNvSpPr>
                  <a:spLocks noRot="1" noChangeAspect="1" noMove="1" noResize="1" noEditPoints="1" noAdjustHandles="1" noChangeArrowheads="1" noChangeShapeType="1" noTextEdit="1"/>
                </p:cNvSpPr>
                <p:nvPr/>
              </p:nvSpPr>
              <p:spPr>
                <a:xfrm>
                  <a:off x="31109907" y="12545340"/>
                  <a:ext cx="4253813" cy="3151859"/>
                </a:xfrm>
                <a:prstGeom prst="roundRect">
                  <a:avLst>
                    <a:gd name="adj" fmla="val 4290"/>
                  </a:avLst>
                </a:prstGeom>
                <a:blipFill>
                  <a:blip r:embed="rId5"/>
                  <a:stretch>
                    <a:fillRect/>
                  </a:stretch>
                </a:blipFill>
                <a:ln w="50800" cap="flat">
                  <a:noFill/>
                  <a:prstDash val="solid"/>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ounded Rectangle 48">
                  <a:extLst>
                    <a:ext uri="{FF2B5EF4-FFF2-40B4-BE49-F238E27FC236}">
                      <a16:creationId xmlns:a16="http://schemas.microsoft.com/office/drawing/2014/main" id="{D18431CA-018E-E555-DEAE-D671D0E29546}"/>
                    </a:ext>
                  </a:extLst>
                </p:cNvPr>
                <p:cNvSpPr/>
                <p:nvPr/>
              </p:nvSpPr>
              <p:spPr>
                <a:xfrm>
                  <a:off x="38024944" y="12545228"/>
                  <a:ext cx="4251960" cy="3151972"/>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algn="ctr"/>
                  <a:r>
                    <a:rPr lang="en-US" sz="3200" dirty="0">
                      <a:solidFill>
                        <a:schemeClr val="bg2">
                          <a:lumMod val="10000"/>
                        </a:schemeClr>
                      </a:solidFill>
                      <a:latin typeface="Arial" panose="020B0604020202020204" pitchFamily="34" charset="0"/>
                      <a:cs typeface="Arial" panose="020B0604020202020204" pitchFamily="34" charset="0"/>
                    </a:rPr>
                    <a:t>Final Parameters:</a:t>
                  </a:r>
                </a:p>
                <a:p>
                  <a:pPr algn="ctr"/>
                  <a14:m>
                    <m:oMath xmlns:m="http://schemas.openxmlformats.org/officeDocument/2006/math">
                      <m:sSub>
                        <m:sSubPr>
                          <m:ctrlPr>
                            <a:rPr lang="en-US" sz="3200" i="0" smtClean="0">
                              <a:solidFill>
                                <a:schemeClr val="bg2">
                                  <a:lumMod val="10000"/>
                                </a:schemeClr>
                              </a:solidFill>
                              <a:latin typeface="Cambria Math" panose="02040503050406030204" pitchFamily="18" charset="0"/>
                            </a:rPr>
                          </m:ctrlPr>
                        </m:sSubPr>
                        <m:e>
                          <m:r>
                            <m:rPr>
                              <m:sty m:val="p"/>
                            </m:rPr>
                            <a:rPr lang="en-US" sz="3200" i="0" smtClean="0">
                              <a:solidFill>
                                <a:schemeClr val="bg2">
                                  <a:lumMod val="10000"/>
                                </a:schemeClr>
                              </a:solidFill>
                              <a:latin typeface="Cambria Math" panose="02040503050406030204" pitchFamily="18" charset="0"/>
                            </a:rPr>
                            <m:t>ϕ</m:t>
                          </m:r>
                        </m:e>
                        <m:sub>
                          <m:r>
                            <m:rPr>
                              <m:sty m:val="p"/>
                            </m:rPr>
                            <a:rPr lang="en-US" sz="3200" i="0" smtClean="0">
                              <a:solidFill>
                                <a:schemeClr val="bg2">
                                  <a:lumMod val="10000"/>
                                </a:schemeClr>
                              </a:solidFill>
                              <a:latin typeface="Cambria Math" panose="02040503050406030204" pitchFamily="18" charset="0"/>
                            </a:rPr>
                            <m:t>T</m:t>
                          </m:r>
                        </m:sub>
                      </m:sSub>
                      <m:r>
                        <a:rPr lang="en-US" sz="3200" i="0" smtClean="0">
                          <a:solidFill>
                            <a:schemeClr val="bg2">
                              <a:lumMod val="10000"/>
                            </a:schemeClr>
                          </a:solidFill>
                          <a:latin typeface="Cambria Math" panose="02040503050406030204" pitchFamily="18" charset="0"/>
                        </a:rPr>
                        <m:t>=−3 </m:t>
                      </m:r>
                      <m:r>
                        <m:rPr>
                          <m:sty m:val="p"/>
                        </m:rPr>
                        <a:rPr lang="en-US" sz="3200" i="0" smtClean="0">
                          <a:solidFill>
                            <a:schemeClr val="bg2">
                              <a:lumMod val="10000"/>
                            </a:schemeClr>
                          </a:solidFill>
                          <a:latin typeface="Cambria Math" panose="02040503050406030204" pitchFamily="18" charset="0"/>
                        </a:rPr>
                        <m:t>kV</m:t>
                      </m:r>
                    </m:oMath>
                  </a14:m>
                  <a:r>
                    <a:rPr lang="en-US" sz="3200" dirty="0">
                      <a:solidFill>
                        <a:schemeClr val="bg2">
                          <a:lumMod val="10000"/>
                        </a:schemeClr>
                      </a:solidFill>
                      <a:latin typeface="Arial" panose="020B0604020202020204" pitchFamily="34" charset="0"/>
                      <a:cs typeface="Arial" panose="020B0604020202020204" pitchFamily="34" charset="0"/>
                    </a:rPr>
                    <a:t> </a:t>
                  </a:r>
                </a:p>
                <a:p>
                  <a:pPr algn="ctr"/>
                  <a14:m>
                    <m:oMathPara xmlns:m="http://schemas.openxmlformats.org/officeDocument/2006/math">
                      <m:oMath>
                        <m:sSub>
                          <m:sSubPr>
                            <m:ctrlPr>
                              <a:rPr lang="en-US" sz="3200" i="0" smtClean="0">
                                <a:solidFill>
                                  <a:schemeClr val="bg2">
                                    <a:lumMod val="10000"/>
                                  </a:schemeClr>
                                </a:solidFill>
                                <a:latin typeface="Cambria Math" panose="02040503050406030204" pitchFamily="18" charset="0"/>
                              </a:rPr>
                            </m:ctrlPr>
                          </m:sSubPr>
                          <m:e>
                            <m:r>
                              <m:rPr>
                                <m:sty m:val="p"/>
                              </m:rPr>
                              <a:rPr lang="en-US" sz="3200" i="0" smtClean="0">
                                <a:solidFill>
                                  <a:schemeClr val="bg2">
                                    <a:lumMod val="10000"/>
                                  </a:schemeClr>
                                </a:solidFill>
                                <a:latin typeface="Cambria Math" panose="02040503050406030204" pitchFamily="18" charset="0"/>
                              </a:rPr>
                              <m:t>ϕ</m:t>
                            </m:r>
                          </m:e>
                          <m:sub>
                            <m:r>
                              <m:rPr>
                                <m:sty m:val="p"/>
                              </m:rPr>
                              <a:rPr lang="en-US" sz="3200" i="0" smtClean="0">
                                <a:solidFill>
                                  <a:schemeClr val="bg2">
                                    <a:lumMod val="10000"/>
                                  </a:schemeClr>
                                </a:solidFill>
                                <a:latin typeface="Cambria Math" panose="02040503050406030204" pitchFamily="18" charset="0"/>
                              </a:rPr>
                              <m:t>S</m:t>
                            </m:r>
                          </m:sub>
                        </m:sSub>
                        <m:r>
                          <a:rPr lang="en-US" sz="3200" i="0" smtClean="0">
                            <a:solidFill>
                              <a:schemeClr val="bg2">
                                <a:lumMod val="10000"/>
                              </a:schemeClr>
                            </a:solidFill>
                            <a:latin typeface="Cambria Math" panose="02040503050406030204" pitchFamily="18" charset="0"/>
                          </a:rPr>
                          <m:t>=</m:t>
                        </m:r>
                        <m:r>
                          <a:rPr lang="en-US" sz="3200" b="0" i="0" smtClean="0">
                            <a:solidFill>
                              <a:schemeClr val="bg2">
                                <a:lumMod val="10000"/>
                              </a:schemeClr>
                            </a:solidFill>
                            <a:latin typeface="Cambria Math" panose="02040503050406030204" pitchFamily="18" charset="0"/>
                          </a:rPr>
                          <m:t>3.32</m:t>
                        </m:r>
                        <m:r>
                          <a:rPr lang="en-US" sz="3200" i="0" smtClean="0">
                            <a:solidFill>
                              <a:schemeClr val="bg2">
                                <a:lumMod val="10000"/>
                              </a:schemeClr>
                            </a:solidFill>
                            <a:latin typeface="Cambria Math" panose="02040503050406030204" pitchFamily="18" charset="0"/>
                          </a:rPr>
                          <m:t> </m:t>
                        </m:r>
                        <m:r>
                          <m:rPr>
                            <m:sty m:val="p"/>
                          </m:rPr>
                          <a:rPr lang="en-US" sz="3200" i="0" smtClean="0">
                            <a:solidFill>
                              <a:schemeClr val="bg2">
                                <a:lumMod val="10000"/>
                              </a:schemeClr>
                            </a:solidFill>
                            <a:latin typeface="Cambria Math" panose="02040503050406030204" pitchFamily="18" charset="0"/>
                          </a:rPr>
                          <m:t>kV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r>
                          <a:rPr lang="en-US" sz="3200" b="1" i="0" smtClean="0">
                            <a:solidFill>
                              <a:schemeClr val="bg2">
                                <a:lumMod val="10000"/>
                              </a:schemeClr>
                            </a:solidFill>
                            <a:latin typeface="Cambria Math" panose="02040503050406030204" pitchFamily="18" charset="0"/>
                          </a:rPr>
                          <m:t>∆</m:t>
                        </m:r>
                        <m:r>
                          <a:rPr lang="en-US" sz="3200" b="1" i="0" smtClean="0">
                            <a:solidFill>
                              <a:schemeClr val="bg2">
                                <a:lumMod val="10000"/>
                              </a:schemeClr>
                            </a:solidFill>
                            <a:latin typeface="Cambria Math" panose="02040503050406030204" pitchFamily="18" charset="0"/>
                          </a:rPr>
                          <m:t>𝛟</m:t>
                        </m:r>
                        <m:r>
                          <a:rPr lang="en-US" sz="3200" b="1" i="0" smtClean="0">
                            <a:solidFill>
                              <a:schemeClr val="bg2">
                                <a:lumMod val="10000"/>
                              </a:schemeClr>
                            </a:solidFill>
                            <a:latin typeface="Cambria Math" panose="02040503050406030204" pitchFamily="18" charset="0"/>
                          </a:rPr>
                          <m:t>=</m:t>
                        </m:r>
                        <m:r>
                          <a:rPr lang="en-US" sz="3200" b="1" i="0" smtClean="0">
                            <a:solidFill>
                              <a:schemeClr val="bg2">
                                <a:lumMod val="10000"/>
                              </a:schemeClr>
                            </a:solidFill>
                            <a:latin typeface="Cambria Math" panose="02040503050406030204" pitchFamily="18" charset="0"/>
                          </a:rPr>
                          <m:t>𝟔</m:t>
                        </m:r>
                        <m:r>
                          <a:rPr lang="en-US" sz="3200" b="1" i="0" smtClean="0">
                            <a:solidFill>
                              <a:schemeClr val="bg2">
                                <a:lumMod val="10000"/>
                              </a:schemeClr>
                            </a:solidFill>
                            <a:latin typeface="Cambria Math" panose="02040503050406030204" pitchFamily="18" charset="0"/>
                          </a:rPr>
                          <m:t>.</m:t>
                        </m:r>
                        <m:r>
                          <a:rPr lang="en-US" sz="3200" b="1" i="0" smtClean="0">
                            <a:solidFill>
                              <a:schemeClr val="bg2">
                                <a:lumMod val="10000"/>
                              </a:schemeClr>
                            </a:solidFill>
                            <a:latin typeface="Cambria Math" panose="02040503050406030204" pitchFamily="18" charset="0"/>
                          </a:rPr>
                          <m:t>𝟑𝟐</m:t>
                        </m:r>
                        <m:r>
                          <a:rPr lang="en-US" sz="3200" b="1" i="0" smtClean="0">
                            <a:solidFill>
                              <a:schemeClr val="bg2">
                                <a:lumMod val="10000"/>
                              </a:schemeClr>
                            </a:solidFill>
                            <a:latin typeface="Cambria Math" panose="02040503050406030204" pitchFamily="18" charset="0"/>
                          </a:rPr>
                          <m:t> </m:t>
                        </m:r>
                        <m:r>
                          <a:rPr lang="en-US" sz="3200" b="1" i="0" smtClean="0">
                            <a:solidFill>
                              <a:schemeClr val="bg2">
                                <a:lumMod val="10000"/>
                              </a:schemeClr>
                            </a:solidFill>
                            <a:latin typeface="Cambria Math" panose="02040503050406030204" pitchFamily="18" charset="0"/>
                          </a:rPr>
                          <m:t>𝐤𝐕</m:t>
                        </m:r>
                      </m:oMath>
                    </m:oMathPara>
                  </a14:m>
                  <a:endParaRPr lang="en-US" sz="3200" b="1"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sSub>
                          <m:sSubPr>
                            <m:ctrlPr>
                              <a:rPr lang="en-US" sz="3200" b="0" i="1">
                                <a:solidFill>
                                  <a:schemeClr val="bg2">
                                    <a:lumMod val="10000"/>
                                  </a:schemeClr>
                                </a:solidFill>
                                <a:latin typeface="Cambria Math" panose="02040503050406030204" pitchFamily="18" charset="0"/>
                              </a:rPr>
                            </m:ctrlPr>
                          </m:sSubPr>
                          <m:e>
                            <m:r>
                              <m:rPr>
                                <m:sty m:val="p"/>
                              </m:rPr>
                              <a:rPr lang="en-US" sz="3200" b="0" i="1">
                                <a:solidFill>
                                  <a:schemeClr val="bg2">
                                    <a:lumMod val="10000"/>
                                  </a:schemeClr>
                                </a:solidFill>
                                <a:latin typeface="Cambria Math" panose="02040503050406030204" pitchFamily="18" charset="0"/>
                              </a:rPr>
                              <m:t>E</m:t>
                            </m:r>
                          </m:e>
                          <m:sub>
                            <m:r>
                              <m:rPr>
                                <m:sty m:val="p"/>
                              </m:rPr>
                              <a:rPr lang="en-US" sz="3200" b="0" i="1">
                                <a:solidFill>
                                  <a:schemeClr val="bg2">
                                    <a:lumMod val="10000"/>
                                  </a:schemeClr>
                                </a:solidFill>
                                <a:latin typeface="Cambria Math" panose="02040503050406030204" pitchFamily="18" charset="0"/>
                              </a:rPr>
                              <m:t>Beam</m:t>
                            </m:r>
                          </m:sub>
                        </m:sSub>
                        <m:r>
                          <a:rPr lang="en-US" sz="3200" b="0">
                            <a:solidFill>
                              <a:schemeClr val="bg2">
                                <a:lumMod val="10000"/>
                              </a:schemeClr>
                            </a:solidFill>
                            <a:latin typeface="Cambria Math" panose="02040503050406030204" pitchFamily="18" charset="0"/>
                          </a:rPr>
                          <m:t>=</m:t>
                        </m:r>
                        <m:r>
                          <a:rPr lang="en-US" sz="3200" b="0" i="1">
                            <a:solidFill>
                              <a:schemeClr val="bg2">
                                <a:lumMod val="10000"/>
                              </a:schemeClr>
                            </a:solidFill>
                            <a:latin typeface="Cambria Math" panose="02040503050406030204" pitchFamily="18" charset="0"/>
                          </a:rPr>
                          <m:t>5</m:t>
                        </m:r>
                        <m:r>
                          <a:rPr lang="en-US" sz="3200" b="0">
                            <a:solidFill>
                              <a:schemeClr val="bg2">
                                <a:lumMod val="10000"/>
                              </a:schemeClr>
                            </a:solidFill>
                            <a:latin typeface="Cambria Math" panose="02040503050406030204" pitchFamily="18" charset="0"/>
                          </a:rPr>
                          <m:t> </m:t>
                        </m:r>
                        <m:r>
                          <m:rPr>
                            <m:sty m:val="p"/>
                          </m:rPr>
                          <a:rPr lang="en-US" sz="3200" b="0" i="1">
                            <a:solidFill>
                              <a:schemeClr val="bg2">
                                <a:lumMod val="10000"/>
                              </a:schemeClr>
                            </a:solidFill>
                            <a:latin typeface="Cambria Math" panose="02040503050406030204" pitchFamily="18" charset="0"/>
                          </a:rPr>
                          <m:t>keV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sSub>
                          <m:sSubPr>
                            <m:ctrlPr>
                              <a:rPr lang="en-US" sz="3200" b="1" i="0" dirty="0" smtClean="0">
                                <a:solidFill>
                                  <a:schemeClr val="bg2">
                                    <a:lumMod val="10000"/>
                                  </a:schemeClr>
                                </a:solidFill>
                                <a:latin typeface="Cambria Math" panose="02040503050406030204" pitchFamily="18" charset="0"/>
                              </a:rPr>
                            </m:ctrlPr>
                          </m:sSubPr>
                          <m:e>
                            <m:r>
                              <a:rPr lang="en-US" sz="3200" b="1" i="0" dirty="0" smtClean="0">
                                <a:solidFill>
                                  <a:schemeClr val="bg2">
                                    <a:lumMod val="10000"/>
                                  </a:schemeClr>
                                </a:solidFill>
                                <a:latin typeface="Cambria Math" panose="02040503050406030204" pitchFamily="18" charset="0"/>
                              </a:rPr>
                              <m:t>𝐅</m:t>
                            </m:r>
                          </m:e>
                          <m:sub>
                            <m:r>
                              <a:rPr lang="en-US" sz="3200" b="1" i="0" dirty="0" smtClean="0">
                                <a:solidFill>
                                  <a:schemeClr val="bg2">
                                    <a:lumMod val="10000"/>
                                  </a:schemeClr>
                                </a:solidFill>
                                <a:latin typeface="Cambria Math" panose="02040503050406030204" pitchFamily="18" charset="0"/>
                              </a:rPr>
                              <m:t>𝐞</m:t>
                            </m:r>
                          </m:sub>
                        </m:sSub>
                        <m:r>
                          <a:rPr lang="en-US" sz="3200" b="1" i="0" dirty="0" smtClean="0">
                            <a:solidFill>
                              <a:schemeClr val="bg2">
                                <a:lumMod val="10000"/>
                              </a:schemeClr>
                            </a:solidFill>
                            <a:latin typeface="Cambria Math" panose="02040503050406030204" pitchFamily="18" charset="0"/>
                          </a:rPr>
                          <m:t>=</m:t>
                        </m:r>
                        <m:r>
                          <a:rPr lang="en-US" sz="3200" b="1" i="0" dirty="0" smtClean="0">
                            <a:solidFill>
                              <a:schemeClr val="bg2">
                                <a:lumMod val="10000"/>
                              </a:schemeClr>
                            </a:solidFill>
                            <a:latin typeface="Cambria Math" panose="02040503050406030204" pitchFamily="18" charset="0"/>
                          </a:rPr>
                          <m:t>𝟎</m:t>
                        </m:r>
                        <m:r>
                          <a:rPr lang="en-US" sz="3200" b="1" i="0" dirty="0" smtClean="0">
                            <a:solidFill>
                              <a:schemeClr val="bg2">
                                <a:lumMod val="10000"/>
                              </a:schemeClr>
                            </a:solidFill>
                            <a:latin typeface="Cambria Math" panose="02040503050406030204" pitchFamily="18" charset="0"/>
                          </a:rPr>
                          <m:t>.</m:t>
                        </m:r>
                        <m:r>
                          <a:rPr lang="en-US" sz="3200" b="1" i="0" dirty="0" smtClean="0">
                            <a:solidFill>
                              <a:schemeClr val="bg2">
                                <a:lumMod val="10000"/>
                              </a:schemeClr>
                            </a:solidFill>
                            <a:latin typeface="Cambria Math" panose="02040503050406030204" pitchFamily="18" charset="0"/>
                          </a:rPr>
                          <m:t>𝟏𝟕𝟖</m:t>
                        </m:r>
                        <m:r>
                          <a:rPr lang="en-US" sz="3200" b="1" i="0" dirty="0" smtClean="0">
                            <a:solidFill>
                              <a:schemeClr val="bg2">
                                <a:lumMod val="10000"/>
                              </a:schemeClr>
                            </a:solidFill>
                            <a:latin typeface="Cambria Math" panose="02040503050406030204" pitchFamily="18" charset="0"/>
                          </a:rPr>
                          <m:t> </m:t>
                        </m:r>
                        <m:r>
                          <a:rPr lang="en-US" sz="3200" b="1" i="0" dirty="0" smtClean="0">
                            <a:solidFill>
                              <a:schemeClr val="bg2">
                                <a:lumMod val="10000"/>
                              </a:schemeClr>
                            </a:solidFill>
                            <a:latin typeface="Cambria Math" panose="02040503050406030204" pitchFamily="18" charset="0"/>
                          </a:rPr>
                          <m:t>𝐦𝐍</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p:txBody>
            </p:sp>
          </mc:Choice>
          <mc:Fallback xmlns="">
            <p:sp>
              <p:nvSpPr>
                <p:cNvPr id="49" name="Rounded Rectangle 48">
                  <a:extLst>
                    <a:ext uri="{FF2B5EF4-FFF2-40B4-BE49-F238E27FC236}">
                      <a16:creationId xmlns:a16="http://schemas.microsoft.com/office/drawing/2014/main" id="{D18431CA-018E-E555-DEAE-D671D0E29546}"/>
                    </a:ext>
                  </a:extLst>
                </p:cNvPr>
                <p:cNvSpPr>
                  <a:spLocks noRot="1" noChangeAspect="1" noMove="1" noResize="1" noEditPoints="1" noAdjustHandles="1" noChangeArrowheads="1" noChangeShapeType="1" noTextEdit="1"/>
                </p:cNvSpPr>
                <p:nvPr/>
              </p:nvSpPr>
              <p:spPr>
                <a:xfrm>
                  <a:off x="38024944" y="12545228"/>
                  <a:ext cx="4251960" cy="3151972"/>
                </a:xfrm>
                <a:prstGeom prst="roundRect">
                  <a:avLst>
                    <a:gd name="adj" fmla="val 4290"/>
                  </a:avLst>
                </a:prstGeom>
                <a:blipFill>
                  <a:blip r:embed="rId6"/>
                  <a:stretch>
                    <a:fillRect/>
                  </a:stretch>
                </a:blipFill>
                <a:ln w="50800" cap="flat">
                  <a:noFill/>
                  <a:prstDash val="solid"/>
                  <a:miter lim="400000"/>
                </a:ln>
                <a:effectLst/>
              </p:spPr>
              <p:txBody>
                <a:bodyPr/>
                <a:lstStyle/>
                <a:p>
                  <a:r>
                    <a:rPr lang="en-US">
                      <a:noFill/>
                    </a:rPr>
                    <a:t> </a:t>
                  </a:r>
                </a:p>
              </p:txBody>
            </p:sp>
          </mc:Fallback>
        </mc:AlternateContent>
        <p:sp>
          <p:nvSpPr>
            <p:cNvPr id="50" name="Right Arrow 49">
              <a:extLst>
                <a:ext uri="{FF2B5EF4-FFF2-40B4-BE49-F238E27FC236}">
                  <a16:creationId xmlns:a16="http://schemas.microsoft.com/office/drawing/2014/main" id="{3A722465-D552-5261-6A35-09542974FD14}"/>
                </a:ext>
              </a:extLst>
            </p:cNvPr>
            <p:cNvSpPr/>
            <p:nvPr/>
          </p:nvSpPr>
          <p:spPr>
            <a:xfrm>
              <a:off x="35948639" y="13496317"/>
              <a:ext cx="1542808" cy="1097280"/>
            </a:xfrm>
            <a:prstGeom prst="rightArrow">
              <a:avLst/>
            </a:prstGeom>
            <a:solidFill>
              <a:schemeClr val="bg2">
                <a:lumMod val="10000"/>
                <a:alpha val="50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ctr">
              <a:spAutoFit/>
            </a:bodyPr>
            <a:lstStyle/>
            <a:p>
              <a:pPr marL="0" marR="0" indent="0" algn="ctr" defTabSz="1975104"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chemeClr val="bg2">
                    <a:lumMod val="10000"/>
                  </a:schemeClr>
                </a:solidFill>
                <a:effectLst/>
                <a:uFillTx/>
                <a:cs typeface="+mn-cs"/>
                <a:sym typeface="Helvetica Neue Light"/>
              </a:endParaRPr>
            </a:p>
          </p:txBody>
        </p:sp>
      </p:grpSp>
      <p:sp>
        <p:nvSpPr>
          <p:cNvPr id="57" name="TextBox 56">
            <a:extLst>
              <a:ext uri="{FF2B5EF4-FFF2-40B4-BE49-F238E27FC236}">
                <a16:creationId xmlns:a16="http://schemas.microsoft.com/office/drawing/2014/main" id="{4E0D7D8B-4EB0-0A47-C87F-3012CC4B2EB3}"/>
              </a:ext>
            </a:extLst>
          </p:cNvPr>
          <p:cNvSpPr txBox="1"/>
          <p:nvPr/>
        </p:nvSpPr>
        <p:spPr>
          <a:xfrm>
            <a:off x="30262785" y="18718458"/>
            <a:ext cx="12397931" cy="1126343"/>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5600" b="1" dirty="0">
                <a:solidFill>
                  <a:schemeClr val="bg2">
                    <a:lumMod val="10000"/>
                  </a:schemeClr>
                </a:solidFill>
                <a:latin typeface="Arial" panose="020B0604020202020204" pitchFamily="34" charset="0"/>
                <a:ea typeface="+mn-ea"/>
                <a:cs typeface="Arial" panose="020B0604020202020204" pitchFamily="34" charset="0"/>
                <a:sym typeface="Helvetica Neue"/>
              </a:rPr>
              <a:t>Application</a:t>
            </a:r>
          </a:p>
        </p:txBody>
      </p:sp>
      <p:sp>
        <p:nvSpPr>
          <p:cNvPr id="63" name="Rounded Rectangle 62">
            <a:extLst>
              <a:ext uri="{FF2B5EF4-FFF2-40B4-BE49-F238E27FC236}">
                <a16:creationId xmlns:a16="http://schemas.microsoft.com/office/drawing/2014/main" id="{3225A5E2-E058-F36B-68CD-0FAB8C4FFCEC}"/>
              </a:ext>
            </a:extLst>
          </p:cNvPr>
          <p:cNvSpPr/>
          <p:nvPr/>
        </p:nvSpPr>
        <p:spPr>
          <a:xfrm>
            <a:off x="29832351" y="29927989"/>
            <a:ext cx="13258800" cy="2321735"/>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r>
              <a:rPr lang="en-US" sz="3200" dirty="0">
                <a:solidFill>
                  <a:schemeClr val="bg2">
                    <a:lumMod val="10000"/>
                  </a:schemeClr>
                </a:solidFill>
                <a:latin typeface="Arial" panose="020B0604020202020204" pitchFamily="34" charset="0"/>
                <a:cs typeface="Arial" panose="020B0604020202020204" pitchFamily="34" charset="0"/>
              </a:rPr>
              <a:t>To model supercharging in a realistic scenario, equilibrium is first achieved using a 15 keV beam. The beam energy is then reduced to 5 keV. Despite lowering the beam power to one-third of the original, 96.3% of the initial force is maintained thanks to supercharging.</a:t>
            </a:r>
          </a:p>
        </p:txBody>
      </p:sp>
      <p:sp>
        <p:nvSpPr>
          <p:cNvPr id="101" name="TextBox 100">
            <a:extLst>
              <a:ext uri="{FF2B5EF4-FFF2-40B4-BE49-F238E27FC236}">
                <a16:creationId xmlns:a16="http://schemas.microsoft.com/office/drawing/2014/main" id="{6237EDD4-6085-1DC4-031B-C90C6F6D8CFA}"/>
              </a:ext>
            </a:extLst>
          </p:cNvPr>
          <p:cNvSpPr txBox="1"/>
          <p:nvPr/>
        </p:nvSpPr>
        <p:spPr>
          <a:xfrm>
            <a:off x="44413714" y="1306286"/>
            <a:ext cx="0" cy="0"/>
          </a:xfrm>
          <a:prstGeom prst="rect">
            <a:avLst/>
          </a:prstGeom>
          <a:solidFill>
            <a:schemeClr val="bg1">
              <a:lumMod val="95000"/>
            </a:schemeClr>
          </a:solidFill>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19456" tIns="219456" rIns="219456" bIns="219456" rtlCol="0" anchor="t">
            <a:noAutofit/>
          </a:bodyPr>
          <a:lstStyle/>
          <a:p>
            <a:pPr algn="ctr"/>
            <a:endParaRPr lang="en-US" sz="5600" b="1">
              <a:solidFill>
                <a:srgbClr val="000000"/>
              </a:solidFill>
              <a:latin typeface="Helvetica Neue"/>
              <a:ea typeface="+mn-ea"/>
              <a:cs typeface="+mn-cs"/>
              <a:sym typeface="Helvetica Neue"/>
            </a:endParaRPr>
          </a:p>
        </p:txBody>
      </p:sp>
      <p:sp>
        <p:nvSpPr>
          <p:cNvPr id="93" name="Rectangle 92">
            <a:extLst>
              <a:ext uri="{FF2B5EF4-FFF2-40B4-BE49-F238E27FC236}">
                <a16:creationId xmlns:a16="http://schemas.microsoft.com/office/drawing/2014/main" id="{07F82EA2-1AC8-7677-65FF-A9B4265A83E2}"/>
              </a:ext>
            </a:extLst>
          </p:cNvPr>
          <p:cNvSpPr/>
          <p:nvPr/>
        </p:nvSpPr>
        <p:spPr>
          <a:xfrm>
            <a:off x="14843435" y="5403425"/>
            <a:ext cx="14173200" cy="27249120"/>
          </a:xfrm>
          <a:prstGeom prst="rect">
            <a:avLst/>
          </a:prstGeom>
          <a:solidFill>
            <a:schemeClr val="bg1">
              <a:lumMod val="75000"/>
              <a:alpha val="50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ctr">
            <a:spAutoFit/>
          </a:bodyPr>
          <a:lstStyle/>
          <a:p>
            <a:pPr marL="0" marR="0" indent="0" algn="ctr" defTabSz="1975104"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chemeClr val="bg2">
                  <a:lumMod val="10000"/>
                </a:schemeClr>
              </a:solidFill>
              <a:effectLst/>
              <a:uFillTx/>
              <a:cs typeface="+mn-cs"/>
              <a:sym typeface="Helvetica Neue Light"/>
            </a:endParaRPr>
          </a:p>
        </p:txBody>
      </p:sp>
      <p:grpSp>
        <p:nvGrpSpPr>
          <p:cNvPr id="99" name="Group 98">
            <a:extLst>
              <a:ext uri="{FF2B5EF4-FFF2-40B4-BE49-F238E27FC236}">
                <a16:creationId xmlns:a16="http://schemas.microsoft.com/office/drawing/2014/main" id="{DE282621-2CB4-0A35-2E41-3AA6B733B92D}"/>
              </a:ext>
            </a:extLst>
          </p:cNvPr>
          <p:cNvGrpSpPr/>
          <p:nvPr/>
        </p:nvGrpSpPr>
        <p:grpSpPr>
          <a:xfrm>
            <a:off x="15218510" y="6741547"/>
            <a:ext cx="13423050" cy="5671043"/>
            <a:chOff x="16413939" y="11918505"/>
            <a:chExt cx="13667141" cy="5671043"/>
          </a:xfrm>
        </p:grpSpPr>
        <p:pic>
          <p:nvPicPr>
            <p:cNvPr id="41" name="Picture 40">
              <a:extLst>
                <a:ext uri="{FF2B5EF4-FFF2-40B4-BE49-F238E27FC236}">
                  <a16:creationId xmlns:a16="http://schemas.microsoft.com/office/drawing/2014/main" id="{61DC3CEC-50F1-014A-A858-53C44C5B4D07}"/>
                </a:ext>
              </a:extLst>
            </p:cNvPr>
            <p:cNvPicPr>
              <a:picLocks noChangeAspect="1"/>
            </p:cNvPicPr>
            <p:nvPr/>
          </p:nvPicPr>
          <p:blipFill>
            <a:blip r:embed="rId7"/>
            <a:stretch>
              <a:fillRect/>
            </a:stretch>
          </p:blipFill>
          <p:spPr>
            <a:xfrm>
              <a:off x="23598665" y="12374119"/>
              <a:ext cx="6482415" cy="4759814"/>
            </a:xfrm>
            <a:prstGeom prst="roundRect">
              <a:avLst/>
            </a:prstGeom>
          </p:spPr>
        </p:pic>
        <p:sp>
          <p:nvSpPr>
            <p:cNvPr id="42" name="Rounded Rectangle 41">
              <a:extLst>
                <a:ext uri="{FF2B5EF4-FFF2-40B4-BE49-F238E27FC236}">
                  <a16:creationId xmlns:a16="http://schemas.microsoft.com/office/drawing/2014/main" id="{1BBB14A4-24F7-AD00-23E1-69060A45C23F}"/>
                </a:ext>
              </a:extLst>
            </p:cNvPr>
            <p:cNvSpPr/>
            <p:nvPr/>
          </p:nvSpPr>
          <p:spPr>
            <a:xfrm>
              <a:off x="16413939" y="11918505"/>
              <a:ext cx="6992275" cy="5671043"/>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r>
                <a:rPr lang="en-US" sz="3200" dirty="0">
                  <a:solidFill>
                    <a:schemeClr val="tx1"/>
                  </a:solidFill>
                  <a:latin typeface="Arial" panose="020B0604020202020204" pitchFamily="34" charset="0"/>
                  <a:cs typeface="Arial" panose="020B0604020202020204" pitchFamily="34" charset="0"/>
                </a:rPr>
                <a:t>SPIS was the main analytical tool used in this research. It is a powerful plasma interaction solver that enables the ability to model realistic spacecraft geometries and plasma interactions. This enabled the ability to characterize plasma wakes in the magnetosheath which then led to full scale modeling of supercharging in a realistic environment.</a:t>
              </a:r>
            </a:p>
          </p:txBody>
        </p:sp>
      </p:grpSp>
      <p:grpSp>
        <p:nvGrpSpPr>
          <p:cNvPr id="34" name="Group 33">
            <a:extLst>
              <a:ext uri="{FF2B5EF4-FFF2-40B4-BE49-F238E27FC236}">
                <a16:creationId xmlns:a16="http://schemas.microsoft.com/office/drawing/2014/main" id="{5CC8C4EA-50AA-E1C8-7DD4-6899306349DF}"/>
              </a:ext>
            </a:extLst>
          </p:cNvPr>
          <p:cNvGrpSpPr/>
          <p:nvPr/>
        </p:nvGrpSpPr>
        <p:grpSpPr>
          <a:xfrm>
            <a:off x="674915" y="27775225"/>
            <a:ext cx="13258800" cy="4488203"/>
            <a:chOff x="15386662" y="27947489"/>
            <a:chExt cx="13258800" cy="4488203"/>
          </a:xfrm>
        </p:grpSpPr>
        <p:sp>
          <p:nvSpPr>
            <p:cNvPr id="16" name="TextBox 15">
              <a:extLst>
                <a:ext uri="{FF2B5EF4-FFF2-40B4-BE49-F238E27FC236}">
                  <a16:creationId xmlns:a16="http://schemas.microsoft.com/office/drawing/2014/main" id="{AA77B347-FCA4-1913-9AA6-073C7376B985}"/>
                </a:ext>
              </a:extLst>
            </p:cNvPr>
            <p:cNvSpPr txBox="1"/>
            <p:nvPr/>
          </p:nvSpPr>
          <p:spPr>
            <a:xfrm>
              <a:off x="16592480" y="27947489"/>
              <a:ext cx="10847164" cy="1126343"/>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5600" b="1" dirty="0">
                  <a:solidFill>
                    <a:schemeClr val="bg2">
                      <a:lumMod val="10000"/>
                    </a:schemeClr>
                  </a:solidFill>
                  <a:latin typeface="Arial" panose="020B0604020202020204" pitchFamily="34" charset="0"/>
                  <a:ea typeface="+mn-ea"/>
                  <a:cs typeface="Arial" panose="020B0604020202020204" pitchFamily="34" charset="0"/>
                  <a:sym typeface="Helvetica Neue"/>
                </a:rPr>
                <a:t>Future Work</a:t>
              </a:r>
            </a:p>
          </p:txBody>
        </p:sp>
        <p:sp>
          <p:nvSpPr>
            <p:cNvPr id="75" name="Rounded Rectangle 74">
              <a:extLst>
                <a:ext uri="{FF2B5EF4-FFF2-40B4-BE49-F238E27FC236}">
                  <a16:creationId xmlns:a16="http://schemas.microsoft.com/office/drawing/2014/main" id="{06325AFC-F7F1-17F8-F377-F554330817F6}"/>
                </a:ext>
              </a:extLst>
            </p:cNvPr>
            <p:cNvSpPr/>
            <p:nvPr/>
          </p:nvSpPr>
          <p:spPr>
            <a:xfrm>
              <a:off x="15386662" y="29086123"/>
              <a:ext cx="13258800" cy="3349569"/>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marL="457200" indent="-457200">
                <a:buFont typeface="Arial" panose="020B0604020202020204" pitchFamily="34" charset="0"/>
                <a:buChar char="•"/>
              </a:pPr>
              <a:r>
                <a:rPr lang="en-US" sz="3200" dirty="0">
                  <a:solidFill>
                    <a:schemeClr val="tx1"/>
                  </a:solidFill>
                  <a:latin typeface="Arial" panose="020B0604020202020204" pitchFamily="34" charset="0"/>
                  <a:cs typeface="Arial" panose="020B0604020202020204" pitchFamily="34" charset="0"/>
                </a:rPr>
                <a:t>Apply supercharging concepts to more realistic geometries</a:t>
              </a:r>
            </a:p>
            <a:p>
              <a:endParaRPr lang="en-US" sz="3200" dirty="0">
                <a:solidFill>
                  <a:schemeClr val="tx1"/>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a:solidFill>
                    <a:schemeClr val="tx1"/>
                  </a:solidFill>
                  <a:latin typeface="Arial" panose="020B0604020202020204" pitchFamily="34" charset="0"/>
                  <a:cs typeface="Arial" panose="020B0604020202020204" pitchFamily="34" charset="0"/>
                </a:rPr>
                <a:t>Optimize beam width, separation distance and beam energy and current </a:t>
              </a:r>
            </a:p>
            <a:p>
              <a:endParaRPr lang="en-US" sz="3200" dirty="0">
                <a:solidFill>
                  <a:schemeClr val="tx1"/>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a:solidFill>
                    <a:schemeClr val="tx1"/>
                  </a:solidFill>
                  <a:latin typeface="Arial" panose="020B0604020202020204" pitchFamily="34" charset="0"/>
                  <a:cs typeface="Arial" panose="020B0604020202020204" pitchFamily="34" charset="0"/>
                </a:rPr>
                <a:t>Explore uses in active charge control or attitude control</a:t>
              </a:r>
            </a:p>
            <a:p>
              <a:pPr marL="457200" indent="-457200" algn="ctr">
                <a:buFont typeface="Arial" panose="020B0604020202020204" pitchFamily="34" charset="0"/>
                <a:buChar char="•"/>
              </a:pPr>
              <a:endParaRPr lang="en-US" sz="3200" dirty="0">
                <a:solidFill>
                  <a:schemeClr val="tx1"/>
                </a:solidFill>
                <a:latin typeface="Arial" panose="020B0604020202020204" pitchFamily="34" charset="0"/>
                <a:cs typeface="Arial" panose="020B0604020202020204" pitchFamily="34" charset="0"/>
              </a:endParaRPr>
            </a:p>
          </p:txBody>
        </p:sp>
      </p:grpSp>
      <p:grpSp>
        <p:nvGrpSpPr>
          <p:cNvPr id="44" name="Group 43">
            <a:extLst>
              <a:ext uri="{FF2B5EF4-FFF2-40B4-BE49-F238E27FC236}">
                <a16:creationId xmlns:a16="http://schemas.microsoft.com/office/drawing/2014/main" id="{31779CC7-3FBB-329A-CCE0-CF529FDFD21A}"/>
              </a:ext>
            </a:extLst>
          </p:cNvPr>
          <p:cNvGrpSpPr/>
          <p:nvPr/>
        </p:nvGrpSpPr>
        <p:grpSpPr>
          <a:xfrm>
            <a:off x="15170281" y="13178220"/>
            <a:ext cx="13519509" cy="9211638"/>
            <a:chOff x="15015029" y="18855127"/>
            <a:chExt cx="13519509" cy="9211638"/>
          </a:xfrm>
        </p:grpSpPr>
        <p:grpSp>
          <p:nvGrpSpPr>
            <p:cNvPr id="30" name="Group 29">
              <a:extLst>
                <a:ext uri="{FF2B5EF4-FFF2-40B4-BE49-F238E27FC236}">
                  <a16:creationId xmlns:a16="http://schemas.microsoft.com/office/drawing/2014/main" id="{92807932-048C-AACA-06D6-3866E97A789A}"/>
                </a:ext>
              </a:extLst>
            </p:cNvPr>
            <p:cNvGrpSpPr/>
            <p:nvPr/>
          </p:nvGrpSpPr>
          <p:grpSpPr>
            <a:xfrm>
              <a:off x="15275738" y="18855127"/>
              <a:ext cx="13258800" cy="9211638"/>
              <a:chOff x="15275738" y="18855127"/>
              <a:chExt cx="13258800" cy="9211638"/>
            </a:xfrm>
          </p:grpSpPr>
          <p:grpSp>
            <p:nvGrpSpPr>
              <p:cNvPr id="78" name="Group 77">
                <a:extLst>
                  <a:ext uri="{FF2B5EF4-FFF2-40B4-BE49-F238E27FC236}">
                    <a16:creationId xmlns:a16="http://schemas.microsoft.com/office/drawing/2014/main" id="{F2DD2DEA-18E7-FBA7-C0A5-8AE9E2F0BD9F}"/>
                  </a:ext>
                </a:extLst>
              </p:cNvPr>
              <p:cNvGrpSpPr/>
              <p:nvPr/>
            </p:nvGrpSpPr>
            <p:grpSpPr>
              <a:xfrm>
                <a:off x="15275738" y="18855127"/>
                <a:ext cx="13258800" cy="8389571"/>
                <a:chOff x="12356031" y="2856580"/>
                <a:chExt cx="11913199" cy="8389571"/>
              </a:xfrm>
            </p:grpSpPr>
            <p:pic>
              <p:nvPicPr>
                <p:cNvPr id="79" name="Picture 78" descr="A screen shot of a computer&#10;&#10;AI-generated content may be incorrect.">
                  <a:extLst>
                    <a:ext uri="{FF2B5EF4-FFF2-40B4-BE49-F238E27FC236}">
                      <a16:creationId xmlns:a16="http://schemas.microsoft.com/office/drawing/2014/main" id="{9DC0FF9D-3F93-CBD4-63D8-8279CE552516}"/>
                    </a:ext>
                  </a:extLst>
                </p:cNvPr>
                <p:cNvPicPr>
                  <a:picLocks noChangeAspect="1"/>
                </p:cNvPicPr>
                <p:nvPr/>
              </p:nvPicPr>
              <p:blipFill>
                <a:blip r:embed="rId8"/>
                <a:stretch>
                  <a:fillRect/>
                </a:stretch>
              </p:blipFill>
              <p:spPr>
                <a:xfrm>
                  <a:off x="12356031" y="3655027"/>
                  <a:ext cx="3839969" cy="3070071"/>
                </a:xfrm>
                <a:prstGeom prst="rect">
                  <a:avLst/>
                </a:prstGeom>
              </p:spPr>
            </p:pic>
            <p:sp>
              <p:nvSpPr>
                <p:cNvPr id="80" name="TextBox 79">
                  <a:extLst>
                    <a:ext uri="{FF2B5EF4-FFF2-40B4-BE49-F238E27FC236}">
                      <a16:creationId xmlns:a16="http://schemas.microsoft.com/office/drawing/2014/main" id="{D13A0B88-D006-530E-82E4-837199BEBEF9}"/>
                    </a:ext>
                  </a:extLst>
                </p:cNvPr>
                <p:cNvSpPr txBox="1"/>
                <p:nvPr/>
              </p:nvSpPr>
              <p:spPr>
                <a:xfrm>
                  <a:off x="13242705" y="6710021"/>
                  <a:ext cx="2107985" cy="677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fromWordArt="0" anchor="ctr" anchorCtr="0" forceAA="0" compatLnSpc="1">
                  <a:prstTxWarp prst="textNoShape">
                    <a:avLst/>
                  </a:prstTxWarp>
                  <a:spAutoFit/>
                </a:bodyPr>
                <a:lstStyle/>
                <a:p>
                  <a:r>
                    <a:rPr lang="en-US" sz="3200">
                      <a:solidFill>
                        <a:schemeClr val="bg2">
                          <a:lumMod val="10000"/>
                        </a:schemeClr>
                      </a:solidFill>
                      <a:latin typeface="Arial" panose="020B0604020202020204" pitchFamily="34" charset="0"/>
                      <a:cs typeface="Arial" panose="020B0604020202020204" pitchFamily="34" charset="0"/>
                    </a:rPr>
                    <a:t>0 V Target</a:t>
                  </a:r>
                </a:p>
              </p:txBody>
            </p:sp>
            <p:sp>
              <p:nvSpPr>
                <p:cNvPr id="81" name="TextBox 80">
                  <a:extLst>
                    <a:ext uri="{FF2B5EF4-FFF2-40B4-BE49-F238E27FC236}">
                      <a16:creationId xmlns:a16="http://schemas.microsoft.com/office/drawing/2014/main" id="{06689F89-9E04-C200-08C5-FE8A518E4A7C}"/>
                    </a:ext>
                  </a:extLst>
                </p:cNvPr>
                <p:cNvSpPr txBox="1"/>
                <p:nvPr/>
              </p:nvSpPr>
              <p:spPr>
                <a:xfrm>
                  <a:off x="17082330" y="6730782"/>
                  <a:ext cx="2379917" cy="677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fromWordArt="0" anchor="ctr" anchorCtr="0" forceAA="0" compatLnSpc="1">
                  <a:prstTxWarp prst="textNoShape">
                    <a:avLst/>
                  </a:prstTxWarp>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3200">
                      <a:solidFill>
                        <a:schemeClr val="bg2">
                          <a:lumMod val="10000"/>
                        </a:schemeClr>
                      </a:solidFill>
                    </a:defRPr>
                  </a:lvl1pPr>
                </a:lstStyle>
                <a:p>
                  <a:r>
                    <a:rPr lang="en-US">
                      <a:latin typeface="Arial" panose="020B0604020202020204" pitchFamily="34" charset="0"/>
                      <a:cs typeface="Arial" panose="020B0604020202020204" pitchFamily="34" charset="0"/>
                    </a:rPr>
                    <a:t>-5 kV Target</a:t>
                  </a:r>
                </a:p>
              </p:txBody>
            </p:sp>
            <p:sp>
              <p:nvSpPr>
                <p:cNvPr id="82" name="TextBox 81">
                  <a:extLst>
                    <a:ext uri="{FF2B5EF4-FFF2-40B4-BE49-F238E27FC236}">
                      <a16:creationId xmlns:a16="http://schemas.microsoft.com/office/drawing/2014/main" id="{C152BF86-59FA-6BB4-7D65-734482565A28}"/>
                    </a:ext>
                  </a:extLst>
                </p:cNvPr>
                <p:cNvSpPr txBox="1"/>
                <p:nvPr/>
              </p:nvSpPr>
              <p:spPr>
                <a:xfrm>
                  <a:off x="20995645" y="6736788"/>
                  <a:ext cx="2660226" cy="677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fromWordArt="0" anchor="ctr" anchorCtr="0" forceAA="0" compatLnSpc="1">
                  <a:prstTxWarp prst="textNoShape">
                    <a:avLst/>
                  </a:prstTxWarp>
                  <a:spAutoFit/>
                </a:bodyPr>
                <a:lstStyle/>
                <a:p>
                  <a:r>
                    <a:rPr lang="en-US" sz="3200">
                      <a:solidFill>
                        <a:schemeClr val="bg2">
                          <a:lumMod val="10000"/>
                        </a:schemeClr>
                      </a:solidFill>
                      <a:latin typeface="Arial" panose="020B0604020202020204" pitchFamily="34" charset="0"/>
                      <a:cs typeface="Arial" panose="020B0604020202020204" pitchFamily="34" charset="0"/>
                    </a:rPr>
                    <a:t>-10 kV Target</a:t>
                  </a:r>
                </a:p>
              </p:txBody>
            </p:sp>
            <p:sp>
              <p:nvSpPr>
                <p:cNvPr id="83" name="TextBox 82">
                  <a:extLst>
                    <a:ext uri="{FF2B5EF4-FFF2-40B4-BE49-F238E27FC236}">
                      <a16:creationId xmlns:a16="http://schemas.microsoft.com/office/drawing/2014/main" id="{8AAE2B8D-9242-887A-BF1B-D837F489A58D}"/>
                    </a:ext>
                  </a:extLst>
                </p:cNvPr>
                <p:cNvSpPr txBox="1"/>
                <p:nvPr/>
              </p:nvSpPr>
              <p:spPr>
                <a:xfrm>
                  <a:off x="14773626" y="10569045"/>
                  <a:ext cx="2589057" cy="677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fromWordArt="0" anchor="ctr" anchorCtr="0" forceAA="0" compatLnSpc="1">
                  <a:prstTxWarp prst="textNoShape">
                    <a:avLst/>
                  </a:prstTxWarp>
                  <a:spAutoFit/>
                </a:bodyPr>
                <a:lstStyle/>
                <a:p>
                  <a:r>
                    <a:rPr lang="en-US" sz="3200">
                      <a:solidFill>
                        <a:schemeClr val="bg2">
                          <a:lumMod val="10000"/>
                        </a:schemeClr>
                      </a:solidFill>
                      <a:latin typeface="Arial" panose="020B0604020202020204" pitchFamily="34" charset="0"/>
                      <a:cs typeface="Arial" panose="020B0604020202020204" pitchFamily="34" charset="0"/>
                    </a:rPr>
                    <a:t>-15 kV Target</a:t>
                  </a:r>
                </a:p>
              </p:txBody>
            </p:sp>
            <p:sp>
              <p:nvSpPr>
                <p:cNvPr id="84" name="TextBox 83">
                  <a:extLst>
                    <a:ext uri="{FF2B5EF4-FFF2-40B4-BE49-F238E27FC236}">
                      <a16:creationId xmlns:a16="http://schemas.microsoft.com/office/drawing/2014/main" id="{607FECBD-239E-7AA3-FCC0-D7A5994E0A37}"/>
                    </a:ext>
                  </a:extLst>
                </p:cNvPr>
                <p:cNvSpPr txBox="1"/>
                <p:nvPr/>
              </p:nvSpPr>
              <p:spPr>
                <a:xfrm>
                  <a:off x="19008198" y="10569045"/>
                  <a:ext cx="2589057" cy="677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fromWordArt="0" anchor="ctr" anchorCtr="0" forceAA="0" compatLnSpc="1">
                  <a:prstTxWarp prst="textNoShape">
                    <a:avLst/>
                  </a:prstTxWarp>
                  <a:spAutoFit/>
                </a:bodyPr>
                <a:lstStyle/>
                <a:p>
                  <a:r>
                    <a:rPr lang="en-US" sz="3200">
                      <a:solidFill>
                        <a:schemeClr val="bg2">
                          <a:lumMod val="10000"/>
                        </a:schemeClr>
                      </a:solidFill>
                      <a:latin typeface="Arial" panose="020B0604020202020204" pitchFamily="34" charset="0"/>
                      <a:cs typeface="Arial" panose="020B0604020202020204" pitchFamily="34" charset="0"/>
                    </a:rPr>
                    <a:t>-20 kV Target</a:t>
                  </a:r>
                </a:p>
              </p:txBody>
            </p:sp>
            <p:pic>
              <p:nvPicPr>
                <p:cNvPr id="85" name="Picture 84" descr="A colorful image of a cloud&#10;&#10;AI-generated content may be incorrect.">
                  <a:extLst>
                    <a:ext uri="{FF2B5EF4-FFF2-40B4-BE49-F238E27FC236}">
                      <a16:creationId xmlns:a16="http://schemas.microsoft.com/office/drawing/2014/main" id="{6217E265-95EE-1059-6718-5EFCAED8BCD1}"/>
                    </a:ext>
                  </a:extLst>
                </p:cNvPr>
                <p:cNvPicPr>
                  <a:picLocks noChangeAspect="1"/>
                </p:cNvPicPr>
                <p:nvPr/>
              </p:nvPicPr>
              <p:blipFill>
                <a:blip r:embed="rId9"/>
                <a:stretch>
                  <a:fillRect/>
                </a:stretch>
              </p:blipFill>
              <p:spPr>
                <a:xfrm>
                  <a:off x="16405830" y="3655073"/>
                  <a:ext cx="3824520" cy="3070652"/>
                </a:xfrm>
                <a:prstGeom prst="rect">
                  <a:avLst/>
                </a:prstGeom>
              </p:spPr>
            </p:pic>
            <p:pic>
              <p:nvPicPr>
                <p:cNvPr id="86" name="Picture 85" descr="A screenshot of a computer&#10;&#10;AI-generated content may be incorrect.">
                  <a:extLst>
                    <a:ext uri="{FF2B5EF4-FFF2-40B4-BE49-F238E27FC236}">
                      <a16:creationId xmlns:a16="http://schemas.microsoft.com/office/drawing/2014/main" id="{47042673-AFB2-80DC-4312-384DB278239B}"/>
                    </a:ext>
                  </a:extLst>
                </p:cNvPr>
                <p:cNvPicPr>
                  <a:picLocks noChangeAspect="1"/>
                </p:cNvPicPr>
                <p:nvPr/>
              </p:nvPicPr>
              <p:blipFill>
                <a:blip r:embed="rId10"/>
                <a:stretch>
                  <a:fillRect/>
                </a:stretch>
              </p:blipFill>
              <p:spPr>
                <a:xfrm>
                  <a:off x="14143873" y="7474532"/>
                  <a:ext cx="3848565" cy="3098646"/>
                </a:xfrm>
                <a:prstGeom prst="rect">
                  <a:avLst/>
                </a:prstGeom>
              </p:spPr>
            </p:pic>
            <p:pic>
              <p:nvPicPr>
                <p:cNvPr id="87" name="Picture 86" descr="A screenshot of a computer&#10;&#10;AI-generated content may be incorrect.">
                  <a:extLst>
                    <a:ext uri="{FF2B5EF4-FFF2-40B4-BE49-F238E27FC236}">
                      <a16:creationId xmlns:a16="http://schemas.microsoft.com/office/drawing/2014/main" id="{2C3C1E96-21CC-DA8F-42F8-A017D7FA6A4A}"/>
                    </a:ext>
                  </a:extLst>
                </p:cNvPr>
                <p:cNvPicPr>
                  <a:picLocks noChangeAspect="1"/>
                </p:cNvPicPr>
                <p:nvPr/>
              </p:nvPicPr>
              <p:blipFill>
                <a:blip r:embed="rId11"/>
                <a:stretch>
                  <a:fillRect/>
                </a:stretch>
              </p:blipFill>
              <p:spPr>
                <a:xfrm>
                  <a:off x="20440180" y="3670202"/>
                  <a:ext cx="3829050" cy="3066586"/>
                </a:xfrm>
                <a:prstGeom prst="rect">
                  <a:avLst/>
                </a:prstGeom>
              </p:spPr>
            </p:pic>
            <p:pic>
              <p:nvPicPr>
                <p:cNvPr id="88" name="Picture 87" descr="A screen shot of a computer generated image&#10;&#10;AI-generated content may be incorrect.">
                  <a:extLst>
                    <a:ext uri="{FF2B5EF4-FFF2-40B4-BE49-F238E27FC236}">
                      <a16:creationId xmlns:a16="http://schemas.microsoft.com/office/drawing/2014/main" id="{D1CA18A7-42F9-B573-9574-CB4DF03DBE5C}"/>
                    </a:ext>
                  </a:extLst>
                </p:cNvPr>
                <p:cNvPicPr>
                  <a:picLocks noChangeAspect="1"/>
                </p:cNvPicPr>
                <p:nvPr/>
              </p:nvPicPr>
              <p:blipFill>
                <a:blip r:embed="rId12"/>
                <a:stretch>
                  <a:fillRect/>
                </a:stretch>
              </p:blipFill>
              <p:spPr>
                <a:xfrm>
                  <a:off x="18272289" y="7489450"/>
                  <a:ext cx="4053469" cy="3079595"/>
                </a:xfrm>
                <a:prstGeom prst="rect">
                  <a:avLst/>
                </a:prstGeom>
              </p:spPr>
            </p:pic>
            <p:sp>
              <p:nvSpPr>
                <p:cNvPr id="89" name="TextBox 88">
                  <a:extLst>
                    <a:ext uri="{FF2B5EF4-FFF2-40B4-BE49-F238E27FC236}">
                      <a16:creationId xmlns:a16="http://schemas.microsoft.com/office/drawing/2014/main" id="{2CE44753-F718-AAB5-D685-4DBAF8CDEAE9}"/>
                    </a:ext>
                  </a:extLst>
                </p:cNvPr>
                <p:cNvSpPr txBox="1"/>
                <p:nvPr/>
              </p:nvSpPr>
              <p:spPr>
                <a:xfrm>
                  <a:off x="14296698" y="2856580"/>
                  <a:ext cx="8415901" cy="7694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400" b="1" dirty="0">
                      <a:solidFill>
                        <a:schemeClr val="bg2">
                          <a:lumMod val="10000"/>
                        </a:schemeClr>
                      </a:solidFill>
                      <a:latin typeface="Arial" panose="020B0604020202020204" pitchFamily="34" charset="0"/>
                      <a:ea typeface="+mn-ea"/>
                      <a:cs typeface="Arial" panose="020B0604020202020204" pitchFamily="34" charset="0"/>
                    </a:rPr>
                    <a:t>10 kV Servicer, 4m Separation</a:t>
                  </a:r>
                </a:p>
              </p:txBody>
            </p:sp>
          </p:grpSp>
          <mc:AlternateContent xmlns:mc="http://schemas.openxmlformats.org/markup-compatibility/2006" xmlns:a14="http://schemas.microsoft.com/office/drawing/2010/main">
            <mc:Choice Requires="a14">
              <p:sp>
                <p:nvSpPr>
                  <p:cNvPr id="9" name="Rounded Rectangle 42">
                    <a:extLst>
                      <a:ext uri="{FF2B5EF4-FFF2-40B4-BE49-F238E27FC236}">
                        <a16:creationId xmlns:a16="http://schemas.microsoft.com/office/drawing/2014/main" id="{97F760AF-73E3-0467-8C23-5A48F1800534}"/>
                      </a:ext>
                    </a:extLst>
                  </p:cNvPr>
                  <p:cNvSpPr/>
                  <p:nvPr/>
                </p:nvSpPr>
                <p:spPr>
                  <a:xfrm>
                    <a:off x="15275738" y="27209467"/>
                    <a:ext cx="13258800" cy="857298"/>
                  </a:xfrm>
                  <a:prstGeom prst="roundRect">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algn="ctr"/>
                    <a:r>
                      <a:rPr lang="en-US" sz="3200" dirty="0">
                        <a:solidFill>
                          <a:schemeClr val="bg2">
                            <a:lumMod val="10000"/>
                          </a:schemeClr>
                        </a:solidFill>
                        <a:latin typeface="Arial" panose="020B0604020202020204" pitchFamily="34" charset="0"/>
                        <a:cs typeface="Arial" panose="020B0604020202020204" pitchFamily="34" charset="0"/>
                        <a:sym typeface="Helvetica Neue"/>
                      </a:rPr>
                      <a:t>Spacecraft Wake Characterization in SPIS (</a:t>
                    </a:r>
                    <a14:m>
                      <m:oMath xmlns:m="http://schemas.openxmlformats.org/officeDocument/2006/math">
                        <m:r>
                          <m:rPr>
                            <m:sty m:val="p"/>
                          </m:rPr>
                          <a:rPr lang="en-US" sz="3200" b="0" i="0" smtClean="0">
                            <a:solidFill>
                              <a:schemeClr val="bg2">
                                <a:lumMod val="10000"/>
                              </a:schemeClr>
                            </a:solidFill>
                            <a:latin typeface="Cambria Math" panose="02040503050406030204" pitchFamily="18" charset="0"/>
                            <a:cs typeface="Arial" panose="020B0604020202020204" pitchFamily="34" charset="0"/>
                            <a:sym typeface="Helvetica Neue"/>
                          </a:rPr>
                          <m:t>lo</m:t>
                        </m:r>
                        <m:sSub>
                          <m:sSubPr>
                            <m:ctrlPr>
                              <a:rPr lang="en-US" sz="3200" b="0" i="0" smtClean="0">
                                <a:solidFill>
                                  <a:schemeClr val="bg2">
                                    <a:lumMod val="10000"/>
                                  </a:schemeClr>
                                </a:solidFill>
                                <a:latin typeface="Cambria Math" panose="02040503050406030204" pitchFamily="18" charset="0"/>
                                <a:cs typeface="Arial" panose="020B0604020202020204" pitchFamily="34" charset="0"/>
                                <a:sym typeface="Helvetica Neue"/>
                              </a:rPr>
                            </m:ctrlPr>
                          </m:sSubPr>
                          <m:e>
                            <m:r>
                              <m:rPr>
                                <m:sty m:val="p"/>
                              </m:rPr>
                              <a:rPr lang="en-US" sz="3200" b="0" i="0" smtClean="0">
                                <a:solidFill>
                                  <a:schemeClr val="bg2">
                                    <a:lumMod val="10000"/>
                                  </a:schemeClr>
                                </a:solidFill>
                                <a:latin typeface="Cambria Math" panose="02040503050406030204" pitchFamily="18" charset="0"/>
                                <a:cs typeface="Arial" panose="020B0604020202020204" pitchFamily="34" charset="0"/>
                                <a:sym typeface="Helvetica Neue"/>
                              </a:rPr>
                              <m:t>g</m:t>
                            </m:r>
                          </m:e>
                          <m:sub>
                            <m:r>
                              <a:rPr lang="en-US" sz="3200" b="0" i="0" smtClean="0">
                                <a:solidFill>
                                  <a:schemeClr val="bg2">
                                    <a:lumMod val="10000"/>
                                  </a:schemeClr>
                                </a:solidFill>
                                <a:latin typeface="Cambria Math" panose="02040503050406030204" pitchFamily="18" charset="0"/>
                                <a:cs typeface="Arial" panose="020B0604020202020204" pitchFamily="34" charset="0"/>
                                <a:sym typeface="Helvetica Neue"/>
                              </a:rPr>
                              <m:t>10</m:t>
                            </m:r>
                          </m:sub>
                        </m:sSub>
                      </m:oMath>
                    </a14:m>
                    <a:r>
                      <a:rPr lang="en-US" sz="3200" dirty="0">
                        <a:solidFill>
                          <a:schemeClr val="bg2">
                            <a:lumMod val="10000"/>
                          </a:schemeClr>
                        </a:solidFill>
                        <a:latin typeface="Arial" panose="020B0604020202020204" pitchFamily="34" charset="0"/>
                        <a:cs typeface="Arial" panose="020B0604020202020204" pitchFamily="34" charset="0"/>
                        <a:sym typeface="Helvetica Neue"/>
                      </a:rPr>
                      <a:t> of Ion Density)</a:t>
                    </a:r>
                  </a:p>
                </p:txBody>
              </p:sp>
            </mc:Choice>
            <mc:Fallback xmlns="">
              <p:sp>
                <p:nvSpPr>
                  <p:cNvPr id="9" name="Rounded Rectangle 42">
                    <a:extLst>
                      <a:ext uri="{FF2B5EF4-FFF2-40B4-BE49-F238E27FC236}">
                        <a16:creationId xmlns:a16="http://schemas.microsoft.com/office/drawing/2014/main" id="{97F760AF-73E3-0467-8C23-5A48F1800534}"/>
                      </a:ext>
                    </a:extLst>
                  </p:cNvPr>
                  <p:cNvSpPr>
                    <a:spLocks noRot="1" noChangeAspect="1" noMove="1" noResize="1" noEditPoints="1" noAdjustHandles="1" noChangeArrowheads="1" noChangeShapeType="1" noTextEdit="1"/>
                  </p:cNvSpPr>
                  <p:nvPr/>
                </p:nvSpPr>
                <p:spPr>
                  <a:xfrm>
                    <a:off x="15275738" y="27209467"/>
                    <a:ext cx="13258800" cy="857298"/>
                  </a:xfrm>
                  <a:prstGeom prst="roundRect">
                    <a:avLst/>
                  </a:prstGeom>
                  <a:blipFill>
                    <a:blip r:embed="rId13"/>
                    <a:stretch>
                      <a:fillRect b="-9929"/>
                    </a:stretch>
                  </a:blipFill>
                  <a:ln w="50800" cap="flat">
                    <a:noFill/>
                    <a:prstDash val="solid"/>
                    <a:miter lim="400000"/>
                  </a:ln>
                  <a:effectLst/>
                </p:spPr>
                <p:txBody>
                  <a:bodyPr/>
                  <a:lstStyle/>
                  <a:p>
                    <a:r>
                      <a:rPr lang="en-US">
                        <a:noFill/>
                      </a:rPr>
                      <a:t> </a:t>
                    </a:r>
                  </a:p>
                </p:txBody>
              </p:sp>
            </mc:Fallback>
          </mc:AlternateContent>
        </p:grpSp>
        <p:sp>
          <p:nvSpPr>
            <p:cNvPr id="11" name="TextBox 10">
              <a:extLst>
                <a:ext uri="{FF2B5EF4-FFF2-40B4-BE49-F238E27FC236}">
                  <a16:creationId xmlns:a16="http://schemas.microsoft.com/office/drawing/2014/main" id="{CFB212F3-DC56-572E-319D-CE931D240D6C}"/>
                </a:ext>
              </a:extLst>
            </p:cNvPr>
            <p:cNvSpPr txBox="1"/>
            <p:nvPr/>
          </p:nvSpPr>
          <p:spPr>
            <a:xfrm>
              <a:off x="15022286" y="19521713"/>
              <a:ext cx="2162627" cy="914400"/>
            </a:xfrm>
            <a:prstGeom prst="rect">
              <a:avLst/>
            </a:prstGeom>
            <a:noFill/>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19456" tIns="219456" rIns="219456" bIns="219456" rtlCol="0" anchor="t">
              <a:noAutofit/>
            </a:bodyPr>
            <a:lstStyle/>
            <a:p>
              <a:pPr algn="ctr"/>
              <a:r>
                <a:rPr lang="en-US" sz="3200" b="1" dirty="0">
                  <a:solidFill>
                    <a:schemeClr val="bg1"/>
                  </a:solidFill>
                  <a:latin typeface="Arial" panose="020B0604020202020204" pitchFamily="34" charset="0"/>
                  <a:ea typeface="+mn-ea"/>
                  <a:cs typeface="Arial" panose="020B0604020202020204" pitchFamily="34" charset="0"/>
                  <a:sym typeface="Helvetica Neue"/>
                </a:rPr>
                <a:t>Servicer</a:t>
              </a:r>
            </a:p>
          </p:txBody>
        </p:sp>
        <p:sp>
          <p:nvSpPr>
            <p:cNvPr id="12" name="TextBox 11">
              <a:extLst>
                <a:ext uri="{FF2B5EF4-FFF2-40B4-BE49-F238E27FC236}">
                  <a16:creationId xmlns:a16="http://schemas.microsoft.com/office/drawing/2014/main" id="{E3057076-F2CD-DE15-D2E5-31A7657560B8}"/>
                </a:ext>
              </a:extLst>
            </p:cNvPr>
            <p:cNvSpPr txBox="1"/>
            <p:nvPr/>
          </p:nvSpPr>
          <p:spPr>
            <a:xfrm>
              <a:off x="16466457" y="21981885"/>
              <a:ext cx="2162627" cy="914400"/>
            </a:xfrm>
            <a:prstGeom prst="rect">
              <a:avLst/>
            </a:prstGeom>
            <a:noFill/>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19456" tIns="219456" rIns="219456" bIns="219456" rtlCol="0" anchor="t">
              <a:noAutofit/>
            </a:bodyPr>
            <a:lstStyle/>
            <a:p>
              <a:pPr algn="ctr"/>
              <a:r>
                <a:rPr lang="en-US" sz="3200" b="1" dirty="0">
                  <a:solidFill>
                    <a:schemeClr val="bg1"/>
                  </a:solidFill>
                  <a:latin typeface="Arial" panose="020B0604020202020204" pitchFamily="34" charset="0"/>
                  <a:ea typeface="+mn-ea"/>
                  <a:cs typeface="Arial" panose="020B0604020202020204" pitchFamily="34" charset="0"/>
                  <a:sym typeface="Helvetica Neue"/>
                </a:rPr>
                <a:t>Target</a:t>
              </a:r>
            </a:p>
          </p:txBody>
        </p:sp>
        <p:cxnSp>
          <p:nvCxnSpPr>
            <p:cNvPr id="15" name="Straight Arrow Connector 14">
              <a:extLst>
                <a:ext uri="{FF2B5EF4-FFF2-40B4-BE49-F238E27FC236}">
                  <a16:creationId xmlns:a16="http://schemas.microsoft.com/office/drawing/2014/main" id="{EF757AF9-BF3F-9002-9154-3A24964EBF25}"/>
                </a:ext>
              </a:extLst>
            </p:cNvPr>
            <p:cNvCxnSpPr/>
            <p:nvPr/>
          </p:nvCxnSpPr>
          <p:spPr>
            <a:xfrm>
              <a:off x="16038286" y="20261943"/>
              <a:ext cx="333828" cy="783771"/>
            </a:xfrm>
            <a:prstGeom prst="straightConnector1">
              <a:avLst/>
            </a:prstGeom>
            <a:noFill/>
            <a:ln w="57150" cap="flat">
              <a:solidFill>
                <a:srgbClr val="F2F2F2"/>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1" name="Straight Arrow Connector 20">
              <a:extLst>
                <a:ext uri="{FF2B5EF4-FFF2-40B4-BE49-F238E27FC236}">
                  <a16:creationId xmlns:a16="http://schemas.microsoft.com/office/drawing/2014/main" id="{7D51BCDB-0FD5-8A22-BED0-B57164233294}"/>
                </a:ext>
              </a:extLst>
            </p:cNvPr>
            <p:cNvCxnSpPr>
              <a:cxnSpLocks/>
            </p:cNvCxnSpPr>
            <p:nvPr/>
          </p:nvCxnSpPr>
          <p:spPr>
            <a:xfrm flipH="1" flipV="1">
              <a:off x="16923657" y="21321486"/>
              <a:ext cx="696686" cy="957943"/>
            </a:xfrm>
            <a:prstGeom prst="straightConnector1">
              <a:avLst/>
            </a:prstGeom>
            <a:noFill/>
            <a:ln w="57150" cap="flat">
              <a:solidFill>
                <a:srgbClr val="F2F2F2"/>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 name="Straight Arrow Connector 25">
              <a:extLst>
                <a:ext uri="{FF2B5EF4-FFF2-40B4-BE49-F238E27FC236}">
                  <a16:creationId xmlns:a16="http://schemas.microsoft.com/office/drawing/2014/main" id="{C41E5AF4-25B0-782E-E80F-8F944B4EFCC1}"/>
                </a:ext>
              </a:extLst>
            </p:cNvPr>
            <p:cNvCxnSpPr>
              <a:cxnSpLocks/>
            </p:cNvCxnSpPr>
            <p:nvPr/>
          </p:nvCxnSpPr>
          <p:spPr>
            <a:xfrm>
              <a:off x="15406914" y="22373773"/>
              <a:ext cx="820058" cy="0"/>
            </a:xfrm>
            <a:prstGeom prst="straightConnector1">
              <a:avLst/>
            </a:prstGeom>
            <a:noFill/>
            <a:ln w="57150" cap="flat">
              <a:solidFill>
                <a:schemeClr val="accent6">
                  <a:lumMod val="20000"/>
                  <a:lumOff val="80000"/>
                </a:schemeClr>
              </a:solidFill>
              <a:prstDash val="solid"/>
              <a:miter lim="400000"/>
              <a:tailEnd type="triangle"/>
            </a:ln>
            <a:effectLst/>
            <a:sp3d/>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09A3670-B310-CF86-ECCB-72454E18E4A2}"/>
                    </a:ext>
                  </a:extLst>
                </p:cNvPr>
                <p:cNvSpPr txBox="1"/>
                <p:nvPr/>
              </p:nvSpPr>
              <p:spPr>
                <a:xfrm>
                  <a:off x="15015029" y="21582743"/>
                  <a:ext cx="1676400" cy="457198"/>
                </a:xfrm>
                <a:prstGeom prst="rect">
                  <a:avLst/>
                </a:prstGeom>
                <a:noFill/>
                <a:ln w="50800">
                  <a:miter lim="400000"/>
                </a:ln>
                <a:extLst>
                  <a:ext uri="{C572A759-6A51-4108-AA02-DFA0A04FC94B}">
                    <ma14:wrappingTextBoxFlag xmlns:ma14="http://schemas.microsoft.com/office/mac/drawingml/2011/main" xmlns:m="http://schemas.openxmlformats.org/officeDocument/2006/math" xmlns="" val="1"/>
                  </a:ext>
                </a:extLst>
              </p:spPr>
              <p:txBody>
                <a:bodyPr wrap="none" lIns="219456" tIns="219456" rIns="219456" bIns="219456" rtlCol="0" anchor="t">
                  <a:noAutofit/>
                </a:bodyPr>
                <a:lstStyle/>
                <a:p>
                  <a:pPr algn="ctr"/>
                  <a14:m>
                    <m:oMathPara xmlns:m="http://schemas.openxmlformats.org/officeDocument/2006/math">
                      <m:oMath>
                        <m:sSub>
                          <m:sSubPr>
                            <m:ctrlPr>
                              <a:rPr lang="en-US" sz="3200" b="1" i="0" smtClean="0">
                                <a:solidFill>
                                  <a:schemeClr val="accent6">
                                    <a:lumMod val="20000"/>
                                    <a:lumOff val="80000"/>
                                  </a:schemeClr>
                                </a:solidFill>
                                <a:latin typeface="Cambria Math" panose="02040503050406030204" pitchFamily="18" charset="0"/>
                                <a:ea typeface="+mn-ea"/>
                                <a:cs typeface="Arial" panose="020B0604020202020204" pitchFamily="34" charset="0"/>
                                <a:sym typeface="Helvetica Neue"/>
                              </a:rPr>
                            </m:ctrlPr>
                          </m:sSubPr>
                          <m:e>
                            <m:r>
                              <a:rPr lang="en-US" sz="3200" b="1" i="0" smtClean="0">
                                <a:solidFill>
                                  <a:schemeClr val="accent6">
                                    <a:lumMod val="20000"/>
                                    <a:lumOff val="80000"/>
                                  </a:schemeClr>
                                </a:solidFill>
                                <a:latin typeface="Cambria Math" panose="02040503050406030204" pitchFamily="18" charset="0"/>
                                <a:ea typeface="+mn-ea"/>
                                <a:cs typeface="Arial" panose="020B0604020202020204" pitchFamily="34" charset="0"/>
                                <a:sym typeface="Helvetica Neue"/>
                              </a:rPr>
                              <m:t>𝐯</m:t>
                            </m:r>
                          </m:e>
                          <m:sub>
                            <m:r>
                              <a:rPr lang="en-US" sz="3200" b="1" i="0" smtClean="0">
                                <a:solidFill>
                                  <a:schemeClr val="accent6">
                                    <a:lumMod val="20000"/>
                                    <a:lumOff val="80000"/>
                                  </a:schemeClr>
                                </a:solidFill>
                                <a:latin typeface="Cambria Math" panose="02040503050406030204" pitchFamily="18" charset="0"/>
                                <a:ea typeface="+mn-ea"/>
                                <a:cs typeface="Arial" panose="020B0604020202020204" pitchFamily="34" charset="0"/>
                                <a:sym typeface="Helvetica Neue"/>
                              </a:rPr>
                              <m:t>𝐛𝐮𝐥𝐤</m:t>
                            </m:r>
                          </m:sub>
                        </m:sSub>
                      </m:oMath>
                    </m:oMathPara>
                  </a14:m>
                  <a:endParaRPr lang="en-US" sz="3200" b="1" dirty="0">
                    <a:solidFill>
                      <a:schemeClr val="accent6">
                        <a:lumMod val="20000"/>
                        <a:lumOff val="80000"/>
                      </a:schemeClr>
                    </a:solidFill>
                    <a:latin typeface="Arial" panose="020B0604020202020204" pitchFamily="34" charset="0"/>
                    <a:ea typeface="+mn-ea"/>
                    <a:cs typeface="Arial" panose="020B0604020202020204" pitchFamily="34" charset="0"/>
                    <a:sym typeface="Helvetica Neue"/>
                  </a:endParaRPr>
                </a:p>
              </p:txBody>
            </p:sp>
          </mc:Choice>
          <mc:Fallback xmlns="">
            <p:sp>
              <p:nvSpPr>
                <p:cNvPr id="28" name="TextBox 27">
                  <a:extLst>
                    <a:ext uri="{FF2B5EF4-FFF2-40B4-BE49-F238E27FC236}">
                      <a16:creationId xmlns:a16="http://schemas.microsoft.com/office/drawing/2014/main" id="{609A3670-B310-CF86-ECCB-72454E18E4A2}"/>
                    </a:ext>
                  </a:extLst>
                </p:cNvPr>
                <p:cNvSpPr txBox="1">
                  <a:spLocks noRot="1" noChangeAspect="1" noMove="1" noResize="1" noEditPoints="1" noAdjustHandles="1" noChangeArrowheads="1" noChangeShapeType="1" noTextEdit="1"/>
                </p:cNvSpPr>
                <p:nvPr/>
              </p:nvSpPr>
              <p:spPr>
                <a:xfrm>
                  <a:off x="15015029" y="21582743"/>
                  <a:ext cx="1676400" cy="457198"/>
                </a:xfrm>
                <a:prstGeom prst="rect">
                  <a:avLst/>
                </a:prstGeom>
                <a:blipFill>
                  <a:blip r:embed="rId14"/>
                  <a:stretch>
                    <a:fillRect b="-54667"/>
                  </a:stretch>
                </a:blipFill>
                <a:ln w="508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grpSp>
      <p:grpSp>
        <p:nvGrpSpPr>
          <p:cNvPr id="74" name="Group 73">
            <a:extLst>
              <a:ext uri="{FF2B5EF4-FFF2-40B4-BE49-F238E27FC236}">
                <a16:creationId xmlns:a16="http://schemas.microsoft.com/office/drawing/2014/main" id="{42E00B33-B7A4-ABA1-1C93-9307163700EB}"/>
              </a:ext>
            </a:extLst>
          </p:cNvPr>
          <p:cNvGrpSpPr/>
          <p:nvPr/>
        </p:nvGrpSpPr>
        <p:grpSpPr>
          <a:xfrm>
            <a:off x="30584718" y="26309942"/>
            <a:ext cx="11754067" cy="3248577"/>
            <a:chOff x="30816835" y="25450555"/>
            <a:chExt cx="11754067" cy="3248577"/>
          </a:xfrm>
        </p:grpSpPr>
        <mc:AlternateContent xmlns:mc="http://schemas.openxmlformats.org/markup-compatibility/2006" xmlns:a14="http://schemas.microsoft.com/office/drawing/2010/main">
          <mc:Choice Requires="a14">
            <p:sp>
              <p:nvSpPr>
                <p:cNvPr id="60" name="Rounded Rectangle 59">
                  <a:extLst>
                    <a:ext uri="{FF2B5EF4-FFF2-40B4-BE49-F238E27FC236}">
                      <a16:creationId xmlns:a16="http://schemas.microsoft.com/office/drawing/2014/main" id="{2B1743BE-FA24-7D72-EAF8-06B6F0CAFEF6}"/>
                    </a:ext>
                  </a:extLst>
                </p:cNvPr>
                <p:cNvSpPr/>
                <p:nvPr/>
              </p:nvSpPr>
              <p:spPr>
                <a:xfrm>
                  <a:off x="30816835" y="25451783"/>
                  <a:ext cx="4839956" cy="3246120"/>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algn="ctr"/>
                  <a:r>
                    <a:rPr lang="en-US" sz="3200" dirty="0">
                      <a:solidFill>
                        <a:schemeClr val="bg2">
                          <a:lumMod val="10000"/>
                        </a:schemeClr>
                      </a:solidFill>
                      <a:latin typeface="Arial" panose="020B0604020202020204" pitchFamily="34" charset="0"/>
                      <a:cs typeface="Arial" panose="020B0604020202020204" pitchFamily="34" charset="0"/>
                    </a:rPr>
                    <a:t>Initial Parameters:</a:t>
                  </a:r>
                </a:p>
                <a:p>
                  <a:pPr algn="ctr"/>
                  <a14:m>
                    <m:oMathPara xmlns:m="http://schemas.openxmlformats.org/officeDocument/2006/math">
                      <m:oMath>
                        <m:sSub>
                          <m:sSubPr>
                            <m:ctrlPr>
                              <a:rPr lang="en-US" sz="3200" i="0" smtClean="0">
                                <a:solidFill>
                                  <a:schemeClr val="bg2">
                                    <a:lumMod val="10000"/>
                                  </a:schemeClr>
                                </a:solidFill>
                                <a:latin typeface="Cambria Math" panose="02040503050406030204" pitchFamily="18" charset="0"/>
                              </a:rPr>
                            </m:ctrlPr>
                          </m:sSubPr>
                          <m:e>
                            <m:r>
                              <m:rPr>
                                <m:sty m:val="p"/>
                              </m:rPr>
                              <a:rPr lang="en-US" sz="3200" i="0" smtClean="0">
                                <a:solidFill>
                                  <a:schemeClr val="bg2">
                                    <a:lumMod val="10000"/>
                                  </a:schemeClr>
                                </a:solidFill>
                                <a:latin typeface="Cambria Math" panose="02040503050406030204" pitchFamily="18" charset="0"/>
                              </a:rPr>
                              <m:t>ϕ</m:t>
                            </m:r>
                          </m:e>
                          <m:sub>
                            <m:r>
                              <m:rPr>
                                <m:sty m:val="p"/>
                              </m:rPr>
                              <a:rPr lang="en-US" sz="3200" i="0" smtClean="0">
                                <a:solidFill>
                                  <a:schemeClr val="bg2">
                                    <a:lumMod val="10000"/>
                                  </a:schemeClr>
                                </a:solidFill>
                                <a:latin typeface="Cambria Math" panose="02040503050406030204" pitchFamily="18" charset="0"/>
                              </a:rPr>
                              <m:t>T</m:t>
                            </m:r>
                            <m:r>
                              <a:rPr lang="en-US" sz="3200" i="0" smtClean="0">
                                <a:solidFill>
                                  <a:schemeClr val="bg2">
                                    <a:lumMod val="10000"/>
                                  </a:schemeClr>
                                </a:solidFill>
                                <a:latin typeface="Cambria Math" panose="02040503050406030204" pitchFamily="18" charset="0"/>
                              </a:rPr>
                              <m:t> </m:t>
                            </m:r>
                          </m:sub>
                        </m:sSub>
                        <m:r>
                          <a:rPr lang="en-US" sz="3200" i="0" smtClean="0">
                            <a:solidFill>
                              <a:schemeClr val="bg2">
                                <a:lumMod val="10000"/>
                              </a:schemeClr>
                            </a:solidFill>
                            <a:latin typeface="Cambria Math" panose="02040503050406030204" pitchFamily="18" charset="0"/>
                          </a:rPr>
                          <m:t>=−9.5 </m:t>
                        </m:r>
                        <m:r>
                          <m:rPr>
                            <m:sty m:val="p"/>
                          </m:rPr>
                          <a:rPr lang="en-US" sz="3200" i="0" smtClean="0">
                            <a:solidFill>
                              <a:schemeClr val="bg2">
                                <a:lumMod val="10000"/>
                              </a:schemeClr>
                            </a:solidFill>
                            <a:latin typeface="Cambria Math" panose="02040503050406030204" pitchFamily="18" charset="0"/>
                          </a:rPr>
                          <m:t>kV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sSub>
                          <m:sSubPr>
                            <m:ctrlPr>
                              <a:rPr lang="en-US" sz="3200" i="0" smtClean="0">
                                <a:solidFill>
                                  <a:schemeClr val="bg2">
                                    <a:lumMod val="10000"/>
                                  </a:schemeClr>
                                </a:solidFill>
                                <a:latin typeface="Cambria Math" panose="02040503050406030204" pitchFamily="18" charset="0"/>
                              </a:rPr>
                            </m:ctrlPr>
                          </m:sSubPr>
                          <m:e>
                            <m:r>
                              <m:rPr>
                                <m:sty m:val="p"/>
                              </m:rPr>
                              <a:rPr lang="en-US" sz="3200" i="0" smtClean="0">
                                <a:solidFill>
                                  <a:schemeClr val="bg2">
                                    <a:lumMod val="10000"/>
                                  </a:schemeClr>
                                </a:solidFill>
                                <a:latin typeface="Cambria Math" panose="02040503050406030204" pitchFamily="18" charset="0"/>
                              </a:rPr>
                              <m:t>ϕ</m:t>
                            </m:r>
                          </m:e>
                          <m:sub>
                            <m:r>
                              <m:rPr>
                                <m:sty m:val="p"/>
                              </m:rPr>
                              <a:rPr lang="en-US" sz="3200" i="0" smtClean="0">
                                <a:solidFill>
                                  <a:schemeClr val="bg2">
                                    <a:lumMod val="10000"/>
                                  </a:schemeClr>
                                </a:solidFill>
                                <a:latin typeface="Cambria Math" panose="02040503050406030204" pitchFamily="18" charset="0"/>
                              </a:rPr>
                              <m:t>S</m:t>
                            </m:r>
                            <m:r>
                              <a:rPr lang="en-US" sz="3200" i="0" smtClean="0">
                                <a:solidFill>
                                  <a:schemeClr val="bg2">
                                    <a:lumMod val="10000"/>
                                  </a:schemeClr>
                                </a:solidFill>
                                <a:latin typeface="Cambria Math" panose="02040503050406030204" pitchFamily="18" charset="0"/>
                              </a:rPr>
                              <m:t> </m:t>
                            </m:r>
                          </m:sub>
                        </m:sSub>
                        <m:r>
                          <a:rPr lang="en-US" sz="3200" i="0" smtClean="0">
                            <a:solidFill>
                              <a:schemeClr val="bg2">
                                <a:lumMod val="10000"/>
                              </a:schemeClr>
                            </a:solidFill>
                            <a:latin typeface="Cambria Math" panose="02040503050406030204" pitchFamily="18" charset="0"/>
                          </a:rPr>
                          <m:t>=2.7 </m:t>
                        </m:r>
                        <m:r>
                          <m:rPr>
                            <m:sty m:val="p"/>
                          </m:rPr>
                          <a:rPr lang="en-US" sz="3200" i="0" smtClean="0">
                            <a:solidFill>
                              <a:schemeClr val="bg2">
                                <a:lumMod val="10000"/>
                              </a:schemeClr>
                            </a:solidFill>
                            <a:latin typeface="Cambria Math" panose="02040503050406030204" pitchFamily="18" charset="0"/>
                          </a:rPr>
                          <m:t>kV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r>
                          <a:rPr lang="en-US" sz="3200" i="0" smtClean="0">
                            <a:solidFill>
                              <a:schemeClr val="bg2">
                                <a:lumMod val="10000"/>
                              </a:schemeClr>
                            </a:solidFill>
                            <a:latin typeface="Cambria Math" panose="02040503050406030204" pitchFamily="18" charset="0"/>
                          </a:rPr>
                          <m:t>∆</m:t>
                        </m:r>
                        <m:r>
                          <m:rPr>
                            <m:sty m:val="p"/>
                          </m:rPr>
                          <a:rPr lang="en-US" sz="3200" i="0" smtClean="0">
                            <a:solidFill>
                              <a:schemeClr val="bg2">
                                <a:lumMod val="10000"/>
                              </a:schemeClr>
                            </a:solidFill>
                            <a:latin typeface="Cambria Math" panose="02040503050406030204" pitchFamily="18" charset="0"/>
                          </a:rPr>
                          <m:t>ϕ</m:t>
                        </m:r>
                        <m:r>
                          <a:rPr lang="en-US" sz="3200" i="0" smtClean="0">
                            <a:solidFill>
                              <a:schemeClr val="bg2">
                                <a:lumMod val="10000"/>
                              </a:schemeClr>
                            </a:solidFill>
                            <a:latin typeface="Cambria Math" panose="02040503050406030204" pitchFamily="18" charset="0"/>
                          </a:rPr>
                          <m:t> =12.2 </m:t>
                        </m:r>
                        <m:r>
                          <m:rPr>
                            <m:sty m:val="p"/>
                          </m:rPr>
                          <a:rPr lang="en-US" sz="3200" i="0" smtClean="0">
                            <a:solidFill>
                              <a:schemeClr val="bg2">
                                <a:lumMod val="10000"/>
                              </a:schemeClr>
                            </a:solidFill>
                            <a:latin typeface="Cambria Math" panose="02040503050406030204" pitchFamily="18" charset="0"/>
                          </a:rPr>
                          <m:t>kV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sSub>
                          <m:sSubPr>
                            <m:ctrlPr>
                              <a:rPr lang="en-US" sz="3200" b="1" i="0" smtClean="0">
                                <a:solidFill>
                                  <a:schemeClr val="bg2">
                                    <a:lumMod val="10000"/>
                                  </a:schemeClr>
                                </a:solidFill>
                                <a:latin typeface="Cambria Math" panose="02040503050406030204" pitchFamily="18" charset="0"/>
                              </a:rPr>
                            </m:ctrlPr>
                          </m:sSubPr>
                          <m:e>
                            <m:r>
                              <a:rPr lang="en-US" sz="3200" b="1" i="0" smtClean="0">
                                <a:solidFill>
                                  <a:schemeClr val="bg2">
                                    <a:lumMod val="10000"/>
                                  </a:schemeClr>
                                </a:solidFill>
                                <a:latin typeface="Cambria Math" panose="02040503050406030204" pitchFamily="18" charset="0"/>
                              </a:rPr>
                              <m:t>𝐄</m:t>
                            </m:r>
                          </m:e>
                          <m:sub>
                            <m:r>
                              <a:rPr lang="en-US" sz="3200" b="1" i="0" smtClean="0">
                                <a:solidFill>
                                  <a:schemeClr val="bg2">
                                    <a:lumMod val="10000"/>
                                  </a:schemeClr>
                                </a:solidFill>
                                <a:latin typeface="Cambria Math" panose="02040503050406030204" pitchFamily="18" charset="0"/>
                              </a:rPr>
                              <m:t>𝐁𝐞𝐚𝐦</m:t>
                            </m:r>
                          </m:sub>
                        </m:sSub>
                        <m:r>
                          <a:rPr lang="en-US" sz="3200" b="1" i="0" smtClean="0">
                            <a:solidFill>
                              <a:schemeClr val="bg2">
                                <a:lumMod val="10000"/>
                              </a:schemeClr>
                            </a:solidFill>
                            <a:latin typeface="Cambria Math" panose="02040503050406030204" pitchFamily="18" charset="0"/>
                          </a:rPr>
                          <m:t>=</m:t>
                        </m:r>
                        <m:r>
                          <a:rPr lang="en-US" sz="3200" b="1" i="0" smtClean="0">
                            <a:solidFill>
                              <a:schemeClr val="bg2">
                                <a:lumMod val="10000"/>
                              </a:schemeClr>
                            </a:solidFill>
                            <a:latin typeface="Cambria Math" panose="02040503050406030204" pitchFamily="18" charset="0"/>
                          </a:rPr>
                          <m:t>𝟏𝟓</m:t>
                        </m:r>
                        <m:r>
                          <a:rPr lang="en-US" sz="3200" b="1" i="0" smtClean="0">
                            <a:solidFill>
                              <a:schemeClr val="bg2">
                                <a:lumMod val="10000"/>
                              </a:schemeClr>
                            </a:solidFill>
                            <a:latin typeface="Cambria Math" panose="02040503050406030204" pitchFamily="18" charset="0"/>
                          </a:rPr>
                          <m:t> </m:t>
                        </m:r>
                        <m:r>
                          <a:rPr lang="en-US" sz="3200" b="1" i="0" smtClean="0">
                            <a:solidFill>
                              <a:schemeClr val="bg2">
                                <a:lumMod val="10000"/>
                              </a:schemeClr>
                            </a:solidFill>
                            <a:latin typeface="Cambria Math" panose="02040503050406030204" pitchFamily="18" charset="0"/>
                          </a:rPr>
                          <m:t>𝐤𝐞𝐕</m:t>
                        </m:r>
                      </m:oMath>
                    </m:oMathPara>
                  </a14:m>
                  <a:endParaRPr lang="en-US" sz="3200" b="1" dirty="0">
                    <a:solidFill>
                      <a:schemeClr val="bg2">
                        <a:lumMod val="10000"/>
                      </a:schemeClr>
                    </a:solidFill>
                    <a:latin typeface="Arial" panose="020B0604020202020204" pitchFamily="34" charset="0"/>
                    <a:cs typeface="Arial" panose="020B0604020202020204" pitchFamily="34" charset="0"/>
                  </a:endParaRPr>
                </a:p>
                <a:p>
                  <a:pPr algn="ctr"/>
                  <a14:m>
                    <m:oMath xmlns:m="http://schemas.openxmlformats.org/officeDocument/2006/math">
                      <m:sSub>
                        <m:sSubPr>
                          <m:ctrlPr>
                            <a:rPr lang="en-US" sz="3200" b="1" i="0" dirty="0" smtClean="0">
                              <a:solidFill>
                                <a:schemeClr val="bg2">
                                  <a:lumMod val="10000"/>
                                </a:schemeClr>
                              </a:solidFill>
                              <a:latin typeface="Cambria Math" panose="02040503050406030204" pitchFamily="18" charset="0"/>
                            </a:rPr>
                          </m:ctrlPr>
                        </m:sSubPr>
                        <m:e>
                          <m:r>
                            <a:rPr lang="en-US" sz="3200" b="1" i="0" dirty="0" smtClean="0">
                              <a:solidFill>
                                <a:schemeClr val="bg2">
                                  <a:lumMod val="10000"/>
                                </a:schemeClr>
                              </a:solidFill>
                              <a:latin typeface="Cambria Math" panose="02040503050406030204" pitchFamily="18" charset="0"/>
                            </a:rPr>
                            <m:t>𝐅</m:t>
                          </m:r>
                        </m:e>
                        <m:sub>
                          <m:r>
                            <a:rPr lang="en-US" sz="3200" b="1" i="0" dirty="0" smtClean="0">
                              <a:solidFill>
                                <a:schemeClr val="bg2">
                                  <a:lumMod val="10000"/>
                                </a:schemeClr>
                              </a:solidFill>
                              <a:latin typeface="Cambria Math" panose="02040503050406030204" pitchFamily="18" charset="0"/>
                            </a:rPr>
                            <m:t>𝐞</m:t>
                          </m:r>
                        </m:sub>
                      </m:sSub>
                      <m:r>
                        <a:rPr lang="en-US" sz="3200" b="1" i="0" dirty="0" smtClean="0">
                          <a:solidFill>
                            <a:schemeClr val="bg2">
                              <a:lumMod val="10000"/>
                            </a:schemeClr>
                          </a:solidFill>
                          <a:latin typeface="Cambria Math" panose="02040503050406030204" pitchFamily="18" charset="0"/>
                        </a:rPr>
                        <m:t>=</m:t>
                      </m:r>
                      <m:r>
                        <a:rPr lang="en-US" sz="3200" b="1" i="0" dirty="0" smtClean="0">
                          <a:solidFill>
                            <a:schemeClr val="bg2">
                              <a:lumMod val="10000"/>
                            </a:schemeClr>
                          </a:solidFill>
                          <a:latin typeface="Cambria Math" panose="02040503050406030204" pitchFamily="18" charset="0"/>
                        </a:rPr>
                        <m:t>𝟎</m:t>
                      </m:r>
                      <m:r>
                        <a:rPr lang="en-US" sz="3200" b="1" i="0" dirty="0" smtClean="0">
                          <a:solidFill>
                            <a:schemeClr val="bg2">
                              <a:lumMod val="10000"/>
                            </a:schemeClr>
                          </a:solidFill>
                          <a:latin typeface="Cambria Math" panose="02040503050406030204" pitchFamily="18" charset="0"/>
                        </a:rPr>
                        <m:t>.</m:t>
                      </m:r>
                      <m:r>
                        <a:rPr lang="en-US" sz="3200" b="1" i="0" dirty="0" smtClean="0">
                          <a:solidFill>
                            <a:schemeClr val="bg2">
                              <a:lumMod val="10000"/>
                            </a:schemeClr>
                          </a:solidFill>
                          <a:latin typeface="Cambria Math" panose="02040503050406030204" pitchFamily="18" charset="0"/>
                        </a:rPr>
                        <m:t>𝟓𝟏𝟐</m:t>
                      </m:r>
                      <m:r>
                        <a:rPr lang="en-US" sz="3200" b="1" i="0" dirty="0" smtClean="0">
                          <a:solidFill>
                            <a:schemeClr val="bg2">
                              <a:lumMod val="10000"/>
                            </a:schemeClr>
                          </a:solidFill>
                          <a:latin typeface="Cambria Math" panose="02040503050406030204" pitchFamily="18" charset="0"/>
                        </a:rPr>
                        <m:t> </m:t>
                      </m:r>
                      <m:r>
                        <a:rPr lang="en-US" sz="3200" b="1" i="0" dirty="0" smtClean="0">
                          <a:solidFill>
                            <a:schemeClr val="bg2">
                              <a:lumMod val="10000"/>
                            </a:schemeClr>
                          </a:solidFill>
                          <a:latin typeface="Cambria Math" panose="02040503050406030204" pitchFamily="18" charset="0"/>
                        </a:rPr>
                        <m:t>𝐦𝐍</m:t>
                      </m:r>
                    </m:oMath>
                  </a14:m>
                  <a:r>
                    <a:rPr lang="en-US" sz="3200" b="1" dirty="0">
                      <a:solidFill>
                        <a:schemeClr val="bg2">
                          <a:lumMod val="10000"/>
                        </a:schemeClr>
                      </a:solidFill>
                      <a:latin typeface="Arial" panose="020B0604020202020204" pitchFamily="34" charset="0"/>
                      <a:cs typeface="Arial" panose="020B0604020202020204" pitchFamily="34" charset="0"/>
                    </a:rPr>
                    <a:t> </a:t>
                  </a:r>
                </a:p>
              </p:txBody>
            </p:sp>
          </mc:Choice>
          <mc:Fallback xmlns="">
            <p:sp>
              <p:nvSpPr>
                <p:cNvPr id="60" name="Rounded Rectangle 59">
                  <a:extLst>
                    <a:ext uri="{FF2B5EF4-FFF2-40B4-BE49-F238E27FC236}">
                      <a16:creationId xmlns:a16="http://schemas.microsoft.com/office/drawing/2014/main" id="{2B1743BE-FA24-7D72-EAF8-06B6F0CAFEF6}"/>
                    </a:ext>
                  </a:extLst>
                </p:cNvPr>
                <p:cNvSpPr>
                  <a:spLocks noRot="1" noChangeAspect="1" noMove="1" noResize="1" noEditPoints="1" noAdjustHandles="1" noChangeArrowheads="1" noChangeShapeType="1" noTextEdit="1"/>
                </p:cNvSpPr>
                <p:nvPr/>
              </p:nvSpPr>
              <p:spPr>
                <a:xfrm>
                  <a:off x="30816835" y="25451783"/>
                  <a:ext cx="4839956" cy="3246120"/>
                </a:xfrm>
                <a:prstGeom prst="roundRect">
                  <a:avLst>
                    <a:gd name="adj" fmla="val 4290"/>
                  </a:avLst>
                </a:prstGeom>
                <a:blipFill>
                  <a:blip r:embed="rId15"/>
                  <a:stretch>
                    <a:fillRect/>
                  </a:stretch>
                </a:blipFill>
                <a:ln w="50800" cap="flat">
                  <a:noFill/>
                  <a:prstDash val="solid"/>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ounded Rectangle 60">
                  <a:extLst>
                    <a:ext uri="{FF2B5EF4-FFF2-40B4-BE49-F238E27FC236}">
                      <a16:creationId xmlns:a16="http://schemas.microsoft.com/office/drawing/2014/main" id="{577DD832-5EC0-AA87-BF4A-04BE8F47D29F}"/>
                    </a:ext>
                  </a:extLst>
                </p:cNvPr>
                <p:cNvSpPr/>
                <p:nvPr/>
              </p:nvSpPr>
              <p:spPr>
                <a:xfrm>
                  <a:off x="37730946" y="25450555"/>
                  <a:ext cx="4839956" cy="3248577"/>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algn="ctr"/>
                  <a:r>
                    <a:rPr lang="en-US" sz="3200" dirty="0">
                      <a:solidFill>
                        <a:schemeClr val="bg2">
                          <a:lumMod val="10000"/>
                        </a:schemeClr>
                      </a:solidFill>
                      <a:latin typeface="Arial" panose="020B0604020202020204" pitchFamily="34" charset="0"/>
                      <a:cs typeface="Arial" panose="020B0604020202020204" pitchFamily="34" charset="0"/>
                    </a:rPr>
                    <a:t>Final Parameters:</a:t>
                  </a:r>
                </a:p>
                <a:p>
                  <a:pPr algn="ctr"/>
                  <a14:m>
                    <m:oMathPara xmlns:m="http://schemas.openxmlformats.org/officeDocument/2006/math">
                      <m:oMath>
                        <m:sSub>
                          <m:sSubPr>
                            <m:ctrlPr>
                              <a:rPr lang="en-US" sz="3200" i="0" smtClean="0">
                                <a:solidFill>
                                  <a:schemeClr val="bg2">
                                    <a:lumMod val="10000"/>
                                  </a:schemeClr>
                                </a:solidFill>
                                <a:latin typeface="Cambria Math" panose="02040503050406030204" pitchFamily="18" charset="0"/>
                              </a:rPr>
                            </m:ctrlPr>
                          </m:sSubPr>
                          <m:e>
                            <m:r>
                              <m:rPr>
                                <m:sty m:val="p"/>
                              </m:rPr>
                              <a:rPr lang="en-US" sz="3200" i="0" smtClean="0">
                                <a:solidFill>
                                  <a:schemeClr val="bg2">
                                    <a:lumMod val="10000"/>
                                  </a:schemeClr>
                                </a:solidFill>
                                <a:latin typeface="Cambria Math" panose="02040503050406030204" pitchFamily="18" charset="0"/>
                              </a:rPr>
                              <m:t>ϕ</m:t>
                            </m:r>
                          </m:e>
                          <m:sub>
                            <m:r>
                              <m:rPr>
                                <m:sty m:val="p"/>
                              </m:rPr>
                              <a:rPr lang="en-US" sz="3200" i="0" smtClean="0">
                                <a:solidFill>
                                  <a:schemeClr val="bg2">
                                    <a:lumMod val="10000"/>
                                  </a:schemeClr>
                                </a:solidFill>
                                <a:latin typeface="Cambria Math" panose="02040503050406030204" pitchFamily="18" charset="0"/>
                              </a:rPr>
                              <m:t>T</m:t>
                            </m:r>
                            <m:r>
                              <a:rPr lang="en-US" sz="3200" i="0" smtClean="0">
                                <a:solidFill>
                                  <a:schemeClr val="bg2">
                                    <a:lumMod val="10000"/>
                                  </a:schemeClr>
                                </a:solidFill>
                                <a:latin typeface="Cambria Math" panose="02040503050406030204" pitchFamily="18" charset="0"/>
                              </a:rPr>
                              <m:t> </m:t>
                            </m:r>
                          </m:sub>
                        </m:sSub>
                        <m:r>
                          <a:rPr lang="en-US" sz="3200" i="0" smtClean="0">
                            <a:solidFill>
                              <a:schemeClr val="bg2">
                                <a:lumMod val="10000"/>
                              </a:schemeClr>
                            </a:solidFill>
                            <a:latin typeface="Cambria Math" panose="02040503050406030204" pitchFamily="18" charset="0"/>
                          </a:rPr>
                          <m:t>=−9.</m:t>
                        </m:r>
                        <m:r>
                          <a:rPr lang="en-US" sz="3200" b="0" i="0" smtClean="0">
                            <a:solidFill>
                              <a:schemeClr val="bg2">
                                <a:lumMod val="10000"/>
                              </a:schemeClr>
                            </a:solidFill>
                            <a:latin typeface="Cambria Math" panose="02040503050406030204" pitchFamily="18" charset="0"/>
                          </a:rPr>
                          <m:t>4</m:t>
                        </m:r>
                        <m:r>
                          <a:rPr lang="en-US" sz="3200" i="0" smtClean="0">
                            <a:solidFill>
                              <a:schemeClr val="bg2">
                                <a:lumMod val="10000"/>
                              </a:schemeClr>
                            </a:solidFill>
                            <a:latin typeface="Cambria Math" panose="02040503050406030204" pitchFamily="18" charset="0"/>
                          </a:rPr>
                          <m:t> </m:t>
                        </m:r>
                        <m:r>
                          <m:rPr>
                            <m:sty m:val="p"/>
                          </m:rPr>
                          <a:rPr lang="en-US" sz="3200" i="0" smtClean="0">
                            <a:solidFill>
                              <a:schemeClr val="bg2">
                                <a:lumMod val="10000"/>
                              </a:schemeClr>
                            </a:solidFill>
                            <a:latin typeface="Cambria Math" panose="02040503050406030204" pitchFamily="18" charset="0"/>
                          </a:rPr>
                          <m:t>kV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sSub>
                          <m:sSubPr>
                            <m:ctrlPr>
                              <a:rPr lang="en-US" sz="3200" i="0" smtClean="0">
                                <a:solidFill>
                                  <a:schemeClr val="bg2">
                                    <a:lumMod val="10000"/>
                                  </a:schemeClr>
                                </a:solidFill>
                                <a:latin typeface="Cambria Math" panose="02040503050406030204" pitchFamily="18" charset="0"/>
                              </a:rPr>
                            </m:ctrlPr>
                          </m:sSubPr>
                          <m:e>
                            <m:r>
                              <m:rPr>
                                <m:sty m:val="p"/>
                              </m:rPr>
                              <a:rPr lang="en-US" sz="3200" i="0" smtClean="0">
                                <a:solidFill>
                                  <a:schemeClr val="bg2">
                                    <a:lumMod val="10000"/>
                                  </a:schemeClr>
                                </a:solidFill>
                                <a:latin typeface="Cambria Math" panose="02040503050406030204" pitchFamily="18" charset="0"/>
                              </a:rPr>
                              <m:t>ϕ</m:t>
                            </m:r>
                          </m:e>
                          <m:sub>
                            <m:r>
                              <m:rPr>
                                <m:sty m:val="p"/>
                              </m:rPr>
                              <a:rPr lang="en-US" sz="3200" i="0" smtClean="0">
                                <a:solidFill>
                                  <a:schemeClr val="bg2">
                                    <a:lumMod val="10000"/>
                                  </a:schemeClr>
                                </a:solidFill>
                                <a:latin typeface="Cambria Math" panose="02040503050406030204" pitchFamily="18" charset="0"/>
                              </a:rPr>
                              <m:t>S</m:t>
                            </m:r>
                            <m:r>
                              <a:rPr lang="en-US" sz="3200" i="0" smtClean="0">
                                <a:solidFill>
                                  <a:schemeClr val="bg2">
                                    <a:lumMod val="10000"/>
                                  </a:schemeClr>
                                </a:solidFill>
                                <a:latin typeface="Cambria Math" panose="02040503050406030204" pitchFamily="18" charset="0"/>
                              </a:rPr>
                              <m:t> </m:t>
                            </m:r>
                          </m:sub>
                        </m:sSub>
                        <m:r>
                          <a:rPr lang="en-US" sz="3200" i="0" smtClean="0">
                            <a:solidFill>
                              <a:schemeClr val="bg2">
                                <a:lumMod val="10000"/>
                              </a:schemeClr>
                            </a:solidFill>
                            <a:latin typeface="Cambria Math" panose="02040503050406030204" pitchFamily="18" charset="0"/>
                          </a:rPr>
                          <m:t>=2.</m:t>
                        </m:r>
                        <m:r>
                          <a:rPr lang="en-US" sz="3200" b="0" i="0" smtClean="0">
                            <a:solidFill>
                              <a:schemeClr val="bg2">
                                <a:lumMod val="10000"/>
                              </a:schemeClr>
                            </a:solidFill>
                            <a:latin typeface="Cambria Math" panose="02040503050406030204" pitchFamily="18" charset="0"/>
                          </a:rPr>
                          <m:t>61</m:t>
                        </m:r>
                        <m:r>
                          <a:rPr lang="en-US" sz="3200" i="0" smtClean="0">
                            <a:solidFill>
                              <a:schemeClr val="bg2">
                                <a:lumMod val="10000"/>
                              </a:schemeClr>
                            </a:solidFill>
                            <a:latin typeface="Cambria Math" panose="02040503050406030204" pitchFamily="18" charset="0"/>
                          </a:rPr>
                          <m:t> </m:t>
                        </m:r>
                        <m:r>
                          <m:rPr>
                            <m:sty m:val="p"/>
                          </m:rPr>
                          <a:rPr lang="en-US" sz="3200" i="0" smtClean="0">
                            <a:solidFill>
                              <a:schemeClr val="bg2">
                                <a:lumMod val="10000"/>
                              </a:schemeClr>
                            </a:solidFill>
                            <a:latin typeface="Cambria Math" panose="02040503050406030204" pitchFamily="18" charset="0"/>
                          </a:rPr>
                          <m:t>kV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r>
                          <a:rPr lang="en-US" sz="3200" i="0" smtClean="0">
                            <a:solidFill>
                              <a:schemeClr val="bg2">
                                <a:lumMod val="10000"/>
                              </a:schemeClr>
                            </a:solidFill>
                            <a:latin typeface="Cambria Math" panose="02040503050406030204" pitchFamily="18" charset="0"/>
                          </a:rPr>
                          <m:t>∆</m:t>
                        </m:r>
                        <m:r>
                          <m:rPr>
                            <m:sty m:val="p"/>
                          </m:rPr>
                          <a:rPr lang="en-US" sz="3200" i="0" smtClean="0">
                            <a:solidFill>
                              <a:schemeClr val="bg2">
                                <a:lumMod val="10000"/>
                              </a:schemeClr>
                            </a:solidFill>
                            <a:latin typeface="Cambria Math" panose="02040503050406030204" pitchFamily="18" charset="0"/>
                          </a:rPr>
                          <m:t>ϕ</m:t>
                        </m:r>
                        <m:r>
                          <a:rPr lang="en-US" sz="3200" b="1" i="0" smtClean="0">
                            <a:solidFill>
                              <a:schemeClr val="bg2">
                                <a:lumMod val="10000"/>
                              </a:schemeClr>
                            </a:solidFill>
                            <a:latin typeface="Cambria Math" panose="02040503050406030204" pitchFamily="18" charset="0"/>
                          </a:rPr>
                          <m:t>=</m:t>
                        </m:r>
                        <m:r>
                          <a:rPr lang="en-US" sz="3200" b="0" i="0" smtClean="0">
                            <a:solidFill>
                              <a:schemeClr val="bg2">
                                <a:lumMod val="10000"/>
                              </a:schemeClr>
                            </a:solidFill>
                            <a:latin typeface="Cambria Math" panose="02040503050406030204" pitchFamily="18" charset="0"/>
                          </a:rPr>
                          <m:t>12.01 </m:t>
                        </m:r>
                        <m:r>
                          <m:rPr>
                            <m:sty m:val="p"/>
                          </m:rPr>
                          <a:rPr lang="en-US" sz="3200" b="0" i="0" smtClean="0">
                            <a:solidFill>
                              <a:schemeClr val="bg2">
                                <a:lumMod val="10000"/>
                              </a:schemeClr>
                            </a:solidFill>
                            <a:latin typeface="Cambria Math" panose="02040503050406030204" pitchFamily="18" charset="0"/>
                          </a:rPr>
                          <m:t>kV</m:t>
                        </m:r>
                      </m:oMath>
                    </m:oMathPara>
                  </a14:m>
                  <a:endParaRPr lang="en-US" sz="3200" dirty="0">
                    <a:solidFill>
                      <a:schemeClr val="bg2">
                        <a:lumMod val="10000"/>
                      </a:schemeClr>
                    </a:solidFill>
                    <a:latin typeface="Arial" panose="020B0604020202020204" pitchFamily="34" charset="0"/>
                    <a:cs typeface="Arial" panose="020B0604020202020204" pitchFamily="34" charset="0"/>
                  </a:endParaRPr>
                </a:p>
                <a:p>
                  <a:pPr algn="ctr"/>
                  <a14:m>
                    <m:oMathPara xmlns:m="http://schemas.openxmlformats.org/officeDocument/2006/math">
                      <m:oMath>
                        <m:sSub>
                          <m:sSubPr>
                            <m:ctrlPr>
                              <a:rPr lang="en-US" sz="3200" b="1" i="0" smtClean="0">
                                <a:solidFill>
                                  <a:schemeClr val="bg2">
                                    <a:lumMod val="10000"/>
                                  </a:schemeClr>
                                </a:solidFill>
                                <a:latin typeface="Cambria Math" panose="02040503050406030204" pitchFamily="18" charset="0"/>
                              </a:rPr>
                            </m:ctrlPr>
                          </m:sSubPr>
                          <m:e>
                            <m:r>
                              <a:rPr lang="en-US" sz="3200" b="1" i="0" smtClean="0">
                                <a:solidFill>
                                  <a:schemeClr val="bg2">
                                    <a:lumMod val="10000"/>
                                  </a:schemeClr>
                                </a:solidFill>
                                <a:latin typeface="Cambria Math" panose="02040503050406030204" pitchFamily="18" charset="0"/>
                              </a:rPr>
                              <m:t>𝐄</m:t>
                            </m:r>
                          </m:e>
                          <m:sub>
                            <m:r>
                              <a:rPr lang="en-US" sz="3200" b="1" i="0" smtClean="0">
                                <a:solidFill>
                                  <a:schemeClr val="bg2">
                                    <a:lumMod val="10000"/>
                                  </a:schemeClr>
                                </a:solidFill>
                                <a:latin typeface="Cambria Math" panose="02040503050406030204" pitchFamily="18" charset="0"/>
                              </a:rPr>
                              <m:t>𝐁𝐞𝐚𝐦</m:t>
                            </m:r>
                          </m:sub>
                        </m:sSub>
                        <m:r>
                          <a:rPr lang="en-US" sz="3200" b="1" i="0" smtClean="0">
                            <a:solidFill>
                              <a:schemeClr val="bg2">
                                <a:lumMod val="10000"/>
                              </a:schemeClr>
                            </a:solidFill>
                            <a:latin typeface="Cambria Math" panose="02040503050406030204" pitchFamily="18" charset="0"/>
                          </a:rPr>
                          <m:t>=</m:t>
                        </m:r>
                        <m:r>
                          <a:rPr lang="en-US" sz="3200" b="1" i="0" smtClean="0">
                            <a:solidFill>
                              <a:schemeClr val="bg2">
                                <a:lumMod val="10000"/>
                              </a:schemeClr>
                            </a:solidFill>
                            <a:latin typeface="Cambria Math" panose="02040503050406030204" pitchFamily="18" charset="0"/>
                          </a:rPr>
                          <m:t>𝟓</m:t>
                        </m:r>
                        <m:r>
                          <a:rPr lang="en-US" sz="3200" b="1" i="0" smtClean="0">
                            <a:solidFill>
                              <a:schemeClr val="bg2">
                                <a:lumMod val="10000"/>
                              </a:schemeClr>
                            </a:solidFill>
                            <a:latin typeface="Cambria Math" panose="02040503050406030204" pitchFamily="18" charset="0"/>
                          </a:rPr>
                          <m:t> </m:t>
                        </m:r>
                        <m:r>
                          <a:rPr lang="en-US" sz="3200" b="1" i="0" smtClean="0">
                            <a:solidFill>
                              <a:schemeClr val="bg2">
                                <a:lumMod val="10000"/>
                              </a:schemeClr>
                            </a:solidFill>
                            <a:latin typeface="Cambria Math" panose="02040503050406030204" pitchFamily="18" charset="0"/>
                          </a:rPr>
                          <m:t>𝐤𝐞𝐕</m:t>
                        </m:r>
                      </m:oMath>
                    </m:oMathPara>
                  </a14:m>
                  <a:endParaRPr lang="en-US" sz="3200" b="1" dirty="0">
                    <a:solidFill>
                      <a:schemeClr val="bg2">
                        <a:lumMod val="10000"/>
                      </a:schemeClr>
                    </a:solidFill>
                    <a:latin typeface="Arial" panose="020B0604020202020204" pitchFamily="34" charset="0"/>
                    <a:cs typeface="Arial" panose="020B0604020202020204" pitchFamily="34" charset="0"/>
                  </a:endParaRPr>
                </a:p>
                <a:p>
                  <a:pPr algn="ctr"/>
                  <a14:m>
                    <m:oMath xmlns:m="http://schemas.openxmlformats.org/officeDocument/2006/math">
                      <m:sSub>
                        <m:sSubPr>
                          <m:ctrlPr>
                            <a:rPr lang="en-US" sz="3200" b="1" i="0" dirty="0" smtClean="0">
                              <a:solidFill>
                                <a:schemeClr val="bg2">
                                  <a:lumMod val="10000"/>
                                </a:schemeClr>
                              </a:solidFill>
                              <a:latin typeface="Cambria Math" panose="02040503050406030204" pitchFamily="18" charset="0"/>
                            </a:rPr>
                          </m:ctrlPr>
                        </m:sSubPr>
                        <m:e>
                          <m:r>
                            <a:rPr lang="en-US" sz="3200" b="1" i="0" dirty="0" smtClean="0">
                              <a:solidFill>
                                <a:schemeClr val="bg2">
                                  <a:lumMod val="10000"/>
                                </a:schemeClr>
                              </a:solidFill>
                              <a:latin typeface="Cambria Math" panose="02040503050406030204" pitchFamily="18" charset="0"/>
                            </a:rPr>
                            <m:t>𝐅</m:t>
                          </m:r>
                        </m:e>
                        <m:sub>
                          <m:r>
                            <a:rPr lang="en-US" sz="3200" b="1" i="0" dirty="0" smtClean="0">
                              <a:solidFill>
                                <a:schemeClr val="bg2">
                                  <a:lumMod val="10000"/>
                                </a:schemeClr>
                              </a:solidFill>
                              <a:latin typeface="Cambria Math" panose="02040503050406030204" pitchFamily="18" charset="0"/>
                            </a:rPr>
                            <m:t>𝐞</m:t>
                          </m:r>
                        </m:sub>
                      </m:sSub>
                      <m:r>
                        <a:rPr lang="en-US" sz="3200" b="1" i="0" dirty="0" smtClean="0">
                          <a:solidFill>
                            <a:schemeClr val="bg2">
                              <a:lumMod val="10000"/>
                            </a:schemeClr>
                          </a:solidFill>
                          <a:latin typeface="Cambria Math" panose="02040503050406030204" pitchFamily="18" charset="0"/>
                        </a:rPr>
                        <m:t>=</m:t>
                      </m:r>
                      <m:r>
                        <a:rPr lang="en-US" sz="3200" b="1" i="0" dirty="0" smtClean="0">
                          <a:solidFill>
                            <a:schemeClr val="bg2">
                              <a:lumMod val="10000"/>
                            </a:schemeClr>
                          </a:solidFill>
                          <a:latin typeface="Cambria Math" panose="02040503050406030204" pitchFamily="18" charset="0"/>
                        </a:rPr>
                        <m:t>𝟎</m:t>
                      </m:r>
                      <m:r>
                        <a:rPr lang="en-US" sz="3200" b="1" i="0" dirty="0" smtClean="0">
                          <a:solidFill>
                            <a:schemeClr val="bg2">
                              <a:lumMod val="10000"/>
                            </a:schemeClr>
                          </a:solidFill>
                          <a:latin typeface="Cambria Math" panose="02040503050406030204" pitchFamily="18" charset="0"/>
                        </a:rPr>
                        <m:t>.</m:t>
                      </m:r>
                      <m:r>
                        <a:rPr lang="en-US" sz="3200" b="1" i="0" dirty="0" smtClean="0">
                          <a:solidFill>
                            <a:schemeClr val="bg2">
                              <a:lumMod val="10000"/>
                            </a:schemeClr>
                          </a:solidFill>
                          <a:latin typeface="Cambria Math" panose="02040503050406030204" pitchFamily="18" charset="0"/>
                        </a:rPr>
                        <m:t>𝟒𝟗𝟑</m:t>
                      </m:r>
                      <m:r>
                        <a:rPr lang="en-US" sz="3200" b="1" i="0" dirty="0" smtClean="0">
                          <a:solidFill>
                            <a:schemeClr val="bg2">
                              <a:lumMod val="10000"/>
                            </a:schemeClr>
                          </a:solidFill>
                          <a:latin typeface="Cambria Math" panose="02040503050406030204" pitchFamily="18" charset="0"/>
                        </a:rPr>
                        <m:t> </m:t>
                      </m:r>
                      <m:r>
                        <a:rPr lang="en-US" sz="3200" b="1" i="0" dirty="0" smtClean="0">
                          <a:solidFill>
                            <a:schemeClr val="bg2">
                              <a:lumMod val="10000"/>
                            </a:schemeClr>
                          </a:solidFill>
                          <a:latin typeface="Cambria Math" panose="02040503050406030204" pitchFamily="18" charset="0"/>
                        </a:rPr>
                        <m:t>𝐦𝐍</m:t>
                      </m:r>
                    </m:oMath>
                  </a14:m>
                  <a:r>
                    <a:rPr lang="en-US" sz="3200" b="1" dirty="0">
                      <a:solidFill>
                        <a:schemeClr val="bg2">
                          <a:lumMod val="10000"/>
                        </a:schemeClr>
                      </a:solidFill>
                      <a:latin typeface="Arial" panose="020B0604020202020204" pitchFamily="34" charset="0"/>
                      <a:cs typeface="Arial" panose="020B0604020202020204" pitchFamily="34" charset="0"/>
                    </a:rPr>
                    <a:t> </a:t>
                  </a:r>
                </a:p>
              </p:txBody>
            </p:sp>
          </mc:Choice>
          <mc:Fallback xmlns="">
            <p:sp>
              <p:nvSpPr>
                <p:cNvPr id="61" name="Rounded Rectangle 60">
                  <a:extLst>
                    <a:ext uri="{FF2B5EF4-FFF2-40B4-BE49-F238E27FC236}">
                      <a16:creationId xmlns:a16="http://schemas.microsoft.com/office/drawing/2014/main" id="{577DD832-5EC0-AA87-BF4A-04BE8F47D29F}"/>
                    </a:ext>
                  </a:extLst>
                </p:cNvPr>
                <p:cNvSpPr>
                  <a:spLocks noRot="1" noChangeAspect="1" noMove="1" noResize="1" noEditPoints="1" noAdjustHandles="1" noChangeArrowheads="1" noChangeShapeType="1" noTextEdit="1"/>
                </p:cNvSpPr>
                <p:nvPr/>
              </p:nvSpPr>
              <p:spPr>
                <a:xfrm>
                  <a:off x="37730946" y="25450555"/>
                  <a:ext cx="4839956" cy="3248577"/>
                </a:xfrm>
                <a:prstGeom prst="roundRect">
                  <a:avLst>
                    <a:gd name="adj" fmla="val 4290"/>
                  </a:avLst>
                </a:prstGeom>
                <a:blipFill>
                  <a:blip r:embed="rId16"/>
                  <a:stretch>
                    <a:fillRect/>
                  </a:stretch>
                </a:blipFill>
                <a:ln w="50800" cap="flat">
                  <a:noFill/>
                  <a:prstDash val="solid"/>
                  <a:miter lim="400000"/>
                </a:ln>
                <a:effectLst/>
              </p:spPr>
              <p:txBody>
                <a:bodyPr/>
                <a:lstStyle/>
                <a:p>
                  <a:r>
                    <a:rPr lang="en-US">
                      <a:noFill/>
                    </a:rPr>
                    <a:t> </a:t>
                  </a:r>
                </a:p>
              </p:txBody>
            </p:sp>
          </mc:Fallback>
        </mc:AlternateContent>
        <p:sp>
          <p:nvSpPr>
            <p:cNvPr id="24" name="Right Arrow 49">
              <a:extLst>
                <a:ext uri="{FF2B5EF4-FFF2-40B4-BE49-F238E27FC236}">
                  <a16:creationId xmlns:a16="http://schemas.microsoft.com/office/drawing/2014/main" id="{53441B4C-FCE6-A36E-8FF8-6FAB11366F7A}"/>
                </a:ext>
              </a:extLst>
            </p:cNvPr>
            <p:cNvSpPr/>
            <p:nvPr/>
          </p:nvSpPr>
          <p:spPr>
            <a:xfrm>
              <a:off x="35922464" y="26526203"/>
              <a:ext cx="1542808" cy="1097280"/>
            </a:xfrm>
            <a:prstGeom prst="rightArrow">
              <a:avLst/>
            </a:prstGeom>
            <a:solidFill>
              <a:schemeClr val="bg2">
                <a:lumMod val="10000"/>
                <a:alpha val="50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ctr">
              <a:spAutoFit/>
            </a:bodyPr>
            <a:lstStyle/>
            <a:p>
              <a:pPr marL="0" marR="0" indent="0" algn="ctr" defTabSz="1975104"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chemeClr val="bg2">
                    <a:lumMod val="10000"/>
                  </a:schemeClr>
                </a:solidFill>
                <a:effectLst/>
                <a:uFillTx/>
                <a:cs typeface="+mn-cs"/>
                <a:sym typeface="Helvetica Neue Light"/>
              </a:endParaRPr>
            </a:p>
          </p:txBody>
        </p:sp>
      </p:grpSp>
      <p:grpSp>
        <p:nvGrpSpPr>
          <p:cNvPr id="48" name="Group 47">
            <a:extLst>
              <a:ext uri="{FF2B5EF4-FFF2-40B4-BE49-F238E27FC236}">
                <a16:creationId xmlns:a16="http://schemas.microsoft.com/office/drawing/2014/main" id="{F09D907B-4B52-A66E-7E65-FE8A18813AB5}"/>
              </a:ext>
            </a:extLst>
          </p:cNvPr>
          <p:cNvGrpSpPr/>
          <p:nvPr/>
        </p:nvGrpSpPr>
        <p:grpSpPr>
          <a:xfrm>
            <a:off x="29927721" y="7311217"/>
            <a:ext cx="13256068" cy="5131443"/>
            <a:chOff x="30039697" y="6282199"/>
            <a:chExt cx="13229304" cy="5131443"/>
          </a:xfrm>
        </p:grpSpPr>
        <p:pic>
          <p:nvPicPr>
            <p:cNvPr id="67" name="Picture 66">
              <a:extLst>
                <a:ext uri="{FF2B5EF4-FFF2-40B4-BE49-F238E27FC236}">
                  <a16:creationId xmlns:a16="http://schemas.microsoft.com/office/drawing/2014/main" id="{0E0B0BBD-C9D2-DE18-B000-7A55FBA93DE5}"/>
                </a:ext>
              </a:extLst>
            </p:cNvPr>
            <p:cNvPicPr>
              <a:picLocks noChangeAspect="1"/>
            </p:cNvPicPr>
            <p:nvPr/>
          </p:nvPicPr>
          <p:blipFill>
            <a:blip r:embed="rId17"/>
            <a:srcRect b="8779"/>
            <a:stretch>
              <a:fillRect/>
            </a:stretch>
          </p:blipFill>
          <p:spPr>
            <a:xfrm>
              <a:off x="30039697" y="6282199"/>
              <a:ext cx="6471226" cy="5131443"/>
            </a:xfrm>
            <a:prstGeom prst="roundRect">
              <a:avLst/>
            </a:prstGeom>
          </p:spPr>
        </p:pic>
        <p:pic>
          <p:nvPicPr>
            <p:cNvPr id="68" name="Picture 67">
              <a:extLst>
                <a:ext uri="{FF2B5EF4-FFF2-40B4-BE49-F238E27FC236}">
                  <a16:creationId xmlns:a16="http://schemas.microsoft.com/office/drawing/2014/main" id="{3E6D64FA-2106-4A37-091E-868D15C00D78}"/>
                </a:ext>
              </a:extLst>
            </p:cNvPr>
            <p:cNvPicPr>
              <a:picLocks noChangeAspect="1"/>
            </p:cNvPicPr>
            <p:nvPr/>
          </p:nvPicPr>
          <p:blipFill>
            <a:blip r:embed="rId18"/>
            <a:stretch>
              <a:fillRect/>
            </a:stretch>
          </p:blipFill>
          <p:spPr>
            <a:xfrm>
              <a:off x="36797775" y="6282199"/>
              <a:ext cx="6471226" cy="5131443"/>
            </a:xfrm>
            <a:prstGeom prst="roundRect">
              <a:avLst/>
            </a:prstGeom>
          </p:spPr>
        </p:pic>
        <p:sp>
          <p:nvSpPr>
            <p:cNvPr id="69" name="Rounded Rectangle 1">
              <a:extLst>
                <a:ext uri="{FF2B5EF4-FFF2-40B4-BE49-F238E27FC236}">
                  <a16:creationId xmlns:a16="http://schemas.microsoft.com/office/drawing/2014/main" id="{6E8BB86D-B59C-23EC-1CAF-C2692992D6AA}"/>
                </a:ext>
              </a:extLst>
            </p:cNvPr>
            <p:cNvSpPr/>
            <p:nvPr/>
          </p:nvSpPr>
          <p:spPr>
            <a:xfrm>
              <a:off x="36932773" y="7393300"/>
              <a:ext cx="2191372" cy="694742"/>
            </a:xfrm>
            <a:prstGeom prst="roundRect">
              <a:avLst/>
            </a:prstGeom>
            <a:solidFill>
              <a:srgbClr val="D4C08E"/>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1" vertOverflow="overflow" horzOverflow="overflow" vert="horz" wrap="square" lIns="68580" tIns="68580" rIns="68580" bIns="68580" numCol="1" spcCol="38100" rtlCol="0" anchor="ctr">
              <a:spAutoFit/>
            </a:bodyPr>
            <a:lstStyle/>
            <a:p>
              <a:pPr algn="ctr"/>
              <a:r>
                <a:rPr lang="en-US" sz="2800">
                  <a:solidFill>
                    <a:schemeClr val="bg1"/>
                  </a:solidFill>
                </a:rPr>
                <a:t>-3 kV</a:t>
              </a:r>
            </a:p>
          </p:txBody>
        </p:sp>
        <p:sp>
          <p:nvSpPr>
            <p:cNvPr id="70" name="Rounded Rectangle 1">
              <a:extLst>
                <a:ext uri="{FF2B5EF4-FFF2-40B4-BE49-F238E27FC236}">
                  <a16:creationId xmlns:a16="http://schemas.microsoft.com/office/drawing/2014/main" id="{3B3A5740-B671-EF7E-C7CC-0B22E0413E07}"/>
                </a:ext>
              </a:extLst>
            </p:cNvPr>
            <p:cNvSpPr/>
            <p:nvPr/>
          </p:nvSpPr>
          <p:spPr>
            <a:xfrm>
              <a:off x="36891706" y="9650686"/>
              <a:ext cx="2191372" cy="694742"/>
            </a:xfrm>
            <a:prstGeom prst="roundRect">
              <a:avLst/>
            </a:prstGeom>
            <a:solidFill>
              <a:srgbClr val="D4C08E"/>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1" vertOverflow="overflow" horzOverflow="overflow" vert="horz" wrap="square" lIns="68580" tIns="68580" rIns="68580" bIns="68580" numCol="1" spcCol="38100" rtlCol="0" anchor="ctr">
              <a:spAutoFit/>
            </a:bodyPr>
            <a:lstStyle/>
            <a:p>
              <a:pPr algn="ctr"/>
              <a:r>
                <a:rPr lang="en-US" sz="2800" dirty="0">
                  <a:solidFill>
                    <a:schemeClr val="bg1"/>
                  </a:solidFill>
                </a:rPr>
                <a:t>3.32 kV</a:t>
              </a:r>
            </a:p>
          </p:txBody>
        </p:sp>
      </p:grpSp>
      <p:sp>
        <p:nvSpPr>
          <p:cNvPr id="8" name="TextBox 7">
            <a:extLst>
              <a:ext uri="{FF2B5EF4-FFF2-40B4-BE49-F238E27FC236}">
                <a16:creationId xmlns:a16="http://schemas.microsoft.com/office/drawing/2014/main" id="{BF5474B7-3C0F-634B-31D7-BF7666CB51EB}"/>
              </a:ext>
            </a:extLst>
          </p:cNvPr>
          <p:cNvSpPr txBox="1"/>
          <p:nvPr/>
        </p:nvSpPr>
        <p:spPr>
          <a:xfrm>
            <a:off x="2431389" y="21119416"/>
            <a:ext cx="9733916" cy="1724611"/>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5600" b="1" dirty="0">
                <a:solidFill>
                  <a:schemeClr val="bg2">
                    <a:lumMod val="10000"/>
                  </a:schemeClr>
                </a:solidFill>
                <a:latin typeface="Arial" panose="020B0604020202020204" pitchFamily="34" charset="0"/>
                <a:cs typeface="Arial" panose="020B0604020202020204" pitchFamily="34" charset="0"/>
                <a:sym typeface="Helvetica Neue"/>
              </a:rPr>
              <a:t>Objectives &amp; </a:t>
            </a:r>
            <a:r>
              <a:rPr lang="en-US" sz="5600" b="1" dirty="0">
                <a:solidFill>
                  <a:schemeClr val="bg2">
                    <a:lumMod val="10000"/>
                  </a:schemeClr>
                </a:solidFill>
                <a:latin typeface="Arial" panose="020B0604020202020204" pitchFamily="34" charset="0"/>
                <a:ea typeface="+mn-ea"/>
                <a:cs typeface="Arial" panose="020B0604020202020204" pitchFamily="34" charset="0"/>
                <a:sym typeface="Helvetica Neue"/>
              </a:rPr>
              <a:t>Methods</a:t>
            </a:r>
            <a:endParaRPr lang="en-US" sz="5600" b="1" dirty="0">
              <a:solidFill>
                <a:schemeClr val="bg2">
                  <a:lumMod val="10000"/>
                </a:schemeClr>
              </a:solidFill>
              <a:latin typeface="Arial" panose="020B0604020202020204" pitchFamily="34" charset="0"/>
              <a:ea typeface="+mn-ea"/>
              <a:cs typeface="Arial" panose="020B0604020202020204" pitchFamily="34" charset="0"/>
            </a:endParaRPr>
          </a:p>
        </p:txBody>
      </p:sp>
      <p:sp>
        <p:nvSpPr>
          <p:cNvPr id="14" name="Rounded Rectangle 39">
            <a:extLst>
              <a:ext uri="{FF2B5EF4-FFF2-40B4-BE49-F238E27FC236}">
                <a16:creationId xmlns:a16="http://schemas.microsoft.com/office/drawing/2014/main" id="{E3F82FA5-A3EA-1877-038D-F7EAE5F64362}"/>
              </a:ext>
            </a:extLst>
          </p:cNvPr>
          <p:cNvSpPr/>
          <p:nvPr/>
        </p:nvSpPr>
        <p:spPr>
          <a:xfrm>
            <a:off x="668947" y="22329697"/>
            <a:ext cx="13264768" cy="5486324"/>
          </a:xfrm>
          <a:prstGeom prst="roundRect">
            <a:avLst>
              <a:gd name="adj" fmla="val 4290"/>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marL="571500" indent="-571500">
              <a:buFont typeface="Arial" panose="020B0604020202020204" pitchFamily="34" charset="0"/>
              <a:buChar char="•"/>
            </a:pPr>
            <a:r>
              <a:rPr lang="en-US" sz="3600" b="1" dirty="0">
                <a:solidFill>
                  <a:schemeClr val="bg2">
                    <a:lumMod val="10000"/>
                  </a:schemeClr>
                </a:solidFill>
                <a:latin typeface="Arial" panose="020B0604020202020204" pitchFamily="34" charset="0"/>
                <a:cs typeface="Arial" panose="020B0604020202020204" pitchFamily="34" charset="0"/>
              </a:rPr>
              <a:t>Build on AVS Lab’s findings to prove and characterize supercharging</a:t>
            </a:r>
          </a:p>
          <a:p>
            <a:pPr marL="742950" indent="-742950" algn="ctr">
              <a:buAutoNum type="arabicPeriod"/>
            </a:pPr>
            <a:endParaRPr lang="en-US" sz="3200" dirty="0">
              <a:solidFill>
                <a:schemeClr val="bg2">
                  <a:lumMod val="10000"/>
                </a:schemeClr>
              </a:solidFill>
              <a:latin typeface="Arial" panose="020B0604020202020204" pitchFamily="34" charset="0"/>
              <a:cs typeface="Arial" panose="020B0604020202020204" pitchFamily="34" charset="0"/>
            </a:endParaRPr>
          </a:p>
          <a:p>
            <a:pPr marL="1828800" indent="-742950">
              <a:buAutoNum type="arabicPeriod"/>
            </a:pPr>
            <a:r>
              <a:rPr lang="en-US" sz="3200" dirty="0">
                <a:solidFill>
                  <a:schemeClr val="bg2">
                    <a:lumMod val="10000"/>
                  </a:schemeClr>
                </a:solidFill>
                <a:latin typeface="Arial" panose="020B0604020202020204" pitchFamily="34" charset="0"/>
                <a:cs typeface="Arial" panose="020B0604020202020204" pitchFamily="34" charset="0"/>
              </a:rPr>
              <a:t>Use SPIS and MATLAB to characterize wakes</a:t>
            </a:r>
          </a:p>
          <a:p>
            <a:pPr marL="1828800" indent="-742950">
              <a:buAutoNum type="arabicPeriod"/>
            </a:pPr>
            <a:endParaRPr lang="en-US" sz="3200" dirty="0">
              <a:solidFill>
                <a:schemeClr val="bg2">
                  <a:lumMod val="10000"/>
                </a:schemeClr>
              </a:solidFill>
              <a:latin typeface="Arial" panose="020B0604020202020204" pitchFamily="34" charset="0"/>
              <a:cs typeface="Arial" panose="020B0604020202020204" pitchFamily="34" charset="0"/>
            </a:endParaRPr>
          </a:p>
          <a:p>
            <a:pPr marL="1828800" indent="-742950">
              <a:buAutoNum type="arabicPeriod"/>
            </a:pPr>
            <a:r>
              <a:rPr lang="en-US" sz="3200" dirty="0">
                <a:solidFill>
                  <a:schemeClr val="bg2">
                    <a:lumMod val="10000"/>
                  </a:schemeClr>
                </a:solidFill>
                <a:latin typeface="Arial" panose="020B0604020202020204" pitchFamily="34" charset="0"/>
                <a:cs typeface="Arial" panose="020B0604020202020204" pitchFamily="34" charset="0"/>
              </a:rPr>
              <a:t>Use SIMION and MATLAB to characterize beam width of electron gun</a:t>
            </a:r>
          </a:p>
          <a:p>
            <a:pPr marL="1828800" indent="-742950">
              <a:buAutoNum type="arabicPeriod"/>
            </a:pPr>
            <a:endParaRPr lang="en-US" sz="3200" dirty="0">
              <a:solidFill>
                <a:schemeClr val="bg2">
                  <a:lumMod val="10000"/>
                </a:schemeClr>
              </a:solidFill>
              <a:latin typeface="Arial" panose="020B0604020202020204" pitchFamily="34" charset="0"/>
              <a:cs typeface="Arial" panose="020B0604020202020204" pitchFamily="34" charset="0"/>
            </a:endParaRPr>
          </a:p>
          <a:p>
            <a:pPr marL="1828800" indent="-742950">
              <a:buAutoNum type="arabicPeriod"/>
            </a:pPr>
            <a:r>
              <a:rPr lang="en-US" sz="3200" dirty="0">
                <a:solidFill>
                  <a:schemeClr val="bg2">
                    <a:lumMod val="10000"/>
                  </a:schemeClr>
                </a:solidFill>
                <a:latin typeface="Arial" panose="020B0604020202020204" pitchFamily="34" charset="0"/>
                <a:cs typeface="Arial" panose="020B0604020202020204" pitchFamily="34" charset="0"/>
              </a:rPr>
              <a:t>Use SPIS to model supercharging in a realistic plasma environment</a:t>
            </a:r>
          </a:p>
        </p:txBody>
      </p:sp>
      <p:sp>
        <p:nvSpPr>
          <p:cNvPr id="51" name="TextBox 50">
            <a:extLst>
              <a:ext uri="{FF2B5EF4-FFF2-40B4-BE49-F238E27FC236}">
                <a16:creationId xmlns:a16="http://schemas.microsoft.com/office/drawing/2014/main" id="{87BD7045-4AAE-116D-4A9A-29F99E70764F}"/>
              </a:ext>
            </a:extLst>
          </p:cNvPr>
          <p:cNvSpPr txBox="1"/>
          <p:nvPr/>
        </p:nvSpPr>
        <p:spPr>
          <a:xfrm>
            <a:off x="15913969" y="5240044"/>
            <a:ext cx="12063796" cy="1724611"/>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5600" b="1" dirty="0">
                <a:solidFill>
                  <a:schemeClr val="bg2">
                    <a:lumMod val="10000"/>
                  </a:schemeClr>
                </a:solidFill>
                <a:latin typeface="Arial" panose="020B0604020202020204" pitchFamily="34" charset="0"/>
                <a:ea typeface="+mn-ea"/>
                <a:cs typeface="Arial" panose="020B0604020202020204" pitchFamily="34" charset="0"/>
                <a:sym typeface="Helvetica Neue"/>
              </a:rPr>
              <a:t>Plasma Wake Characterization</a:t>
            </a:r>
            <a:endParaRPr lang="en-US" sz="5600" b="1" dirty="0">
              <a:solidFill>
                <a:schemeClr val="bg2">
                  <a:lumMod val="10000"/>
                </a:schemeClr>
              </a:solidFill>
              <a:latin typeface="Arial" panose="020B0604020202020204" pitchFamily="34" charset="0"/>
              <a:ea typeface="+mn-ea"/>
              <a:cs typeface="Arial" panose="020B0604020202020204" pitchFamily="34" charset="0"/>
            </a:endParaRPr>
          </a:p>
        </p:txBody>
      </p:sp>
      <p:sp>
        <p:nvSpPr>
          <p:cNvPr id="62" name="Rounded Rectangle 42">
            <a:extLst>
              <a:ext uri="{FF2B5EF4-FFF2-40B4-BE49-F238E27FC236}">
                <a16:creationId xmlns:a16="http://schemas.microsoft.com/office/drawing/2014/main" id="{D182E2AC-2DD6-1106-25A8-B099C4556DDB}"/>
              </a:ext>
            </a:extLst>
          </p:cNvPr>
          <p:cNvSpPr/>
          <p:nvPr/>
        </p:nvSpPr>
        <p:spPr>
          <a:xfrm>
            <a:off x="15430990" y="31392426"/>
            <a:ext cx="13258800" cy="857298"/>
          </a:xfrm>
          <a:prstGeom prst="roundRect">
            <a:avLst/>
          </a:prstGeom>
          <a:solidFill>
            <a:schemeClr val="bg1">
              <a:lumMod val="95000"/>
            </a:schemeClr>
          </a:solidFill>
          <a:ln w="50800" cap="flat">
            <a:no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4592" tIns="164592" rIns="164592" bIns="164592" numCol="1" spcCol="38100" rtlCol="0" anchor="t">
            <a:noAutofit/>
          </a:bodyPr>
          <a:lstStyle/>
          <a:p>
            <a:pPr algn="ctr"/>
            <a:r>
              <a:rPr lang="en-US" sz="3200" dirty="0">
                <a:solidFill>
                  <a:schemeClr val="bg2">
                    <a:lumMod val="10000"/>
                  </a:schemeClr>
                </a:solidFill>
                <a:latin typeface="Arial" panose="020B0604020202020204" pitchFamily="34" charset="0"/>
                <a:cs typeface="Arial" panose="020B0604020202020204" pitchFamily="34" charset="0"/>
                <a:sym typeface="Helvetica Neue"/>
              </a:rPr>
              <a:t>Collected Ion Current on Target at Different Servicer Potentials</a:t>
            </a:r>
          </a:p>
        </p:txBody>
      </p:sp>
      <p:grpSp>
        <p:nvGrpSpPr>
          <p:cNvPr id="98" name="Group 97">
            <a:extLst>
              <a:ext uri="{FF2B5EF4-FFF2-40B4-BE49-F238E27FC236}">
                <a16:creationId xmlns:a16="http://schemas.microsoft.com/office/drawing/2014/main" id="{0696CFDC-2203-AD59-9444-A6DE53F528E0}"/>
              </a:ext>
            </a:extLst>
          </p:cNvPr>
          <p:cNvGrpSpPr/>
          <p:nvPr/>
        </p:nvGrpSpPr>
        <p:grpSpPr>
          <a:xfrm>
            <a:off x="29825730" y="6399327"/>
            <a:ext cx="13294962" cy="1062806"/>
            <a:chOff x="29715505" y="5978215"/>
            <a:chExt cx="13294962" cy="1062806"/>
          </a:xfrm>
        </p:grpSpPr>
        <p:sp>
          <p:nvSpPr>
            <p:cNvPr id="66" name="TextBox 65">
              <a:extLst>
                <a:ext uri="{FF2B5EF4-FFF2-40B4-BE49-F238E27FC236}">
                  <a16:creationId xmlns:a16="http://schemas.microsoft.com/office/drawing/2014/main" id="{E5FA759A-E762-BA41-9387-A09A240DC531}"/>
                </a:ext>
              </a:extLst>
            </p:cNvPr>
            <p:cNvSpPr txBox="1"/>
            <p:nvPr/>
          </p:nvSpPr>
          <p:spPr>
            <a:xfrm>
              <a:off x="29715505" y="5978215"/>
              <a:ext cx="6983966" cy="1062806"/>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3600" b="1" dirty="0">
                  <a:solidFill>
                    <a:schemeClr val="bg2">
                      <a:lumMod val="10000"/>
                    </a:schemeClr>
                  </a:solidFill>
                  <a:latin typeface="Arial" panose="020B0604020202020204" pitchFamily="34" charset="0"/>
                  <a:cs typeface="Arial" panose="020B0604020202020204" pitchFamily="34" charset="0"/>
                  <a:sym typeface="Helvetica Neue"/>
                </a:rPr>
                <a:t>Electron Beam Density</a:t>
              </a:r>
            </a:p>
          </p:txBody>
        </p:sp>
        <p:sp>
          <p:nvSpPr>
            <p:cNvPr id="90" name="TextBox 89">
              <a:extLst>
                <a:ext uri="{FF2B5EF4-FFF2-40B4-BE49-F238E27FC236}">
                  <a16:creationId xmlns:a16="http://schemas.microsoft.com/office/drawing/2014/main" id="{85E6C12F-3068-2CE5-607C-3ECCFA1DD33C}"/>
                </a:ext>
              </a:extLst>
            </p:cNvPr>
            <p:cNvSpPr txBox="1"/>
            <p:nvPr/>
          </p:nvSpPr>
          <p:spPr>
            <a:xfrm>
              <a:off x="36717633" y="5978215"/>
              <a:ext cx="6292834" cy="1062806"/>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3600" b="1" dirty="0">
                  <a:solidFill>
                    <a:schemeClr val="bg2">
                      <a:lumMod val="10000"/>
                    </a:schemeClr>
                  </a:solidFill>
                  <a:latin typeface="Arial" panose="020B0604020202020204" pitchFamily="34" charset="0"/>
                  <a:cs typeface="Arial" panose="020B0604020202020204" pitchFamily="34" charset="0"/>
                  <a:sym typeface="Helvetica Neue"/>
                </a:rPr>
                <a:t>Potential Distribution</a:t>
              </a:r>
            </a:p>
          </p:txBody>
        </p:sp>
      </p:grpSp>
      <p:grpSp>
        <p:nvGrpSpPr>
          <p:cNvPr id="116" name="Group 115">
            <a:extLst>
              <a:ext uri="{FF2B5EF4-FFF2-40B4-BE49-F238E27FC236}">
                <a16:creationId xmlns:a16="http://schemas.microsoft.com/office/drawing/2014/main" id="{1B74B8A6-5D87-3A0B-7495-0A66F364A816}"/>
              </a:ext>
            </a:extLst>
          </p:cNvPr>
          <p:cNvGrpSpPr/>
          <p:nvPr/>
        </p:nvGrpSpPr>
        <p:grpSpPr>
          <a:xfrm>
            <a:off x="29814269" y="20099968"/>
            <a:ext cx="13294962" cy="5840507"/>
            <a:chOff x="29908273" y="19242774"/>
            <a:chExt cx="13294962" cy="5840507"/>
          </a:xfrm>
        </p:grpSpPr>
        <p:grpSp>
          <p:nvGrpSpPr>
            <p:cNvPr id="73" name="Group 72">
              <a:extLst>
                <a:ext uri="{FF2B5EF4-FFF2-40B4-BE49-F238E27FC236}">
                  <a16:creationId xmlns:a16="http://schemas.microsoft.com/office/drawing/2014/main" id="{8340F83C-FE5C-99DC-FBEE-A9FB342AD42C}"/>
                </a:ext>
              </a:extLst>
            </p:cNvPr>
            <p:cNvGrpSpPr/>
            <p:nvPr/>
          </p:nvGrpSpPr>
          <p:grpSpPr>
            <a:xfrm>
              <a:off x="29916427" y="20101192"/>
              <a:ext cx="13278656" cy="4982089"/>
              <a:chOff x="30318427" y="19415025"/>
              <a:chExt cx="13278656" cy="4982089"/>
            </a:xfrm>
          </p:grpSpPr>
          <p:pic>
            <p:nvPicPr>
              <p:cNvPr id="52" name="Picture 51">
                <a:extLst>
                  <a:ext uri="{FF2B5EF4-FFF2-40B4-BE49-F238E27FC236}">
                    <a16:creationId xmlns:a16="http://schemas.microsoft.com/office/drawing/2014/main" id="{1D69800E-9394-172A-1CDB-69719D6F7853}"/>
                  </a:ext>
                </a:extLst>
              </p:cNvPr>
              <p:cNvPicPr>
                <a:picLocks noChangeAspect="1"/>
              </p:cNvPicPr>
              <p:nvPr/>
            </p:nvPicPr>
            <p:blipFill>
              <a:blip r:embed="rId19"/>
              <a:stretch>
                <a:fillRect/>
              </a:stretch>
            </p:blipFill>
            <p:spPr>
              <a:xfrm>
                <a:off x="37243921" y="19415025"/>
                <a:ext cx="6353162" cy="4920436"/>
              </a:xfrm>
              <a:prstGeom prst="roundRect">
                <a:avLst/>
              </a:prstGeom>
            </p:spPr>
          </p:pic>
          <p:sp>
            <p:nvSpPr>
              <p:cNvPr id="53" name="Rounded Rectangle 1">
                <a:extLst>
                  <a:ext uri="{FF2B5EF4-FFF2-40B4-BE49-F238E27FC236}">
                    <a16:creationId xmlns:a16="http://schemas.microsoft.com/office/drawing/2014/main" id="{C8E7FB4D-82A8-D2F7-D8CE-E0BA03F71C0F}"/>
                  </a:ext>
                </a:extLst>
              </p:cNvPr>
              <p:cNvSpPr/>
              <p:nvPr/>
            </p:nvSpPr>
            <p:spPr>
              <a:xfrm>
                <a:off x="37313861" y="20638789"/>
                <a:ext cx="1902658" cy="687277"/>
              </a:xfrm>
              <a:prstGeom prst="roundRect">
                <a:avLst/>
              </a:prstGeom>
              <a:solidFill>
                <a:srgbClr val="D4C08E"/>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1" vertOverflow="overflow" horzOverflow="overflow" vert="horz" wrap="square" lIns="68580" tIns="68580" rIns="68580" bIns="68580" numCol="1" spcCol="38100" rtlCol="0" anchor="ctr">
                <a:spAutoFit/>
              </a:bodyPr>
              <a:lstStyle/>
              <a:p>
                <a:pPr algn="ctr"/>
                <a:r>
                  <a:rPr lang="en-US" sz="2800">
                    <a:solidFill>
                      <a:schemeClr val="bg1"/>
                    </a:solidFill>
                  </a:rPr>
                  <a:t>-9.4 kV</a:t>
                </a:r>
              </a:p>
            </p:txBody>
          </p:sp>
          <p:sp>
            <p:nvSpPr>
              <p:cNvPr id="54" name="Rounded Rectangle 1">
                <a:extLst>
                  <a:ext uri="{FF2B5EF4-FFF2-40B4-BE49-F238E27FC236}">
                    <a16:creationId xmlns:a16="http://schemas.microsoft.com/office/drawing/2014/main" id="{0A7AC1C2-FB7E-B40A-E606-19301DECCAD8}"/>
                  </a:ext>
                </a:extLst>
              </p:cNvPr>
              <p:cNvSpPr/>
              <p:nvPr/>
            </p:nvSpPr>
            <p:spPr>
              <a:xfrm>
                <a:off x="37401684" y="22549830"/>
                <a:ext cx="1902658" cy="687277"/>
              </a:xfrm>
              <a:prstGeom prst="roundRect">
                <a:avLst/>
              </a:prstGeom>
              <a:solidFill>
                <a:srgbClr val="D4C08E"/>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1" vertOverflow="overflow" horzOverflow="overflow" vert="horz" wrap="square" lIns="68580" tIns="68580" rIns="68580" bIns="68580" numCol="1" spcCol="38100" rtlCol="0" anchor="ctr">
                <a:spAutoFit/>
              </a:bodyPr>
              <a:lstStyle/>
              <a:p>
                <a:pPr algn="ctr"/>
                <a:r>
                  <a:rPr lang="en-US" sz="2800">
                    <a:solidFill>
                      <a:schemeClr val="bg1"/>
                    </a:solidFill>
                  </a:rPr>
                  <a:t>2.61 kV</a:t>
                </a:r>
              </a:p>
            </p:txBody>
          </p:sp>
          <p:pic>
            <p:nvPicPr>
              <p:cNvPr id="55" name="Picture 54">
                <a:extLst>
                  <a:ext uri="{FF2B5EF4-FFF2-40B4-BE49-F238E27FC236}">
                    <a16:creationId xmlns:a16="http://schemas.microsoft.com/office/drawing/2014/main" id="{02603E02-09CF-5D49-33C0-2B7B06419AC7}"/>
                  </a:ext>
                </a:extLst>
              </p:cNvPr>
              <p:cNvPicPr>
                <a:picLocks noChangeAspect="1"/>
              </p:cNvPicPr>
              <p:nvPr/>
            </p:nvPicPr>
            <p:blipFill>
              <a:blip r:embed="rId20"/>
              <a:stretch>
                <a:fillRect/>
              </a:stretch>
            </p:blipFill>
            <p:spPr>
              <a:xfrm>
                <a:off x="30318427" y="19477642"/>
                <a:ext cx="6438538" cy="4919472"/>
              </a:xfrm>
              <a:prstGeom prst="roundRect">
                <a:avLst/>
              </a:prstGeom>
            </p:spPr>
          </p:pic>
        </p:grpSp>
        <p:grpSp>
          <p:nvGrpSpPr>
            <p:cNvPr id="97" name="Group 96">
              <a:extLst>
                <a:ext uri="{FF2B5EF4-FFF2-40B4-BE49-F238E27FC236}">
                  <a16:creationId xmlns:a16="http://schemas.microsoft.com/office/drawing/2014/main" id="{BFCC48DD-4099-388F-F4DB-523D0449E7F8}"/>
                </a:ext>
              </a:extLst>
            </p:cNvPr>
            <p:cNvGrpSpPr/>
            <p:nvPr/>
          </p:nvGrpSpPr>
          <p:grpSpPr>
            <a:xfrm>
              <a:off x="29908273" y="19242774"/>
              <a:ext cx="13294962" cy="1062806"/>
              <a:chOff x="29697343" y="19162103"/>
              <a:chExt cx="13294962" cy="1062806"/>
            </a:xfrm>
          </p:grpSpPr>
          <p:sp>
            <p:nvSpPr>
              <p:cNvPr id="92" name="TextBox 91">
                <a:extLst>
                  <a:ext uri="{FF2B5EF4-FFF2-40B4-BE49-F238E27FC236}">
                    <a16:creationId xmlns:a16="http://schemas.microsoft.com/office/drawing/2014/main" id="{9F0FF433-5B84-6EB9-0175-ACE820703FC6}"/>
                  </a:ext>
                </a:extLst>
              </p:cNvPr>
              <p:cNvSpPr txBox="1"/>
              <p:nvPr/>
            </p:nvSpPr>
            <p:spPr>
              <a:xfrm>
                <a:off x="29697343" y="19162103"/>
                <a:ext cx="6983966" cy="1062806"/>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3600" b="1" dirty="0">
                    <a:solidFill>
                      <a:schemeClr val="bg2">
                        <a:lumMod val="10000"/>
                      </a:schemeClr>
                    </a:solidFill>
                    <a:latin typeface="Arial" panose="020B0604020202020204" pitchFamily="34" charset="0"/>
                    <a:cs typeface="Arial" panose="020B0604020202020204" pitchFamily="34" charset="0"/>
                    <a:sym typeface="Helvetica Neue"/>
                  </a:rPr>
                  <a:t>Electron Beam Density</a:t>
                </a:r>
              </a:p>
            </p:txBody>
          </p:sp>
          <p:sp>
            <p:nvSpPr>
              <p:cNvPr id="96" name="TextBox 95">
                <a:extLst>
                  <a:ext uri="{FF2B5EF4-FFF2-40B4-BE49-F238E27FC236}">
                    <a16:creationId xmlns:a16="http://schemas.microsoft.com/office/drawing/2014/main" id="{F2378365-9421-2CA0-ED17-32C9205C3B8E}"/>
                  </a:ext>
                </a:extLst>
              </p:cNvPr>
              <p:cNvSpPr txBox="1"/>
              <p:nvPr/>
            </p:nvSpPr>
            <p:spPr>
              <a:xfrm>
                <a:off x="36699471" y="19162103"/>
                <a:ext cx="6292834" cy="1062806"/>
              </a:xfrm>
              <a:prstGeom prst="rect">
                <a:avLst/>
              </a:prstGeom>
              <a:noFill/>
              <a:ln w="5080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19456" tIns="219456" rIns="219456" bIns="219456" rtlCol="0" anchor="t">
                <a:noAutofit/>
              </a:bodyPr>
              <a:lstStyle/>
              <a:p>
                <a:pPr algn="ctr"/>
                <a:r>
                  <a:rPr lang="en-US" sz="3600" b="1" dirty="0">
                    <a:solidFill>
                      <a:schemeClr val="bg2">
                        <a:lumMod val="10000"/>
                      </a:schemeClr>
                    </a:solidFill>
                    <a:latin typeface="Arial" panose="020B0604020202020204" pitchFamily="34" charset="0"/>
                    <a:cs typeface="Arial" panose="020B0604020202020204" pitchFamily="34" charset="0"/>
                    <a:sym typeface="Helvetica Neue"/>
                  </a:rPr>
                  <a:t>Potential Distribution</a:t>
                </a:r>
              </a:p>
            </p:txBody>
          </p:sp>
        </p:grpSp>
      </p:grpSp>
      <p:sp>
        <p:nvSpPr>
          <p:cNvPr id="104" name="TextBox 103">
            <a:extLst>
              <a:ext uri="{FF2B5EF4-FFF2-40B4-BE49-F238E27FC236}">
                <a16:creationId xmlns:a16="http://schemas.microsoft.com/office/drawing/2014/main" id="{F0B984B2-54E2-3E50-C5AA-BC7A38C7D6BC}"/>
              </a:ext>
            </a:extLst>
          </p:cNvPr>
          <p:cNvSpPr txBox="1"/>
          <p:nvPr/>
        </p:nvSpPr>
        <p:spPr>
          <a:xfrm>
            <a:off x="29970136" y="7539762"/>
            <a:ext cx="2162627" cy="914400"/>
          </a:xfrm>
          <a:prstGeom prst="rect">
            <a:avLst/>
          </a:prstGeom>
          <a:noFill/>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19456" tIns="219456" rIns="219456" bIns="219456" rtlCol="0" anchor="t">
            <a:noAutofit/>
          </a:bodyPr>
          <a:lstStyle/>
          <a:p>
            <a:pPr algn="ctr"/>
            <a:r>
              <a:rPr lang="en-US" sz="3200" b="1" dirty="0">
                <a:solidFill>
                  <a:schemeClr val="bg1"/>
                </a:solidFill>
                <a:latin typeface="Arial" panose="020B0604020202020204" pitchFamily="34" charset="0"/>
                <a:ea typeface="+mn-ea"/>
                <a:cs typeface="Arial" panose="020B0604020202020204" pitchFamily="34" charset="0"/>
                <a:sym typeface="Helvetica Neue"/>
              </a:rPr>
              <a:t>Target</a:t>
            </a:r>
          </a:p>
        </p:txBody>
      </p:sp>
      <p:cxnSp>
        <p:nvCxnSpPr>
          <p:cNvPr id="105" name="Straight Arrow Connector 104">
            <a:extLst>
              <a:ext uri="{FF2B5EF4-FFF2-40B4-BE49-F238E27FC236}">
                <a16:creationId xmlns:a16="http://schemas.microsoft.com/office/drawing/2014/main" id="{03F3D3B9-89A8-7E77-331C-051180FFF889}"/>
              </a:ext>
            </a:extLst>
          </p:cNvPr>
          <p:cNvCxnSpPr>
            <a:cxnSpLocks/>
          </p:cNvCxnSpPr>
          <p:nvPr/>
        </p:nvCxnSpPr>
        <p:spPr>
          <a:xfrm>
            <a:off x="31819181" y="8185768"/>
            <a:ext cx="834962" cy="407614"/>
          </a:xfrm>
          <a:prstGeom prst="straightConnector1">
            <a:avLst/>
          </a:prstGeom>
          <a:noFill/>
          <a:ln w="57150" cap="flat">
            <a:solidFill>
              <a:srgbClr val="F2F2F2"/>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07" name="TextBox 106">
            <a:extLst>
              <a:ext uri="{FF2B5EF4-FFF2-40B4-BE49-F238E27FC236}">
                <a16:creationId xmlns:a16="http://schemas.microsoft.com/office/drawing/2014/main" id="{24E7DF91-06B8-67BD-9A01-B8AD62964D03}"/>
              </a:ext>
            </a:extLst>
          </p:cNvPr>
          <p:cNvSpPr txBox="1"/>
          <p:nvPr/>
        </p:nvSpPr>
        <p:spPr>
          <a:xfrm>
            <a:off x="29814269" y="9275721"/>
            <a:ext cx="2162627" cy="914400"/>
          </a:xfrm>
          <a:prstGeom prst="rect">
            <a:avLst/>
          </a:prstGeom>
          <a:noFill/>
          <a:ln w="508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19456" tIns="219456" rIns="219456" bIns="219456" rtlCol="0" anchor="t">
            <a:noAutofit/>
          </a:bodyPr>
          <a:lstStyle/>
          <a:p>
            <a:pPr algn="ctr"/>
            <a:r>
              <a:rPr lang="en-US" sz="3200" b="1" dirty="0">
                <a:solidFill>
                  <a:schemeClr val="bg1"/>
                </a:solidFill>
                <a:latin typeface="Arial" panose="020B0604020202020204" pitchFamily="34" charset="0"/>
                <a:ea typeface="+mn-ea"/>
                <a:cs typeface="Arial" panose="020B0604020202020204" pitchFamily="34" charset="0"/>
                <a:sym typeface="Helvetica Neue"/>
              </a:rPr>
              <a:t>Servicer</a:t>
            </a:r>
          </a:p>
        </p:txBody>
      </p:sp>
      <p:cxnSp>
        <p:nvCxnSpPr>
          <p:cNvPr id="108" name="Straight Arrow Connector 107">
            <a:extLst>
              <a:ext uri="{FF2B5EF4-FFF2-40B4-BE49-F238E27FC236}">
                <a16:creationId xmlns:a16="http://schemas.microsoft.com/office/drawing/2014/main" id="{0737E60F-97EF-6C38-0ED2-398E10983173}"/>
              </a:ext>
            </a:extLst>
          </p:cNvPr>
          <p:cNvCxnSpPr>
            <a:cxnSpLocks/>
          </p:cNvCxnSpPr>
          <p:nvPr/>
        </p:nvCxnSpPr>
        <p:spPr>
          <a:xfrm>
            <a:off x="31819181" y="9926617"/>
            <a:ext cx="834962" cy="564832"/>
          </a:xfrm>
          <a:prstGeom prst="straightConnector1">
            <a:avLst/>
          </a:prstGeom>
          <a:noFill/>
          <a:ln w="57150" cap="flat">
            <a:solidFill>
              <a:srgbClr val="F2F2F2"/>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19" name="Picture 118">
            <a:extLst>
              <a:ext uri="{FF2B5EF4-FFF2-40B4-BE49-F238E27FC236}">
                <a16:creationId xmlns:a16="http://schemas.microsoft.com/office/drawing/2014/main" id="{08A229E1-54BD-0D65-BF7C-C832505A523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6033667" y="23247630"/>
            <a:ext cx="11792737" cy="7925316"/>
          </a:xfrm>
          <a:prstGeom prst="rect">
            <a:avLst/>
          </a:prstGeom>
        </p:spPr>
      </p:pic>
    </p:spTree>
    <p:extLst>
      <p:ext uri="{BB962C8B-B14F-4D97-AF65-F5344CB8AC3E}">
        <p14:creationId xmlns:p14="http://schemas.microsoft.com/office/powerpoint/2010/main" val="279787355"/>
      </p:ext>
    </p:extLst>
  </p:cSld>
  <p:clrMapOvr>
    <a:masterClrMapping/>
  </p:clrMapOvr>
  <p:transition spd="med"/>
</p:sld>
</file>

<file path=ppt/theme/theme1.xml><?xml version="1.0" encoding="utf-8"?>
<a:theme xmlns:a="http://schemas.openxmlformats.org/drawingml/2006/main" name="White">
  <a:themeElements>
    <a:clrScheme name="White">
      <a:dk1>
        <a:srgbClr val="515151"/>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215900" dist="50800" rotWithShape="0">
              <a:srgbClr val="000000">
                <a:alpha val="50000"/>
              </a:srgbClr>
            </a:outerShdw>
          </a:effectLst>
        </a:effectStyle>
        <a:effectStyle>
          <a:effectLst>
            <a:outerShdw blurRad="152400" dist="1016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alpha val="50000"/>
          </a:schemeClr>
        </a:solidFill>
        <a:ln w="50800" cap="flat">
          <a:noFill/>
          <a:prstDash val="solid"/>
          <a:miter lim="400000"/>
        </a:ln>
        <a:effectLst/>
        <a:sp3d/>
      </a:spPr>
      <a:bodyPr rot="0" spcFirstLastPara="1" vertOverflow="overflow" horzOverflow="overflow" vert="horz" wrap="square" lIns="164592" tIns="164592" rIns="164592" bIns="164592" numCol="1" spcCol="38100" rtlCol="0" anchor="ctr">
        <a:spAutoFit/>
      </a:bodyPr>
      <a:lstStyle>
        <a:defPPr marL="0" marR="0" indent="0" algn="ctr" defTabSz="1975104" rtl="0" fontAlgn="auto" latinLnBrk="0" hangingPunct="0">
          <a:lnSpc>
            <a:spcPct val="100000"/>
          </a:lnSpc>
          <a:spcBef>
            <a:spcPts val="0"/>
          </a:spcBef>
          <a:spcAft>
            <a:spcPts val="0"/>
          </a:spcAft>
          <a:buClrTx/>
          <a:buSzTx/>
          <a:buFontTx/>
          <a:buNone/>
          <a:tabLst/>
          <a:defRPr kumimoji="0" sz="3600" b="0" i="0" u="none" strike="noStrike" cap="none" spc="0" normalizeH="0" baseline="0" dirty="0">
            <a:ln>
              <a:noFill/>
            </a:ln>
            <a:solidFill>
              <a:schemeClr val="bg2">
                <a:lumMod val="10000"/>
              </a:schemeClr>
            </a:solidFill>
            <a:effectLst/>
            <a:uFillTx/>
            <a:latin typeface="Helvetica Neue Light"/>
            <a:ea typeface="Helvetica Neue Light"/>
            <a:cs typeface="+mn-cs"/>
            <a:sym typeface="Helvetica Neue Light"/>
          </a:defRPr>
        </a:defPPr>
      </a:lstStyle>
      <a:style>
        <a:lnRef idx="0">
          <a:scrgbClr r="0" g="0" b="0"/>
        </a:lnRef>
        <a:fillRef idx="0">
          <a:scrgbClr r="0" g="0" b="0"/>
        </a:fillRef>
        <a:effectRef idx="0">
          <a:scrgbClr r="0" g="0" b="0"/>
        </a:effectRef>
        <a:fontRef idx="none"/>
      </a:style>
    </a:spDef>
    <a:lnDef>
      <a:spPr>
        <a:noFill/>
        <a:ln w="1016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solidFill>
          <a:schemeClr val="bg1">
            <a:lumMod val="95000"/>
          </a:schemeClr>
        </a:solidFill>
        <a:ln w="50800">
          <a:miter lim="400000"/>
        </a:ln>
        <a:extLst>
          <a:ext uri="{C572A759-6A51-4108-AA02-DFA0A04FC94B}">
            <ma14:wrappingTextBoxFlag xmlns:r="http://schemas.openxmlformats.org/officeDocument/2006/relationships" xmlns:ma14="http://schemas.microsoft.com/office/mac/drawingml/2011/main" xmlns:a14="http://schemas.microsoft.com/office/drawing/2010/main" xmlns:m="http://schemas.openxmlformats.org/officeDocument/2006/math" xmlns="" xmlns:p="http://schemas.openxmlformats.org/presentationml/2006/main" val="1"/>
          </a:ext>
        </a:extLst>
      </a:spPr>
      <a:bodyPr lIns="219456" tIns="219456" rIns="219456" bIns="219456" anchor="t">
        <a:noAutofit/>
      </a:bodyPr>
      <a:lstStyle>
        <a:defPPr algn="ctr">
          <a:defRPr sz="5600" b="1">
            <a:solidFill>
              <a:srgbClr val="000000"/>
            </a:solidFill>
            <a:latin typeface="Helvetica Neue"/>
            <a:ea typeface="+mn-ea"/>
            <a:cs typeface="+mn-cs"/>
            <a:sym typeface="Helvetica Neue"/>
          </a:defRPr>
        </a:defPPr>
      </a:lst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215900" dist="50800" rotWithShape="0">
              <a:srgbClr val="000000">
                <a:alpha val="50000"/>
              </a:srgbClr>
            </a:outerShdw>
          </a:effectLst>
        </a:effectStyle>
        <a:effectStyle>
          <a:effectLst>
            <a:outerShdw blurRad="152400" dist="1016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9B37C">
            <a:alpha val="50000"/>
          </a:srgbClr>
        </a:solidFill>
        <a:ln w="50800" cap="flat">
          <a:solidFill>
            <a:srgbClr val="000000"/>
          </a:solidFill>
          <a:prstDash val="solid"/>
          <a:miter lim="400000"/>
        </a:ln>
        <a:effectLst/>
        <a:sp3d/>
      </a:spPr>
      <a:bodyPr rot="0" spcFirstLastPara="1" vertOverflow="overflow" horzOverflow="overflow" vert="horz" wrap="square" lIns="164592" tIns="164592" rIns="164592" bIns="164592" numCol="1" spcCol="38100" rtlCol="0" anchor="ctr">
        <a:spAutoFit/>
      </a:bodyPr>
      <a:lstStyle>
        <a:defPPr marL="0" marR="0" indent="0" algn="ctr" defTabSz="1975104" rtl="0" fontAlgn="auto" latinLnBrk="0" hangingPunct="0">
          <a:lnSpc>
            <a:spcPct val="100000"/>
          </a:lnSpc>
          <a:spcBef>
            <a:spcPts val="0"/>
          </a:spcBef>
          <a:spcAft>
            <a:spcPts val="0"/>
          </a:spcAft>
          <a:buClrTx/>
          <a:buSzTx/>
          <a:buFontTx/>
          <a:buNone/>
          <a:tabLst/>
          <a:defRPr kumimoji="0" sz="12000" b="0" i="0" u="none" strike="noStrike" cap="none" spc="0" normalizeH="0" baseline="0">
            <a:ln>
              <a:noFill/>
            </a:ln>
            <a:solidFill>
              <a:srgbClr val="000000"/>
            </a:solidFill>
            <a:effectLst/>
            <a:uFillTx/>
            <a:latin typeface="Helvetica Neue Light"/>
            <a:ea typeface="Helvetica Neue Light"/>
            <a:cs typeface="Helvetica Neue Light"/>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016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50800" cap="flat">
          <a:noFill/>
          <a:miter lim="400000"/>
        </a:ln>
        <a:effectLst/>
        <a:sp3d/>
      </a:spPr>
      <a:bodyPr rot="0" spcFirstLastPara="1" vertOverflow="overflow" horzOverflow="overflow" vert="horz" wrap="square" lIns="219456" tIns="219456" rIns="219456" bIns="219456" numCol="1" spcCol="38100" rtlCol="0" anchor="ctr">
        <a:spAutoFit/>
      </a:bodyPr>
      <a:lstStyle>
        <a:defPPr marL="0" marR="0" indent="0" algn="l" defTabSz="1975104" rtl="0" fontAlgn="auto" latinLnBrk="0" hangingPunct="0">
          <a:lnSpc>
            <a:spcPct val="100000"/>
          </a:lnSpc>
          <a:spcBef>
            <a:spcPts val="0"/>
          </a:spcBef>
          <a:spcAft>
            <a:spcPts val="0"/>
          </a:spcAft>
          <a:buClrTx/>
          <a:buSzTx/>
          <a:buFontTx/>
          <a:buNone/>
          <a:tabLst/>
          <a:defRPr kumimoji="0" sz="7600" b="0" i="0" u="none" strike="noStrike" cap="none" spc="0" normalizeH="0" baseline="0">
            <a:ln>
              <a:noFill/>
            </a:ln>
            <a:solidFill>
              <a:srgbClr val="515151"/>
            </a:solidFill>
            <a:effectLst/>
            <a:uFillTx/>
            <a:latin typeface="Helvetica Neue Light"/>
            <a:ea typeface="Helvetica Neue Light"/>
            <a:cs typeface="Helvetica Neue Light"/>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0cb8897-5080-4fc6-9582-68b33b09d6d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0854D7290B9744F91B1CD98719F00A0" ma:contentTypeVersion="8" ma:contentTypeDescription="Create a new document." ma:contentTypeScope="" ma:versionID="212b201656fc5c1a7ad06807d126c92b">
  <xsd:schema xmlns:xsd="http://www.w3.org/2001/XMLSchema" xmlns:xs="http://www.w3.org/2001/XMLSchema" xmlns:p="http://schemas.microsoft.com/office/2006/metadata/properties" xmlns:ns3="c0cb8897-5080-4fc6-9582-68b33b09d6dd" xmlns:ns4="18dca6a7-99f2-44dc-8de8-69180754b56b" targetNamespace="http://schemas.microsoft.com/office/2006/metadata/properties" ma:root="true" ma:fieldsID="bfbf520ebce37b2eeaa3d9f75cf402c3" ns3:_="" ns4:_="">
    <xsd:import namespace="c0cb8897-5080-4fc6-9582-68b33b09d6dd"/>
    <xsd:import namespace="18dca6a7-99f2-44dc-8de8-69180754b56b"/>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b8897-5080-4fc6-9582-68b33b09d6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8dca6a7-99f2-44dc-8de8-69180754b56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821AD5-7BC9-4D8E-A289-81FA55A2D21E}">
  <ds:schemaRefs>
    <ds:schemaRef ds:uri="http://purl.org/dc/terms/"/>
    <ds:schemaRef ds:uri="http://schemas.microsoft.com/office/2006/documentManagement/types"/>
    <ds:schemaRef ds:uri="http://schemas.openxmlformats.org/package/2006/metadata/core-properties"/>
    <ds:schemaRef ds:uri="http://www.w3.org/XML/1998/namespace"/>
    <ds:schemaRef ds:uri="c0cb8897-5080-4fc6-9582-68b33b09d6dd"/>
    <ds:schemaRef ds:uri="http://purl.org/dc/elements/1.1/"/>
    <ds:schemaRef ds:uri="http://purl.org/dc/dcmitype/"/>
    <ds:schemaRef ds:uri="http://schemas.microsoft.com/office/infopath/2007/PartnerControls"/>
    <ds:schemaRef ds:uri="18dca6a7-99f2-44dc-8de8-69180754b56b"/>
    <ds:schemaRef ds:uri="http://schemas.microsoft.com/office/2006/metadata/properties"/>
  </ds:schemaRefs>
</ds:datastoreItem>
</file>

<file path=customXml/itemProps2.xml><?xml version="1.0" encoding="utf-8"?>
<ds:datastoreItem xmlns:ds="http://schemas.openxmlformats.org/officeDocument/2006/customXml" ds:itemID="{206D0D32-F433-41BC-A268-76E36A1D77CF}">
  <ds:schemaRefs>
    <ds:schemaRef ds:uri="http://schemas.microsoft.com/sharepoint/v3/contenttype/forms"/>
  </ds:schemaRefs>
</ds:datastoreItem>
</file>

<file path=customXml/itemProps3.xml><?xml version="1.0" encoding="utf-8"?>
<ds:datastoreItem xmlns:ds="http://schemas.openxmlformats.org/officeDocument/2006/customXml" ds:itemID="{FC358871-9E43-4022-B5AB-ECD7236ED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b8897-5080-4fc6-9582-68b33b09d6dd"/>
    <ds:schemaRef ds:uri="18dca6a7-99f2-44dc-8de8-69180754b5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otalTime>571</TotalTime>
  <Words>611</Words>
  <Application>Microsoft Macintosh PowerPoint</Application>
  <PresentationFormat>Custom</PresentationFormat>
  <Paragraphs>83</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Cambria Math</vt:lpstr>
      <vt:lpstr>Courier New</vt:lpstr>
      <vt:lpstr>Helvetica Neue</vt:lpstr>
      <vt:lpstr>Helvetica Neue Light</vt:lpstr>
      <vt:lpstr>Lucida Grande</vt:lpstr>
      <vt:lpstr>White</vt:lpstr>
      <vt:lpstr>Electrostatic Tractor Supercharging in Cislunar Space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Landon Holligan</cp:lastModifiedBy>
  <cp:revision>64</cp:revision>
  <dcterms:modified xsi:type="dcterms:W3CDTF">2026-09-11T16:50:15Z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0x01010080854D7290B9744F91B1CD98719F00A0</vt:lpwstr>
  </property>
</Properties>
</file>