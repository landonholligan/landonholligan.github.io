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25"/>
  </p:notesMasterIdLst>
  <p:sldIdLst>
    <p:sldId id="297" r:id="rId5"/>
    <p:sldId id="313" r:id="rId6"/>
    <p:sldId id="312" r:id="rId7"/>
    <p:sldId id="321" r:id="rId8"/>
    <p:sldId id="314" r:id="rId9"/>
    <p:sldId id="323" r:id="rId10"/>
    <p:sldId id="315" r:id="rId11"/>
    <p:sldId id="316" r:id="rId12"/>
    <p:sldId id="317" r:id="rId13"/>
    <p:sldId id="318" r:id="rId14"/>
    <p:sldId id="322" r:id="rId15"/>
    <p:sldId id="319" r:id="rId16"/>
    <p:sldId id="320" r:id="rId17"/>
    <p:sldId id="324" r:id="rId18"/>
    <p:sldId id="326" r:id="rId19"/>
    <p:sldId id="328" r:id="rId20"/>
    <p:sldId id="332" r:id="rId21"/>
    <p:sldId id="330" r:id="rId22"/>
    <p:sldId id="325" r:id="rId23"/>
    <p:sldId id="331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667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5334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8001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10668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3335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6129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8796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2146300" algn="l" defTabSz="82296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51515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7B8C13-79D0-6069-1EA9-3B8720470D40}" name="Kaylee Champion" initials="KC" userId="S::kach7227@colorado.edu::b81a996a-c71a-414d-9fd8-e683e7f6c7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BA48"/>
    <a:srgbClr val="FF00FF"/>
    <a:srgbClr val="990000"/>
    <a:srgbClr val="D4C08E"/>
    <a:srgbClr val="CC00FF"/>
    <a:srgbClr val="7FB28F"/>
    <a:srgbClr val="FF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F749B-A9CE-3E46-A150-D66A38B77295}" v="267" dt="2026-03-13T23:10:23.985"/>
    <p1510:client id="{F8701850-F44E-4400-9A5B-8DAED873E95B}" v="22" dt="2026-03-13T20:33:41.291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60" d="100"/>
          <a:sy n="60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54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9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AuroraBorealis.jpg" descr="AuroraBoreal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717" y="-2280058"/>
            <a:ext cx="24636248" cy="18276116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Line"/>
          <p:cNvSpPr/>
          <p:nvPr/>
        </p:nvSpPr>
        <p:spPr>
          <a:xfrm>
            <a:off x="3962400" y="6675119"/>
            <a:ext cx="16459200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tIns="91439" bIns="91439" anchor="ctr"/>
          <a:lstStyle/>
          <a:p>
            <a:pPr>
              <a:defRPr sz="2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1755457" y="1851660"/>
            <a:ext cx="20873086" cy="4457701"/>
          </a:xfrm>
          <a:prstGeom prst="rect">
            <a:avLst/>
          </a:prstGeom>
          <a:effectLst/>
        </p:spPr>
        <p:txBody>
          <a:bodyPr anchor="b"/>
          <a:lstStyle>
            <a:lvl1pPr algn="ctr">
              <a:defRPr sz="8600">
                <a:solidFill>
                  <a:srgbClr val="C9B37C"/>
                </a:solidFill>
                <a:uFill>
                  <a:solidFill>
                    <a:srgbClr val="A5311D"/>
                  </a:solidFill>
                </a:uFill>
              </a:defRPr>
            </a:lvl1pPr>
          </a:lstStyle>
          <a:p>
            <a:pPr>
              <a:defRPr>
                <a:effectLst/>
              </a:defRPr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791739" y="7063740"/>
            <a:ext cx="20800522" cy="4457701"/>
          </a:xfrm>
          <a:prstGeom prst="rect">
            <a:avLst/>
          </a:prstGeom>
          <a:effectLst>
            <a:outerShdw blurRad="38100" dist="38100" dir="2700000" rotWithShape="0">
              <a:srgbClr val="2F2F2F">
                <a:alpha val="75000"/>
              </a:srgbClr>
            </a:outerShdw>
          </a:effectLst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3800">
                <a:solidFill>
                  <a:srgbClr val="FFFFFF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3800">
                <a:solidFill>
                  <a:srgbClr val="FFFFFF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3800">
                <a:solidFill>
                  <a:srgbClr val="FFFFFF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38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01481" y="12961619"/>
            <a:ext cx="404064" cy="4101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098" y="141169"/>
            <a:ext cx="3816445" cy="23962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7125E0-3AAF-104A-9387-C6EB0C9F65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82" y="11553812"/>
            <a:ext cx="8675994" cy="1558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E18E8-3820-ED4A-B630-AB7F34621C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43182" y="141168"/>
            <a:ext cx="2519218" cy="2030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roraBorealis.jpg" descr="AuroraBorealis.jpg"/>
          <p:cNvPicPr>
            <a:picLocks noChangeAspect="1"/>
          </p:cNvPicPr>
          <p:nvPr/>
        </p:nvPicPr>
        <p:blipFill>
          <a:blip r:embed="rId4"/>
          <a:srcRect l="11603" t="38934" b="42328"/>
          <a:stretch>
            <a:fillRect/>
          </a:stretch>
        </p:blipFill>
        <p:spPr>
          <a:xfrm>
            <a:off x="-72414" y="-2019641"/>
            <a:ext cx="24508404" cy="389625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ffectLst>
            <a:reflection stA="50000" endPos="40000" dir="5400000" sy="-100000" algn="bl" rotWithShape="0"/>
          </a:effectLst>
        </p:spPr>
      </p:pic>
      <p:sp>
        <p:nvSpPr>
          <p:cNvPr id="3" name="22nd AAS/AIAA Space Flight Mechanics Meeting, Charleston, SC, January 29 - February 2, 2012"/>
          <p:cNvSpPr txBox="1"/>
          <p:nvPr/>
        </p:nvSpPr>
        <p:spPr>
          <a:xfrm>
            <a:off x="3833345" y="12915900"/>
            <a:ext cx="16687801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>
            <a:spAutoFit/>
          </a:bodyPr>
          <a:lstStyle/>
          <a:p>
            <a:pPr algn="ctr">
              <a:defRPr sz="2000">
                <a:solidFill>
                  <a:srgbClr val="919191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AVS DLA Presentation</a:t>
            </a:r>
            <a:r>
              <a:rPr lang="en-US"/>
              <a:t>, Spring 2026</a:t>
            </a: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124815" y="-12700"/>
            <a:ext cx="19396330" cy="1887969"/>
          </a:xfrm>
          <a:prstGeom prst="rect">
            <a:avLst/>
          </a:prstGeom>
          <a:ln w="12700">
            <a:miter lim="400000"/>
          </a:ln>
          <a:effectLst>
            <a:outerShdw blurRad="177800" dist="88900" dir="2700000" rotWithShape="0">
              <a:srgbClr val="CBCBCB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913014" y="2265640"/>
            <a:ext cx="22557972" cy="10238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>
            <a:normAutofit/>
          </a:bodyPr>
          <a:lstStyle>
            <a:lvl2pPr marL="704144" indent="-361244">
              <a:spcBef>
                <a:spcPts val="1900"/>
              </a:spcBef>
              <a:defRPr sz="3200"/>
            </a:lvl2pPr>
            <a:lvl3pPr marL="1059744" indent="-361244">
              <a:spcBef>
                <a:spcPts val="1900"/>
              </a:spcBef>
              <a:defRPr sz="3200"/>
            </a:lvl3pPr>
            <a:lvl4pPr marL="1402644" indent="-361244">
              <a:spcBef>
                <a:spcPts val="1900"/>
              </a:spcBef>
              <a:defRPr sz="3200"/>
            </a:lvl4pPr>
            <a:lvl5pPr marL="1745544" indent="-361244">
              <a:spcBef>
                <a:spcPts val="19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34125" y="12961619"/>
            <a:ext cx="404064" cy="410160"/>
          </a:xfrm>
          <a:prstGeom prst="rect">
            <a:avLst/>
          </a:prstGeom>
          <a:ln w="12700">
            <a:miter lim="400000"/>
          </a:ln>
        </p:spPr>
        <p:txBody>
          <a:bodyPr wrap="none" lIns="68580" tIns="68580" rIns="68580" bIns="68580">
            <a:normAutofit/>
          </a:bodyPr>
          <a:lstStyle>
            <a:lvl1pPr algn="ctr"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56304" y="141169"/>
            <a:ext cx="2521263" cy="1583065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spd="med"/>
  <p:hf hdr="0" ftr="0" dt="0"/>
  <p:txStyles>
    <p:titleStyle>
      <a:lvl1pPr marL="0" marR="0" indent="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1" i="0" u="none" strike="noStrike" cap="none" spc="0" baseline="0">
          <a:ln>
            <a:noFill/>
          </a:ln>
          <a:solidFill>
            <a:srgbClr val="FFFFFF"/>
          </a:solidFill>
          <a:effectLst>
            <a:outerShdw blurRad="50800" dist="25400" dir="2700000" rotWithShape="0">
              <a:srgbClr val="000000">
                <a:alpha val="75000"/>
              </a:srgbClr>
            </a:outerShdw>
          </a:effectLst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50981" marR="0" indent="-350981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1pPr>
      <a:lvl2pPr marL="7718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2pPr>
      <a:lvl3pPr marL="11274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3pPr>
      <a:lvl4pPr marL="14703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4pPr>
      <a:lvl5pPr marL="18132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5pPr>
      <a:lvl6pPr marL="21561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6pPr>
      <a:lvl7pPr marL="24990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7pPr>
      <a:lvl8pPr marL="28419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8pPr>
      <a:lvl9pPr marL="3184877" marR="0" indent="-428977" algn="l" defTabSz="822960" rtl="0" eaLnBrk="1" latinLnBrk="0" hangingPunct="1">
        <a:lnSpc>
          <a:spcPct val="100000"/>
        </a:lnSpc>
        <a:spcBef>
          <a:spcPts val="4500"/>
        </a:spcBef>
        <a:spcAft>
          <a:spcPts val="0"/>
        </a:spcAft>
        <a:buClrTx/>
        <a:buSzPct val="100000"/>
        <a:buFontTx/>
        <a:buChar char="•"/>
        <a:tabLst/>
        <a:defRPr sz="3800" b="0" i="0" u="none" strike="noStrike" cap="none" spc="0" baseline="0">
          <a:ln>
            <a:noFill/>
          </a:ln>
          <a:solidFill>
            <a:srgbClr val="515151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82296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a.int/About_Us/ESOC/Space_debris_-_evolution_in_pictures?utm_source=chatgpt.com" TargetMode="External"/><Relationship Id="rId2" Type="http://schemas.openxmlformats.org/officeDocument/2006/relationships/hyperlink" Target="https://phys.org/news/2023-06-space-tractor-sci-fi.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hyperlink" Target="https://doi.org/10.13140/2.1.2588.8321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A27D-4DBE-48F8-8F52-137D676D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Electrostatic Tractor Supercharging in Cislunar 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A103A-AFE0-41E4-A92C-6E4B74846152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 lIns="68580" tIns="68580" rIns="68580" bIns="68580" anchor="t">
            <a:normAutofit/>
          </a:bodyPr>
          <a:lstStyle/>
          <a:p>
            <a:pPr algn="ctr">
              <a:defRPr b="1"/>
            </a:pPr>
            <a:r>
              <a:rPr lang="en-US"/>
              <a:t>Landon Holligan</a:t>
            </a:r>
          </a:p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EFDA0-986E-8D27-B218-14EC6AA148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4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D40A06A-B873-848E-8728-03C2AE87EFE5}"/>
              </a:ext>
            </a:extLst>
          </p:cNvPr>
          <p:cNvSpPr txBox="1">
            <a:spLocks/>
          </p:cNvSpPr>
          <p:nvPr/>
        </p:nvSpPr>
        <p:spPr>
          <a:xfrm>
            <a:off x="1124815" y="-12701"/>
            <a:ext cx="19396330" cy="1887969"/>
          </a:xfrm>
          <a:prstGeom prst="rect">
            <a:avLst/>
          </a:prstGeom>
          <a:ln w="12700">
            <a:miter lim="400000"/>
          </a:ln>
          <a:effectLst>
            <a:outerShdw blurRad="177800" dist="88900" dir="2700000" rotWithShape="0">
              <a:srgbClr val="CBCBCB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 anchor="ctr">
            <a:normAutofit/>
          </a:bodyPr>
          <a:lstStyle>
            <a:lvl1pPr marL="0" marR="0" indent="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11430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1371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1600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1828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Space Debris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10D20-D440-B396-D868-0BB92AF0E8A1}"/>
              </a:ext>
            </a:extLst>
          </p:cNvPr>
          <p:cNvSpPr txBox="1"/>
          <p:nvPr/>
        </p:nvSpPr>
        <p:spPr>
          <a:xfrm>
            <a:off x="-7439891" y="-11602298"/>
            <a:ext cx="184729" cy="677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51515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25760-6ED7-8F06-5319-1D4A0D7A31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BE5A0-498E-9250-C0DF-56C533F20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980" y="3477767"/>
            <a:ext cx="9939662" cy="763325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C326289-8022-D1B6-778B-6CD49DF7441F}"/>
              </a:ext>
            </a:extLst>
          </p:cNvPr>
          <p:cNvGrpSpPr/>
          <p:nvPr/>
        </p:nvGrpSpPr>
        <p:grpSpPr>
          <a:xfrm>
            <a:off x="2367871" y="3010585"/>
            <a:ext cx="7400359" cy="8567615"/>
            <a:chOff x="2325341" y="4012884"/>
            <a:chExt cx="7400359" cy="856761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8051DC5-A28E-0838-B2E8-D19EA981996D}"/>
                </a:ext>
              </a:extLst>
            </p:cNvPr>
            <p:cNvGrpSpPr/>
            <p:nvPr/>
          </p:nvGrpSpPr>
          <p:grpSpPr>
            <a:xfrm>
              <a:off x="2325342" y="4012884"/>
              <a:ext cx="7400358" cy="5722499"/>
              <a:chOff x="1174508" y="3695684"/>
              <a:chExt cx="7400358" cy="5722499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1CF3A1C-6BA8-B12E-5700-81CC629DACA1}"/>
                  </a:ext>
                </a:extLst>
              </p:cNvPr>
              <p:cNvSpPr/>
              <p:nvPr/>
            </p:nvSpPr>
            <p:spPr>
              <a:xfrm>
                <a:off x="1174509" y="3695684"/>
                <a:ext cx="7400357" cy="2196346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+mj-ea"/>
                  </a:rPr>
                  <a:t>Near Earth orbits are crowded with hundreds of thousands of pieces of debris 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B8FBF30-8836-A5E6-940E-21A1CFBC8194}"/>
                  </a:ext>
                </a:extLst>
              </p:cNvPr>
              <p:cNvSpPr/>
              <p:nvPr/>
            </p:nvSpPr>
            <p:spPr>
              <a:xfrm>
                <a:off x="1174508" y="6540800"/>
                <a:ext cx="7400357" cy="287738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+mj-ea"/>
                    <a:ea typeface="+mj-ea"/>
                  </a:rPr>
                  <a:t>With more mission objectives pointing toward Cislunar Space, </a:t>
                </a:r>
                <a:r>
                  <a:rPr lang="en-US" sz="4000" b="1" u="sng">
                    <a:solidFill>
                      <a:schemeClr val="tx1"/>
                    </a:solidFill>
                    <a:latin typeface="+mj-ea"/>
                    <a:ea typeface="+mj-ea"/>
                  </a:rPr>
                  <a:t>space debris</a:t>
                </a:r>
                <a:r>
                  <a:rPr lang="en-US" sz="4000" b="1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:r>
                  <a:rPr lang="en-US" sz="4000">
                    <a:solidFill>
                      <a:schemeClr val="tx1"/>
                    </a:solidFill>
                    <a:latin typeface="+mj-ea"/>
                    <a:ea typeface="+mj-ea"/>
                  </a:rPr>
                  <a:t>is a major concern</a:t>
                </a:r>
              </a:p>
            </p:txBody>
          </p:sp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3D2A22E-3A2A-896D-F46B-4D40903515B4}"/>
                </a:ext>
              </a:extLst>
            </p:cNvPr>
            <p:cNvSpPr/>
            <p:nvPr/>
          </p:nvSpPr>
          <p:spPr>
            <a:xfrm>
              <a:off x="2325341" y="10384153"/>
              <a:ext cx="7400357" cy="2196346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  <a:latin typeface="+mj-ea"/>
                  <a:ea typeface="+mj-ea"/>
                </a:rPr>
                <a:t>Highlights a need for safe debris removal/mitigation strategies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36311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2A3-11E8-385C-8B39-6483A1BC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Electrostatic Tractor Basics </a:t>
            </a:r>
          </a:p>
        </p:txBody>
      </p:sp>
      <p:pic>
        <p:nvPicPr>
          <p:cNvPr id="1026" name="Picture 2" descr="Space tractor beams may not be the stuff of sci-fi for long">
            <a:extLst>
              <a:ext uri="{FF2B5EF4-FFF2-40B4-BE49-F238E27FC236}">
                <a16:creationId xmlns:a16="http://schemas.microsoft.com/office/drawing/2014/main" id="{F6562802-F465-6E97-93F5-15B449457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9069" y="3273963"/>
            <a:ext cx="9252953" cy="716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E94F67D-F22C-6C7E-2F8C-0EBDD68CBA84}"/>
              </a:ext>
            </a:extLst>
          </p:cNvPr>
          <p:cNvGrpSpPr/>
          <p:nvPr/>
        </p:nvGrpSpPr>
        <p:grpSpPr>
          <a:xfrm>
            <a:off x="2141978" y="3821167"/>
            <a:ext cx="7583722" cy="5581029"/>
            <a:chOff x="14353951" y="4615947"/>
            <a:chExt cx="7583722" cy="558102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333250A-4177-8C52-F59F-B5FD8F2A7E58}"/>
                </a:ext>
              </a:extLst>
            </p:cNvPr>
            <p:cNvSpPr/>
            <p:nvPr/>
          </p:nvSpPr>
          <p:spPr>
            <a:xfrm>
              <a:off x="14353951" y="4615947"/>
              <a:ext cx="7583722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  <a:latin typeface="+mj-ea"/>
                  <a:ea typeface="+mj-ea"/>
                </a:rPr>
                <a:t>Servicer equipped with an electron beam 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881A6D8-529A-6BDB-6B9F-FAA9C36ADE85}"/>
                </a:ext>
              </a:extLst>
            </p:cNvPr>
            <p:cNvSpPr/>
            <p:nvPr/>
          </p:nvSpPr>
          <p:spPr>
            <a:xfrm>
              <a:off x="14353951" y="6989326"/>
              <a:ext cx="7583722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  <a:latin typeface="+mj-ea"/>
                  <a:ea typeface="+mj-ea"/>
                </a:rPr>
                <a:t>Servicer charges positive and target charges negative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5488D5D-E56F-D19C-786B-A7341B744D64}"/>
                </a:ext>
              </a:extLst>
            </p:cNvPr>
            <p:cNvSpPr/>
            <p:nvPr/>
          </p:nvSpPr>
          <p:spPr>
            <a:xfrm>
              <a:off x="14353951" y="9362705"/>
              <a:ext cx="7583722" cy="834271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  <a:latin typeface="+mj-ea"/>
                  <a:ea typeface="+mj-ea"/>
                </a:rPr>
                <a:t>Creates tugging force on target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C25FC-4DF2-E655-040C-03EA155A62B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651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5B0A-A7C6-AB03-7E79-B809F641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7C7B-0CE6-74C9-2C95-2C0D8BFE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Plasma Wakes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22CFCD-3D87-37C4-BABB-7C6B36A49DEA}"/>
              </a:ext>
            </a:extLst>
          </p:cNvPr>
          <p:cNvSpPr/>
          <p:nvPr/>
        </p:nvSpPr>
        <p:spPr>
          <a:xfrm>
            <a:off x="1568514" y="5091433"/>
            <a:ext cx="8688930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  <a:latin typeface="+mj-ea"/>
                <a:ea typeface="+mj-ea"/>
              </a:rPr>
              <a:t>Spacecraft “pushes” and absorbs ions as it flows through plasma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4DD71FF0-0036-7CD3-DC86-573A476BC67D}"/>
                  </a:ext>
                </a:extLst>
              </p:cNvPr>
              <p:cNvSpPr/>
              <p:nvPr/>
            </p:nvSpPr>
            <p:spPr>
              <a:xfrm>
                <a:off x="1551014" y="7289805"/>
                <a:ext cx="8688930" cy="1515308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+mj-ea"/>
                    <a:ea typeface="+mj-ea"/>
                  </a:rPr>
                  <a:t>Occurs in mesothermal plasma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𝑣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&lt;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400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4DD71FF0-0036-7CD3-DC86-573A476BC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14" y="7289805"/>
                <a:ext cx="8688930" cy="1515308"/>
              </a:xfrm>
              <a:prstGeom prst="roundRect">
                <a:avLst/>
              </a:prstGeom>
              <a:blipFill>
                <a:blip r:embed="rId2"/>
                <a:stretch>
                  <a:fillRect b="-10400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16128-BF2A-E9A8-08C2-7E5D0853D05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10D403-D8E8-7172-4243-D676E71A81B9}"/>
              </a:ext>
            </a:extLst>
          </p:cNvPr>
          <p:cNvGrpSpPr/>
          <p:nvPr/>
        </p:nvGrpSpPr>
        <p:grpSpPr>
          <a:xfrm>
            <a:off x="10822980" y="5169115"/>
            <a:ext cx="13853269" cy="3782681"/>
            <a:chOff x="10858501" y="5407401"/>
            <a:chExt cx="13853269" cy="3782681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BCF11871-9CBC-C46D-E4FE-9604B483D084}"/>
                </a:ext>
              </a:extLst>
            </p:cNvPr>
            <p:cNvSpPr/>
            <p:nvPr/>
          </p:nvSpPr>
          <p:spPr>
            <a:xfrm rot="16200000">
              <a:off x="12955966" y="3309936"/>
              <a:ext cx="3558421" cy="7753352"/>
            </a:xfrm>
            <a:prstGeom prst="triangle">
              <a:avLst/>
            </a:prstGeom>
            <a:solidFill>
              <a:schemeClr val="accent1">
                <a:lumMod val="75000"/>
                <a:alpha val="46000"/>
              </a:schemeClr>
            </a:solidFill>
            <a:ln w="12700" cap="flat">
              <a:noFill/>
              <a:prstDash val="solid"/>
              <a:miter lim="400000"/>
            </a:ln>
            <a:effectLst>
              <a:softEdge rad="7620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00E418-16DC-95BC-3225-D4AF14B83A07}"/>
                </a:ext>
              </a:extLst>
            </p:cNvPr>
            <p:cNvSpPr/>
            <p:nvPr/>
          </p:nvSpPr>
          <p:spPr>
            <a:xfrm>
              <a:off x="17228473" y="5407402"/>
              <a:ext cx="3270490" cy="3558421"/>
            </a:xfrm>
            <a:prstGeom prst="ellipse">
              <a:avLst/>
            </a:prstGeom>
            <a:gradFill flip="none" rotWithShape="1">
              <a:gsLst>
                <a:gs pos="100000">
                  <a:srgbClr val="0070C0"/>
                </a:gs>
                <a:gs pos="34000">
                  <a:schemeClr val="accent4">
                    <a:lumMod val="97000"/>
                    <a:lumOff val="3000"/>
                  </a:schemeClr>
                </a:gs>
                <a:gs pos="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5000" i="0" u="none" strike="noStrike" normalizeH="0" baseline="0">
                <a:solidFill>
                  <a:srgbClr val="000000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F1C8273-4511-4996-5DAD-9DC26F3C089C}"/>
                </a:ext>
              </a:extLst>
            </p:cNvPr>
            <p:cNvGrpSpPr/>
            <p:nvPr/>
          </p:nvGrpSpPr>
          <p:grpSpPr>
            <a:xfrm>
              <a:off x="21647534" y="7528091"/>
              <a:ext cx="3064236" cy="1661991"/>
              <a:chOff x="20485484" y="7467133"/>
              <a:chExt cx="3064236" cy="166199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E04AA8E-DA09-48B5-0C9C-1643ACD0D22E}"/>
                  </a:ext>
                </a:extLst>
              </p:cNvPr>
              <p:cNvSpPr/>
              <p:nvPr/>
            </p:nvSpPr>
            <p:spPr>
              <a:xfrm>
                <a:off x="20485484" y="7890095"/>
                <a:ext cx="1066801" cy="105233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marL="0" marR="0" indent="0" algn="ctr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6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06FD0-ECF2-17CC-1B32-AC73C05F0712}"/>
                  </a:ext>
                </a:extLst>
              </p:cNvPr>
              <p:cNvSpPr txBox="1"/>
              <p:nvPr/>
            </p:nvSpPr>
            <p:spPr>
              <a:xfrm>
                <a:off x="20754763" y="7467133"/>
                <a:ext cx="2794957" cy="16619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600" b="0" i="0" u="none" strike="noStrike" cap="none" spc="0" normalizeH="0" baseline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Helvetica Neue Light"/>
                    <a:ea typeface="Helvetica Neue Light"/>
                    <a:cs typeface="Helvetica Neue Light"/>
                    <a:sym typeface="Helvetica Neue Light"/>
                  </a:rPr>
                  <a:t>-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99E855-20E7-B449-280F-E90BBDE56BA4}"/>
              </a:ext>
            </a:extLst>
          </p:cNvPr>
          <p:cNvGrpSpPr/>
          <p:nvPr/>
        </p:nvGrpSpPr>
        <p:grpSpPr>
          <a:xfrm>
            <a:off x="15130390" y="6329314"/>
            <a:ext cx="1511906" cy="1345879"/>
            <a:chOff x="15130390" y="6329319"/>
            <a:chExt cx="1340126" cy="12380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094971-EC52-A822-5A82-0A66529990FB}"/>
                </a:ext>
              </a:extLst>
            </p:cNvPr>
            <p:cNvSpPr txBox="1"/>
            <p:nvPr/>
          </p:nvSpPr>
          <p:spPr>
            <a:xfrm>
              <a:off x="15307424" y="6530813"/>
              <a:ext cx="1163092" cy="738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anchor="ctr">
              <a:spAutoFit/>
            </a:bodyPr>
            <a:lstStyle/>
            <a:p>
              <a:pPr marL="0" marR="0" indent="0" algn="l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Ions</a:t>
              </a:r>
            </a:p>
          </p:txBody>
        </p:sp>
        <p:sp>
          <p:nvSpPr>
            <p:cNvPr id="16" name="&quot;Not Allowed&quot; Symbol 15">
              <a:extLst>
                <a:ext uri="{FF2B5EF4-FFF2-40B4-BE49-F238E27FC236}">
                  <a16:creationId xmlns:a16="http://schemas.microsoft.com/office/drawing/2014/main" id="{DAA6A768-FA05-A81A-F037-5CE80744CB64}"/>
                </a:ext>
              </a:extLst>
            </p:cNvPr>
            <p:cNvSpPr/>
            <p:nvPr/>
          </p:nvSpPr>
          <p:spPr>
            <a:xfrm>
              <a:off x="15130390" y="6329319"/>
              <a:ext cx="1340126" cy="1238014"/>
            </a:xfrm>
            <a:prstGeom prst="noSmoking">
              <a:avLst/>
            </a:prstGeom>
            <a:solidFill>
              <a:srgbClr val="FF0000">
                <a:alpha val="69000"/>
              </a:srgbClr>
            </a:solidFill>
            <a:ln w="12700" cap="flat">
              <a:noFill/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DC0E7F-DBED-6F2F-6C29-E9AAF4B66C28}"/>
              </a:ext>
            </a:extLst>
          </p:cNvPr>
          <p:cNvCxnSpPr>
            <a:cxnSpLocks/>
          </p:cNvCxnSpPr>
          <p:nvPr/>
        </p:nvCxnSpPr>
        <p:spPr>
          <a:xfrm flipH="1">
            <a:off x="20395312" y="7675199"/>
            <a:ext cx="127205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52136-AF88-440D-E464-D74267D8E143}"/>
              </a:ext>
            </a:extLst>
          </p:cNvPr>
          <p:cNvCxnSpPr>
            <a:cxnSpLocks/>
          </p:cNvCxnSpPr>
          <p:nvPr/>
        </p:nvCxnSpPr>
        <p:spPr>
          <a:xfrm flipH="1" flipV="1">
            <a:off x="19750072" y="4938053"/>
            <a:ext cx="1407100" cy="1221283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18FA7C8-C8C3-C01F-4217-793F349F0AFD}"/>
              </a:ext>
            </a:extLst>
          </p:cNvPr>
          <p:cNvSpPr/>
          <p:nvPr/>
        </p:nvSpPr>
        <p:spPr>
          <a:xfrm>
            <a:off x="18352396" y="3997366"/>
            <a:ext cx="1066801" cy="10523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A87599-CA8E-C538-9CC6-F64E6DB43AD1}"/>
              </a:ext>
            </a:extLst>
          </p:cNvPr>
          <p:cNvSpPr txBox="1"/>
          <p:nvPr/>
        </p:nvSpPr>
        <p:spPr>
          <a:xfrm>
            <a:off x="18621675" y="3574404"/>
            <a:ext cx="2794957" cy="1661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-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388358-19F9-3FF3-DBEE-E137C5BE42BC}"/>
              </a:ext>
            </a:extLst>
          </p:cNvPr>
          <p:cNvCxnSpPr>
            <a:cxnSpLocks/>
          </p:cNvCxnSpPr>
          <p:nvPr/>
        </p:nvCxnSpPr>
        <p:spPr>
          <a:xfrm flipH="1" flipV="1">
            <a:off x="17135249" y="7955280"/>
            <a:ext cx="1076551" cy="83058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8F2454-5A26-436A-8948-9CDD1CF3523E}"/>
              </a:ext>
            </a:extLst>
          </p:cNvPr>
          <p:cNvCxnSpPr>
            <a:cxnSpLocks/>
          </p:cNvCxnSpPr>
          <p:nvPr/>
        </p:nvCxnSpPr>
        <p:spPr>
          <a:xfrm flipH="1">
            <a:off x="16954479" y="4927384"/>
            <a:ext cx="1257321" cy="1122896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244165-5D3C-DA1F-EFAB-34B1622EB997}"/>
              </a:ext>
            </a:extLst>
          </p:cNvPr>
          <p:cNvCxnSpPr>
            <a:cxnSpLocks/>
          </p:cNvCxnSpPr>
          <p:nvPr/>
        </p:nvCxnSpPr>
        <p:spPr>
          <a:xfrm flipH="1">
            <a:off x="20463442" y="6500467"/>
            <a:ext cx="1272055" cy="0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ED82060-49E3-8C30-077A-46C66E9853FB}"/>
              </a:ext>
            </a:extLst>
          </p:cNvPr>
          <p:cNvCxnSpPr>
            <a:cxnSpLocks/>
          </p:cNvCxnSpPr>
          <p:nvPr/>
        </p:nvCxnSpPr>
        <p:spPr>
          <a:xfrm flipH="1">
            <a:off x="19409879" y="8151843"/>
            <a:ext cx="1548169" cy="868745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37CFD01-7CEE-9BF1-A1FA-AC98376DE88D}"/>
              </a:ext>
            </a:extLst>
          </p:cNvPr>
          <p:cNvCxnSpPr>
            <a:cxnSpLocks/>
          </p:cNvCxnSpPr>
          <p:nvPr/>
        </p:nvCxnSpPr>
        <p:spPr>
          <a:xfrm flipH="1">
            <a:off x="16470516" y="9234398"/>
            <a:ext cx="2105816" cy="0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5453F2C-0899-C18F-0E7E-D758DE7866DC}"/>
              </a:ext>
            </a:extLst>
          </p:cNvPr>
          <p:cNvCxnSpPr>
            <a:cxnSpLocks/>
          </p:cNvCxnSpPr>
          <p:nvPr/>
        </p:nvCxnSpPr>
        <p:spPr>
          <a:xfrm flipH="1">
            <a:off x="15888970" y="4599938"/>
            <a:ext cx="2130050" cy="191518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76BAEEF-E829-C652-9CBB-09DF9908461C}"/>
              </a:ext>
            </a:extLst>
          </p:cNvPr>
          <p:cNvCxnSpPr>
            <a:cxnSpLocks/>
          </p:cNvCxnSpPr>
          <p:nvPr/>
        </p:nvCxnSpPr>
        <p:spPr>
          <a:xfrm flipH="1">
            <a:off x="12504155" y="5330967"/>
            <a:ext cx="2059307" cy="828369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AF09DD7-0EFB-F7A8-52F6-C9A0DD15DC96}"/>
              </a:ext>
            </a:extLst>
          </p:cNvPr>
          <p:cNvCxnSpPr>
            <a:cxnSpLocks/>
          </p:cNvCxnSpPr>
          <p:nvPr/>
        </p:nvCxnSpPr>
        <p:spPr>
          <a:xfrm flipH="1" flipV="1">
            <a:off x="12504155" y="8151843"/>
            <a:ext cx="2525199" cy="635867"/>
          </a:xfrm>
          <a:prstGeom prst="straightConnector1">
            <a:avLst/>
          </a:prstGeom>
          <a:ln w="60325">
            <a:solidFill>
              <a:srgbClr val="00B0F0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16FE6DF-3547-92C2-05B9-B82BF8373C17}"/>
              </a:ext>
            </a:extLst>
          </p:cNvPr>
          <p:cNvSpPr/>
          <p:nvPr/>
        </p:nvSpPr>
        <p:spPr>
          <a:xfrm>
            <a:off x="21667367" y="5291784"/>
            <a:ext cx="1066801" cy="10523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D50500-B867-018A-F842-07C008AEAD59}"/>
              </a:ext>
            </a:extLst>
          </p:cNvPr>
          <p:cNvSpPr txBox="1"/>
          <p:nvPr/>
        </p:nvSpPr>
        <p:spPr>
          <a:xfrm>
            <a:off x="21793200" y="4941973"/>
            <a:ext cx="2794957" cy="1661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600">
                <a:solidFill>
                  <a:schemeClr val="bg2"/>
                </a:solidFill>
              </a:rPr>
              <a:t>+</a:t>
            </a:r>
            <a:endParaRPr kumimoji="0" lang="en-US" sz="9600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93CB4F-2697-605F-A067-C46055DF7D30}"/>
              </a:ext>
            </a:extLst>
          </p:cNvPr>
          <p:cNvSpPr/>
          <p:nvPr/>
        </p:nvSpPr>
        <p:spPr>
          <a:xfrm>
            <a:off x="15256945" y="8630425"/>
            <a:ext cx="1066801" cy="10523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6627B-5747-6E01-E042-42BF455D0B43}"/>
              </a:ext>
            </a:extLst>
          </p:cNvPr>
          <p:cNvSpPr txBox="1"/>
          <p:nvPr/>
        </p:nvSpPr>
        <p:spPr>
          <a:xfrm>
            <a:off x="15382778" y="8280614"/>
            <a:ext cx="2794957" cy="1661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600">
                <a:solidFill>
                  <a:schemeClr val="bg2"/>
                </a:solidFill>
              </a:rPr>
              <a:t>+</a:t>
            </a:r>
            <a:endParaRPr kumimoji="0" lang="en-US" sz="9600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B8D8713-550C-C955-A4BB-A763CE3B29E4}"/>
              </a:ext>
            </a:extLst>
          </p:cNvPr>
          <p:cNvCxnSpPr>
            <a:cxnSpLocks/>
          </p:cNvCxnSpPr>
          <p:nvPr/>
        </p:nvCxnSpPr>
        <p:spPr>
          <a:xfrm flipH="1">
            <a:off x="21416632" y="7223501"/>
            <a:ext cx="2077565" cy="0"/>
          </a:xfrm>
          <a:prstGeom prst="straightConnector1">
            <a:avLst/>
          </a:prstGeom>
          <a:ln w="60325">
            <a:solidFill>
              <a:srgbClr val="FF00FF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EE9C641-6F36-C0B5-B8B9-75B5693EE875}"/>
                  </a:ext>
                </a:extLst>
              </p:cNvPr>
              <p:cNvSpPr txBox="1"/>
              <p:nvPr/>
            </p:nvSpPr>
            <p:spPr>
              <a:xfrm>
                <a:off x="21438477" y="6500467"/>
                <a:ext cx="2347435" cy="7150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𝑣</m:t>
                          </m:r>
                        </m:e>
                        <m:sub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𝑏𝑢𝑙𝑘</m:t>
                          </m:r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 </m:t>
                          </m:r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𝑝𝑙𝑎𝑠𝑚𝑎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EE9C641-6F36-C0B5-B8B9-75B5693EE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477" y="6500467"/>
                <a:ext cx="2347435" cy="7150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C5ACA9F-0CCF-90A3-EC48-CE7691038171}"/>
              </a:ext>
            </a:extLst>
          </p:cNvPr>
          <p:cNvCxnSpPr>
            <a:cxnSpLocks/>
          </p:cNvCxnSpPr>
          <p:nvPr/>
        </p:nvCxnSpPr>
        <p:spPr>
          <a:xfrm>
            <a:off x="17941745" y="7007077"/>
            <a:ext cx="1808327" cy="0"/>
          </a:xfrm>
          <a:prstGeom prst="straightConnector1">
            <a:avLst/>
          </a:prstGeom>
          <a:ln w="60325">
            <a:solidFill>
              <a:srgbClr val="FF00FF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5B2C069-26AF-FD80-D402-AB509F7475F1}"/>
                  </a:ext>
                </a:extLst>
              </p:cNvPr>
              <p:cNvSpPr txBox="1"/>
              <p:nvPr/>
            </p:nvSpPr>
            <p:spPr>
              <a:xfrm>
                <a:off x="17519048" y="6281921"/>
                <a:ext cx="2748892" cy="6771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SC</m:t>
                          </m:r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WRT</m:t>
                          </m:r>
                          <m: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sz="32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FF00FF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Light"/>
                              <a:cs typeface="Helvetica Neue Light"/>
                              <a:sym typeface="Helvetica Neue Light"/>
                            </a:rPr>
                            <m:t>Plasma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5B2C069-26AF-FD80-D402-AB509F74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9048" y="6281921"/>
                <a:ext cx="2748892" cy="6771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E568E35-C23C-D15B-ECB0-6D689F2E6206}"/>
                  </a:ext>
                </a:extLst>
              </p:cNvPr>
              <p:cNvSpPr txBox="1"/>
              <p:nvPr/>
            </p:nvSpPr>
            <p:spPr>
              <a:xfrm rot="20827455">
                <a:off x="13245997" y="5542407"/>
                <a:ext cx="3187089" cy="6771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n-US" sz="32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82BA48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Light"/>
                          <a:cs typeface="Helvetica Neue Light"/>
                          <a:sym typeface="Helvetica Neue Light"/>
                        </a:rPr>
                        <m:t>Spacecraft</m:t>
                      </m:r>
                      <m:r>
                        <a:rPr kumimoji="0" lang="en-US" sz="32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82BA48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Light"/>
                          <a:cs typeface="Helvetica Neue Light"/>
                          <a:sym typeface="Helvetica Neue Light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3200" b="0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82BA48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Light"/>
                          <a:cs typeface="Helvetica Neue Light"/>
                          <a:sym typeface="Helvetica Neue Light"/>
                        </a:rPr>
                        <m:t>Wake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E568E35-C23C-D15B-ECB0-6D689F2E6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27455">
                <a:off x="13245997" y="5542407"/>
                <a:ext cx="3187089" cy="6771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4">
                <a:extLst>
                  <a:ext uri="{FF2B5EF4-FFF2-40B4-BE49-F238E27FC236}">
                    <a16:creationId xmlns:a16="http://schemas.microsoft.com/office/drawing/2014/main" id="{AB3EDB20-7977-429D-C8E6-7C82362CC609}"/>
                  </a:ext>
                </a:extLst>
              </p:cNvPr>
              <p:cNvSpPr/>
              <p:nvPr/>
            </p:nvSpPr>
            <p:spPr>
              <a:xfrm>
                <a:off x="16454208" y="10462888"/>
                <a:ext cx="3129624" cy="834271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𝑣</m:t>
                          </m:r>
                        </m:e>
                        <m:sub>
                          <m: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𝑆𝐶</m:t>
                          </m:r>
                        </m:sub>
                      </m:sSub>
                      <m:r>
                        <a:rPr lang="en-US" sz="4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sSub>
                        <m:sSubPr>
                          <m:ctrlP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𝑣</m:t>
                          </m:r>
                        </m:e>
                        <m:sub>
                          <m: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𝑏𝑢𝑙𝑘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Rounded Rectangle 4">
                <a:extLst>
                  <a:ext uri="{FF2B5EF4-FFF2-40B4-BE49-F238E27FC236}">
                    <a16:creationId xmlns:a16="http://schemas.microsoft.com/office/drawing/2014/main" id="{AB3EDB20-7977-429D-C8E6-7C82362CC6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208" y="10462888"/>
                <a:ext cx="3129624" cy="83427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7520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F712-CF81-7600-9277-8175F824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Supercharging Concept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D2AC859-DFE3-B42B-240A-4C2CC2CB38CB}"/>
                  </a:ext>
                </a:extLst>
              </p:cNvPr>
              <p:cNvSpPr/>
              <p:nvPr/>
            </p:nvSpPr>
            <p:spPr>
              <a:xfrm>
                <a:off x="1124815" y="3978855"/>
                <a:ext cx="7583722" cy="1576390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</a:rPr>
                  <a:t>Supercharging occurs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𝑏𝑒𝑎𝑚</m:t>
                        </m:r>
                      </m:sub>
                    </m:sSub>
                  </m:oMath>
                </a14:m>
                <a:endParaRPr lang="en-US" sz="4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D2AC859-DFE3-B42B-240A-4C2CC2CB3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5" y="3978855"/>
                <a:ext cx="7583722" cy="157639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FFD1E0-EFF6-9419-794A-0361964D0387}"/>
              </a:ext>
            </a:extLst>
          </p:cNvPr>
          <p:cNvSpPr/>
          <p:nvPr/>
        </p:nvSpPr>
        <p:spPr>
          <a:xfrm>
            <a:off x="1124814" y="6442606"/>
            <a:ext cx="7583722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Must occur inside a plasma wake so target does not collect ions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00C3419-1E78-5BF6-A547-29129ABC8664}"/>
              </a:ext>
            </a:extLst>
          </p:cNvPr>
          <p:cNvSpPr/>
          <p:nvPr/>
        </p:nvSpPr>
        <p:spPr>
          <a:xfrm>
            <a:off x="1124814" y="8845276"/>
            <a:ext cx="7583721" cy="2196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Generates larger potential difference, creating stronger tugging forces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6C7980F-DB47-8273-A3D9-967B0FFD229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888DD-11F3-C1DD-6CD6-F15A0CA8DF4C}"/>
              </a:ext>
            </a:extLst>
          </p:cNvPr>
          <p:cNvSpPr txBox="1"/>
          <p:nvPr/>
        </p:nvSpPr>
        <p:spPr>
          <a:xfrm>
            <a:off x="13191074" y="3794465"/>
            <a:ext cx="618139" cy="677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309E94-C293-43F4-0C52-360463487CEE}"/>
              </a:ext>
            </a:extLst>
          </p:cNvPr>
          <p:cNvSpPr txBox="1"/>
          <p:nvPr/>
        </p:nvSpPr>
        <p:spPr>
          <a:xfrm>
            <a:off x="13046644" y="5659004"/>
            <a:ext cx="1155614" cy="677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chemeClr val="tx1"/>
                </a:solidFill>
              </a:rPr>
              <a:t>SC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92F28C-3276-6B03-3297-6960B4D344B1}"/>
              </a:ext>
            </a:extLst>
          </p:cNvPr>
          <p:cNvGrpSpPr/>
          <p:nvPr/>
        </p:nvGrpSpPr>
        <p:grpSpPr>
          <a:xfrm>
            <a:off x="8708535" y="2486239"/>
            <a:ext cx="14832230" cy="10437850"/>
            <a:chOff x="7665588" y="2377926"/>
            <a:chExt cx="14832230" cy="104378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6216FC-C5B0-7A12-ABFA-962029873A9B}"/>
                </a:ext>
              </a:extLst>
            </p:cNvPr>
            <p:cNvSpPr txBox="1"/>
            <p:nvPr/>
          </p:nvSpPr>
          <p:spPr>
            <a:xfrm>
              <a:off x="7665588" y="6650476"/>
              <a:ext cx="12287250" cy="584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</a:rPr>
                <a:t>Target in Servicer’s Wake.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F676CA-8267-C206-160D-DF77E2711CAF}"/>
                </a:ext>
              </a:extLst>
            </p:cNvPr>
            <p:cNvSpPr txBox="1"/>
            <p:nvPr/>
          </p:nvSpPr>
          <p:spPr>
            <a:xfrm>
              <a:off x="16845375" y="6734317"/>
              <a:ext cx="5652443" cy="1077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</a:rPr>
                <a:t>Electron Beam not Fully Recollected by Servicer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AC8D45A-0FD7-7ECE-7BA7-90F9F4E4C867}"/>
                </a:ext>
              </a:extLst>
            </p:cNvPr>
            <p:cNvGrpSpPr/>
            <p:nvPr/>
          </p:nvGrpSpPr>
          <p:grpSpPr>
            <a:xfrm>
              <a:off x="10798230" y="2377926"/>
              <a:ext cx="11674609" cy="10437850"/>
              <a:chOff x="10798230" y="2377926"/>
              <a:chExt cx="11674609" cy="1043785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7FFB168-8497-A206-F1FE-CDDA1AF04C4A}"/>
                  </a:ext>
                </a:extLst>
              </p:cNvPr>
              <p:cNvGrpSpPr/>
              <p:nvPr/>
            </p:nvGrpSpPr>
            <p:grpSpPr>
              <a:xfrm>
                <a:off x="10798230" y="2377926"/>
                <a:ext cx="11674609" cy="10437850"/>
                <a:chOff x="10822980" y="2791039"/>
                <a:chExt cx="11674609" cy="10437850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ED556473-B02A-DB37-3497-A9BA4720825F}"/>
                    </a:ext>
                  </a:extLst>
                </p:cNvPr>
                <p:cNvGrpSpPr/>
                <p:nvPr/>
              </p:nvGrpSpPr>
              <p:grpSpPr>
                <a:xfrm>
                  <a:off x="10822980" y="2791039"/>
                  <a:ext cx="11674609" cy="5171691"/>
                  <a:chOff x="14160535" y="1888769"/>
                  <a:chExt cx="11674609" cy="5171691"/>
                </a:xfrm>
              </p:grpSpPr>
              <p:pic>
                <p:nvPicPr>
                  <p:cNvPr id="6" name="Picture 5">
                    <a:extLst>
                      <a:ext uri="{FF2B5EF4-FFF2-40B4-BE49-F238E27FC236}">
                        <a16:creationId xmlns:a16="http://schemas.microsoft.com/office/drawing/2014/main" id="{AB392DE4-6EE6-03C1-ED96-097ACDC169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0207680" y="1888769"/>
                    <a:ext cx="5627464" cy="4187290"/>
                  </a:xfrm>
                  <a:prstGeom prst="rect">
                    <a:avLst/>
                  </a:prstGeom>
                </p:spPr>
              </p:pic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4E5A48B-9639-9C94-F663-B85B0EC1F624}"/>
                      </a:ext>
                    </a:extLst>
                  </p:cNvPr>
                  <p:cNvSpPr txBox="1"/>
                  <p:nvPr/>
                </p:nvSpPr>
                <p:spPr>
                  <a:xfrm>
                    <a:off x="14771104" y="6349380"/>
                    <a:ext cx="4800829" cy="67710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91439" rIns="91439" bIns="91439" numCol="1" spcCol="38100" rtlCol="0" anchor="ctr">
                    <a:spAutoFit/>
                  </a:bodyPr>
                  <a:lstStyle/>
                  <a:p>
                    <a:pPr algn="ctr"/>
                    <a:endParaRPr kumimoji="0" lang="en-US" sz="3200" b="0" i="0" u="none" strike="noStrike" cap="none" spc="0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Helvetica Neue Light"/>
                      <a:ea typeface="Helvetica Neue Light"/>
                      <a:cs typeface="Helvetica Neue Light"/>
                      <a:sym typeface="Helvetica Neue Light"/>
                    </a:endParaRPr>
                  </a:p>
                </p:txBody>
              </p:sp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C37D1D51-E9C8-BA27-FCAF-2F677FC525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160535" y="1951972"/>
                    <a:ext cx="5652443" cy="4187290"/>
                  </a:xfrm>
                  <a:prstGeom prst="rect">
                    <a:avLst/>
                  </a:prstGeom>
                </p:spPr>
              </p:pic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B1927A-CEC6-E7A4-34EC-EE33845A9F37}"/>
                      </a:ext>
                    </a:extLst>
                  </p:cNvPr>
                  <p:cNvSpPr txBox="1"/>
                  <p:nvPr/>
                </p:nvSpPr>
                <p:spPr>
                  <a:xfrm>
                    <a:off x="20527243" y="6383354"/>
                    <a:ext cx="4988337" cy="67710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91439" rIns="91439" bIns="91439" numCol="1" spcCol="38100" rtlCol="0" anchor="ctr">
                    <a:spAutoFit/>
                  </a:bodyPr>
                  <a:lstStyle/>
                  <a:p>
                    <a:pPr marL="0" marR="0" indent="0" algn="ctr" defTabSz="82296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3200" b="0" i="0" u="none" strike="noStrike" cap="none" spc="0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Helvetica Neue Light"/>
                      <a:ea typeface="Helvetica Neue Light"/>
                      <a:cs typeface="Helvetica Neue Light"/>
                      <a:sym typeface="Helvetica Neue Light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46B46074-0A65-941F-5454-B687CB7E20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71549" y="12599999"/>
                      <a:ext cx="3079242" cy="628890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0" lang="en-US" sz="32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Light"/>
                                  <a:sym typeface="Helvetica Neue Light"/>
                                </a:rPr>
                                <m:t>𝑇</m:t>
                              </m:r>
                              <m:r>
                                <a:rPr kumimoji="0" lang="en-US" sz="32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Light"/>
                                  <a:sym typeface="Helvetica Neue Light"/>
                                </a:rPr>
                                <m:t>/</m:t>
                              </m:r>
                              <m:r>
                                <a:rPr kumimoji="0" lang="en-US" sz="32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Light"/>
                                  <a:sym typeface="Helvetica Neue Light"/>
                                </a:rPr>
                                <m:t>𝑆𝐶</m:t>
                              </m:r>
                            </m:sub>
                          </m:sSub>
                        </m:oMath>
                      </a14:m>
                      <a:r>
                        <a:rPr lang="en-US">
                          <a:solidFill>
                            <a:schemeClr val="tx1"/>
                          </a:solidFill>
                        </a:rPr>
                        <a:t> &gt;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𝑏𝑒𝑎𝑚</m:t>
                              </m:r>
                            </m:sub>
                          </m:sSub>
                        </m:oMath>
                      </a14:m>
                      <a:endParaRPr lang="en-US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46B46074-0A65-941F-5454-B687CB7E20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571549" y="12599999"/>
                      <a:ext cx="3079242" cy="62889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11650" b="-2524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EBD3C49-E3BE-356F-D73E-DBAE34857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661691" y="8412709"/>
                  <a:ext cx="5627464" cy="4187290"/>
                </a:xfrm>
                <a:prstGeom prst="rect">
                  <a:avLst/>
                </a:prstGeom>
              </p:spPr>
            </p:pic>
          </p:grpSp>
          <p:sp>
            <p:nvSpPr>
              <p:cNvPr id="27" name="Rounded Rectangle 1">
                <a:extLst>
                  <a:ext uri="{FF2B5EF4-FFF2-40B4-BE49-F238E27FC236}">
                    <a16:creationId xmlns:a16="http://schemas.microsoft.com/office/drawing/2014/main" id="{5DFC8452-A8F9-DBFB-8F15-58FCE8B6A795}"/>
                  </a:ext>
                </a:extLst>
              </p:cNvPr>
              <p:cNvSpPr/>
              <p:nvPr/>
            </p:nvSpPr>
            <p:spPr>
              <a:xfrm>
                <a:off x="13821703" y="8363639"/>
                <a:ext cx="1628459" cy="62996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-1.02 kV</a:t>
                </a:r>
              </a:p>
            </p:txBody>
          </p:sp>
          <p:sp>
            <p:nvSpPr>
              <p:cNvPr id="28" name="Rounded Rectangle 1">
                <a:extLst>
                  <a:ext uri="{FF2B5EF4-FFF2-40B4-BE49-F238E27FC236}">
                    <a16:creationId xmlns:a16="http://schemas.microsoft.com/office/drawing/2014/main" id="{412D170F-7207-D50F-6A72-1E365FB1AFAC}"/>
                  </a:ext>
                </a:extLst>
              </p:cNvPr>
              <p:cNvSpPr/>
              <p:nvPr/>
            </p:nvSpPr>
            <p:spPr>
              <a:xfrm>
                <a:off x="13809213" y="11380498"/>
                <a:ext cx="1628459" cy="62996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297 V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1">
                <a:extLst>
                  <a:ext uri="{FF2B5EF4-FFF2-40B4-BE49-F238E27FC236}">
                    <a16:creationId xmlns:a16="http://schemas.microsoft.com/office/drawing/2014/main" id="{485F4113-A3E0-D010-6AC1-14E0FE45CEA1}"/>
                  </a:ext>
                </a:extLst>
              </p:cNvPr>
              <p:cNvSpPr/>
              <p:nvPr/>
            </p:nvSpPr>
            <p:spPr>
              <a:xfrm>
                <a:off x="10248081" y="9943449"/>
                <a:ext cx="3679701" cy="834271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ounded Rectangle 1">
                <a:extLst>
                  <a:ext uri="{FF2B5EF4-FFF2-40B4-BE49-F238E27FC236}">
                    <a16:creationId xmlns:a16="http://schemas.microsoft.com/office/drawing/2014/main" id="{485F4113-A3E0-D010-6AC1-14E0FE45C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081" y="9943449"/>
                <a:ext cx="3679701" cy="83427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Arrow: Right 44">
            <a:extLst>
              <a:ext uri="{FF2B5EF4-FFF2-40B4-BE49-F238E27FC236}">
                <a16:creationId xmlns:a16="http://schemas.microsoft.com/office/drawing/2014/main" id="{6607287F-D3A1-DD7C-A7B5-A8CFC1E775CB}"/>
              </a:ext>
            </a:extLst>
          </p:cNvPr>
          <p:cNvSpPr/>
          <p:nvPr/>
        </p:nvSpPr>
        <p:spPr>
          <a:xfrm>
            <a:off x="14202258" y="10259568"/>
            <a:ext cx="1068222" cy="292608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5738167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0040-AD6B-8D7D-B91D-869A445B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67FF-2A57-0EF0-C9E5-4DA6E429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Cislunar Plasma Region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642B2D-E23B-D3D5-0BC5-9A6EDFF386CF}"/>
              </a:ext>
            </a:extLst>
          </p:cNvPr>
          <p:cNvGrpSpPr/>
          <p:nvPr/>
        </p:nvGrpSpPr>
        <p:grpSpPr>
          <a:xfrm>
            <a:off x="7289292" y="10265401"/>
            <a:ext cx="9805416" cy="2645927"/>
            <a:chOff x="2711197" y="4359454"/>
            <a:chExt cx="18961607" cy="49970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390FF5-F4D8-BBB0-5DA1-D01A34E69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1197" y="4359454"/>
              <a:ext cx="18936080" cy="206333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B238B9-F8A1-D210-90A0-DA3D5ADF5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6723" y="6451010"/>
              <a:ext cx="18936081" cy="290553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F6BEF2-CA65-FEB2-F9D4-EC1EE7A04875}"/>
                </a:ext>
              </a:extLst>
            </p:cNvPr>
            <p:cNvSpPr/>
            <p:nvPr/>
          </p:nvSpPr>
          <p:spPr>
            <a:xfrm>
              <a:off x="6169150" y="6515100"/>
              <a:ext cx="15478127" cy="6858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5356058-431D-068A-9184-2F491FC55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760" y="2358078"/>
            <a:ext cx="11933278" cy="759254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2B047CC-0607-6542-201C-83D9CE4328F9}"/>
              </a:ext>
            </a:extLst>
          </p:cNvPr>
          <p:cNvSpPr/>
          <p:nvPr/>
        </p:nvSpPr>
        <p:spPr>
          <a:xfrm>
            <a:off x="12673584" y="9162288"/>
            <a:ext cx="2157984" cy="548640"/>
          </a:xfrm>
          <a:prstGeom prst="ellipse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B58A97-AEB7-910D-1F1F-0A8127D5F78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A47A94-8A17-C416-0AF6-EE9151F377A6}"/>
              </a:ext>
            </a:extLst>
          </p:cNvPr>
          <p:cNvSpPr/>
          <p:nvPr/>
        </p:nvSpPr>
        <p:spPr>
          <a:xfrm>
            <a:off x="7930135" y="2878133"/>
            <a:ext cx="8109965" cy="6552438"/>
          </a:xfrm>
          <a:prstGeom prst="ellipse">
            <a:avLst/>
          </a:prstGeom>
          <a:noFill/>
          <a:ln w="603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28" name="Picture 4" descr="Moon Transparent PNG and Clip Art Images - FreeIconsPNG">
            <a:extLst>
              <a:ext uri="{FF2B5EF4-FFF2-40B4-BE49-F238E27FC236}">
                <a16:creationId xmlns:a16="http://schemas.microsoft.com/office/drawing/2014/main" id="{38AC9492-D7D2-66B1-0548-302F8B8F2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797" y="2603813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oon Transparent PNG and Clip Art Images - FreeIconsPNG">
            <a:extLst>
              <a:ext uri="{FF2B5EF4-FFF2-40B4-BE49-F238E27FC236}">
                <a16:creationId xmlns:a16="http://schemas.microsoft.com/office/drawing/2014/main" id="{AB09FA3D-02DC-A315-4F40-9BD4EE2E0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759" y="9135138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oon Transparent PNG and Clip Art Images - FreeIconsPNG">
            <a:extLst>
              <a:ext uri="{FF2B5EF4-FFF2-40B4-BE49-F238E27FC236}">
                <a16:creationId xmlns:a16="http://schemas.microsoft.com/office/drawing/2014/main" id="{F4170040-71E4-2BC7-8D66-0F0BB2A4F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5780" y="5880032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oon Transparent PNG and Clip Art Images - FreeIconsPNG">
            <a:extLst>
              <a:ext uri="{FF2B5EF4-FFF2-40B4-BE49-F238E27FC236}">
                <a16:creationId xmlns:a16="http://schemas.microsoft.com/office/drawing/2014/main" id="{85714F19-5EEC-7F90-6106-3EF37FCC3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815" y="6428672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7264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CE9D-0CAE-8699-6EAC-2623CA0B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ED8C09-FC27-6D23-EAE3-67E3D5BBB35E}"/>
              </a:ext>
            </a:extLst>
          </p:cNvPr>
          <p:cNvSpPr/>
          <p:nvPr/>
        </p:nvSpPr>
        <p:spPr>
          <a:xfrm>
            <a:off x="2314903" y="3479154"/>
            <a:ext cx="20085268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Build on our lab’s findings to </a:t>
            </a:r>
            <a:r>
              <a:rPr lang="en-US" sz="4000" b="1" i="1">
                <a:solidFill>
                  <a:schemeClr val="tx1"/>
                </a:solidFill>
              </a:rPr>
              <a:t>prove</a:t>
            </a:r>
            <a:r>
              <a:rPr lang="en-US" sz="4000">
                <a:solidFill>
                  <a:schemeClr val="tx1"/>
                </a:solidFill>
              </a:rPr>
              <a:t> that supercharging can occur and </a:t>
            </a:r>
            <a:r>
              <a:rPr lang="en-US" sz="4000" b="1" i="1">
                <a:solidFill>
                  <a:schemeClr val="tx1"/>
                </a:solidFill>
              </a:rPr>
              <a:t>characterize</a:t>
            </a:r>
            <a:r>
              <a:rPr lang="en-US" sz="4000">
                <a:solidFill>
                  <a:schemeClr val="tx1"/>
                </a:solidFill>
              </a:rPr>
              <a:t> possible conditions.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DD729-5221-8CC0-952B-27C6E47FF2B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C52394-9754-2F8B-F7DD-85AFC411EAC1}"/>
              </a:ext>
            </a:extLst>
          </p:cNvPr>
          <p:cNvSpPr/>
          <p:nvPr/>
        </p:nvSpPr>
        <p:spPr>
          <a:xfrm>
            <a:off x="2314903" y="5750926"/>
            <a:ext cx="20085268" cy="492049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 b="1" u="sng">
                <a:solidFill>
                  <a:schemeClr val="tx1"/>
                </a:solidFill>
              </a:rPr>
              <a:t>Steps</a:t>
            </a:r>
          </a:p>
          <a:p>
            <a:pPr marL="742950" indent="-742950" algn="ctr">
              <a:lnSpc>
                <a:spcPct val="200000"/>
              </a:lnSpc>
              <a:buAutoNum type="arabicPeriod"/>
            </a:pPr>
            <a:r>
              <a:rPr lang="en-US" sz="4000">
                <a:solidFill>
                  <a:schemeClr val="tx1"/>
                </a:solidFill>
              </a:rPr>
              <a:t>Use SPIS and MATLAB to characterize wakes</a:t>
            </a:r>
          </a:p>
          <a:p>
            <a:pPr marL="742950" indent="-742950" algn="ctr">
              <a:lnSpc>
                <a:spcPct val="200000"/>
              </a:lnSpc>
              <a:buAutoNum type="arabicPeriod"/>
            </a:pPr>
            <a:r>
              <a:rPr lang="en-US" sz="4000">
                <a:solidFill>
                  <a:schemeClr val="tx1"/>
                </a:solidFill>
              </a:rPr>
              <a:t>Use SIMION and MATLAB to find beam width of electron gun</a:t>
            </a:r>
          </a:p>
          <a:p>
            <a:pPr marL="742950" indent="-742950" algn="ctr">
              <a:lnSpc>
                <a:spcPct val="200000"/>
              </a:lnSpc>
              <a:buAutoNum type="arabicPeriod"/>
            </a:pPr>
            <a:r>
              <a:rPr lang="en-US" sz="4000">
                <a:solidFill>
                  <a:schemeClr val="tx1"/>
                </a:solidFill>
              </a:rPr>
              <a:t>Use SPIS to model supercharging</a:t>
            </a:r>
          </a:p>
        </p:txBody>
      </p:sp>
    </p:spTree>
    <p:extLst>
      <p:ext uri="{BB962C8B-B14F-4D97-AF65-F5344CB8AC3E}">
        <p14:creationId xmlns:p14="http://schemas.microsoft.com/office/powerpoint/2010/main" val="29453314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5B64-BB52-D4DB-F2EE-CE76F93E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8CCDA-82A4-EFE4-1378-7C5DA7453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064" y="3086307"/>
            <a:ext cx="11274365" cy="827837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67FDA-826C-49DB-FD07-7E4F0E058583}"/>
              </a:ext>
            </a:extLst>
          </p:cNvPr>
          <p:cNvGrpSpPr/>
          <p:nvPr/>
        </p:nvGrpSpPr>
        <p:grpSpPr>
          <a:xfrm>
            <a:off x="2336927" y="4655438"/>
            <a:ext cx="7052535" cy="4979739"/>
            <a:chOff x="2336927" y="4655438"/>
            <a:chExt cx="7052535" cy="497973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C1CBC24-5461-807C-40D8-49482C423F6E}"/>
                </a:ext>
              </a:extLst>
            </p:cNvPr>
            <p:cNvSpPr/>
            <p:nvPr/>
          </p:nvSpPr>
          <p:spPr>
            <a:xfrm>
              <a:off x="2336927" y="4655438"/>
              <a:ext cx="7052534" cy="834271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3D plasma-interaction solver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10BE9A4-C983-6A29-0017-E76D47C4D4A4}"/>
                </a:ext>
              </a:extLst>
            </p:cNvPr>
            <p:cNvSpPr/>
            <p:nvPr/>
          </p:nvSpPr>
          <p:spPr>
            <a:xfrm>
              <a:off x="2336928" y="6047135"/>
              <a:ext cx="7052534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Able to model complex spacecraft geometry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C97BA56-BA75-4244-28B7-BB346E8205E9}"/>
                </a:ext>
              </a:extLst>
            </p:cNvPr>
            <p:cNvSpPr/>
            <p:nvPr/>
          </p:nvSpPr>
          <p:spPr>
            <a:xfrm>
              <a:off x="2336927" y="8119869"/>
              <a:ext cx="7052534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Detailed sheath/wake modeling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4166B-94E3-5357-3713-960EA04816C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409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F965008-12D3-A543-FE55-74A2CECE5B6C}"/>
              </a:ext>
            </a:extLst>
          </p:cNvPr>
          <p:cNvGrpSpPr/>
          <p:nvPr/>
        </p:nvGrpSpPr>
        <p:grpSpPr>
          <a:xfrm>
            <a:off x="5810735" y="4037942"/>
            <a:ext cx="11725066" cy="8176348"/>
            <a:chOff x="431508" y="3031339"/>
            <a:chExt cx="11725066" cy="81763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53C058-A483-7030-99B9-F628E93B7B3C}"/>
                </a:ext>
              </a:extLst>
            </p:cNvPr>
            <p:cNvSpPr txBox="1"/>
            <p:nvPr/>
          </p:nvSpPr>
          <p:spPr>
            <a:xfrm>
              <a:off x="1229097" y="6638021"/>
              <a:ext cx="254619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  <a:latin typeface="Arial"/>
                  <a:cs typeface="Arial"/>
                </a:rPr>
                <a:t>0 V Target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D76E0C-7E31-771E-7711-627390516BC3}"/>
                </a:ext>
              </a:extLst>
            </p:cNvPr>
            <p:cNvSpPr txBox="1"/>
            <p:nvPr/>
          </p:nvSpPr>
          <p:spPr>
            <a:xfrm>
              <a:off x="4986898" y="6641829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-5 kV Target</a:t>
              </a: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B3EEF8-0503-946C-3119-A4D3904D9430}"/>
                </a:ext>
              </a:extLst>
            </p:cNvPr>
            <p:cNvSpPr txBox="1"/>
            <p:nvPr/>
          </p:nvSpPr>
          <p:spPr>
            <a:xfrm>
              <a:off x="8883078" y="6639252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-10 kV Target</a:t>
              </a:r>
              <a:endParaRPr lang="en-US" err="1">
                <a:solidFill>
                  <a:srgbClr val="FFFFFF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1641A4-7A0D-89F1-8416-6742A66E62E1}"/>
                </a:ext>
              </a:extLst>
            </p:cNvPr>
            <p:cNvSpPr txBox="1"/>
            <p:nvPr/>
          </p:nvSpPr>
          <p:spPr>
            <a:xfrm>
              <a:off x="2545124" y="10530581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-15 kV Target</a:t>
              </a:r>
              <a:endParaRPr lang="en-US" err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5D54C7-E621-2843-BD49-1442B636FE77}"/>
                </a:ext>
              </a:extLst>
            </p:cNvPr>
            <p:cNvSpPr txBox="1"/>
            <p:nvPr/>
          </p:nvSpPr>
          <p:spPr>
            <a:xfrm>
              <a:off x="6988863" y="10508634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-20 kV Target</a:t>
              </a: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4" name="Picture 13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DC1C0863-3B03-1A55-0117-FAC82EC3F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508" y="3709659"/>
              <a:ext cx="3732638" cy="3008505"/>
            </a:xfrm>
            <a:prstGeom prst="rect">
              <a:avLst/>
            </a:prstGeom>
          </p:spPr>
        </p:pic>
        <p:pic>
          <p:nvPicPr>
            <p:cNvPr id="16" name="Picture 15" descr="A screen 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B9FB358E-7F50-C341-AD90-57C6F7B6B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3603" y="3709658"/>
              <a:ext cx="3731708" cy="3008506"/>
            </a:xfrm>
            <a:prstGeom prst="rect">
              <a:avLst/>
            </a:prstGeom>
          </p:spPr>
        </p:pic>
        <p:pic>
          <p:nvPicPr>
            <p:cNvPr id="18" name="Picture 17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FF208A54-9512-5EE1-75ED-CA02B475D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94768" y="3709658"/>
              <a:ext cx="3861806" cy="2998981"/>
            </a:xfrm>
            <a:prstGeom prst="rect">
              <a:avLst/>
            </a:prstGeom>
          </p:spPr>
        </p:pic>
        <p:pic>
          <p:nvPicPr>
            <p:cNvPr id="20" name="Picture 19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0009CD5A-FC73-1BBD-FF79-FD4DA661D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32442" y="7580581"/>
              <a:ext cx="3880391" cy="2989456"/>
            </a:xfrm>
            <a:prstGeom prst="rect">
              <a:avLst/>
            </a:prstGeom>
          </p:spPr>
        </p:pic>
        <p:pic>
          <p:nvPicPr>
            <p:cNvPr id="22" name="Picture 2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FF4A1395-80A8-78F6-934C-4D5FB3DB1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8449" y="7580581"/>
              <a:ext cx="3732637" cy="298945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342B56-04C6-EBCA-A12E-8B07D05196D9}"/>
                </a:ext>
              </a:extLst>
            </p:cNvPr>
            <p:cNvSpPr txBox="1"/>
            <p:nvPr/>
          </p:nvSpPr>
          <p:spPr>
            <a:xfrm>
              <a:off x="3775293" y="3031339"/>
              <a:ext cx="5287251" cy="584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 kV Servicer, 4m Separation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5803C7-A9D5-F2B2-C5C2-35C5A5161A33}"/>
              </a:ext>
            </a:extLst>
          </p:cNvPr>
          <p:cNvGrpSpPr/>
          <p:nvPr/>
        </p:nvGrpSpPr>
        <p:grpSpPr>
          <a:xfrm>
            <a:off x="5622602" y="4075230"/>
            <a:ext cx="11913199" cy="8146032"/>
            <a:chOff x="12356031" y="3022199"/>
            <a:chExt cx="11913199" cy="8146032"/>
          </a:xfrm>
        </p:grpSpPr>
        <p:pic>
          <p:nvPicPr>
            <p:cNvPr id="25" name="Picture 24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EAF05B4E-A8EF-CE3E-DBA9-84DD3D6A0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56031" y="3655027"/>
              <a:ext cx="3839969" cy="307007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B075A7-175A-6652-7CE6-E032E5DA186C}"/>
                </a:ext>
              </a:extLst>
            </p:cNvPr>
            <p:cNvSpPr txBox="1"/>
            <p:nvPr/>
          </p:nvSpPr>
          <p:spPr>
            <a:xfrm>
              <a:off x="13335917" y="6610043"/>
              <a:ext cx="254619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  <a:latin typeface="Arial"/>
                  <a:cs typeface="Arial"/>
                </a:rPr>
                <a:t>0 V Target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9C1953-7FB7-64C1-5CD1-F66AAFA1AC04}"/>
                </a:ext>
              </a:extLst>
            </p:cNvPr>
            <p:cNvSpPr txBox="1"/>
            <p:nvPr/>
          </p:nvSpPr>
          <p:spPr>
            <a:xfrm>
              <a:off x="17110746" y="6622615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-5 kV Target</a:t>
              </a: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ED532FA-2105-BD98-34FC-CD93786D69D2}"/>
                </a:ext>
              </a:extLst>
            </p:cNvPr>
            <p:cNvSpPr txBox="1"/>
            <p:nvPr/>
          </p:nvSpPr>
          <p:spPr>
            <a:xfrm>
              <a:off x="20995734" y="6610043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-10 kV Target</a:t>
              </a: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C3D7C2-6226-96E2-901D-94903F0D1B15}"/>
                </a:ext>
              </a:extLst>
            </p:cNvPr>
            <p:cNvSpPr txBox="1"/>
            <p:nvPr/>
          </p:nvSpPr>
          <p:spPr>
            <a:xfrm>
              <a:off x="14656943" y="10491125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-15 kV Target</a:t>
              </a:r>
              <a:endParaRPr lang="en-US" err="1">
                <a:solidFill>
                  <a:srgbClr val="FFFFFF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5236FF-5BCF-1A2A-64CA-D5179B531E9E}"/>
                </a:ext>
              </a:extLst>
            </p:cNvPr>
            <p:cNvSpPr txBox="1"/>
            <p:nvPr/>
          </p:nvSpPr>
          <p:spPr>
            <a:xfrm>
              <a:off x="19134570" y="10447435"/>
              <a:ext cx="2787806" cy="677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91439" rIns="91439" bIns="9143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  <a:latin typeface="Arial"/>
                  <a:cs typeface="Arial"/>
                </a:rPr>
                <a:t>-20 kV Target</a:t>
              </a: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35" name="Picture 34" descr="A colorful image of a cloud&#10;&#10;AI-generated content may be incorrect.">
              <a:extLst>
                <a:ext uri="{FF2B5EF4-FFF2-40B4-BE49-F238E27FC236}">
                  <a16:creationId xmlns:a16="http://schemas.microsoft.com/office/drawing/2014/main" id="{232DBFA9-3D4B-FDD4-9E60-B251C39D0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405830" y="3655073"/>
              <a:ext cx="3824520" cy="3070652"/>
            </a:xfrm>
            <a:prstGeom prst="rect">
              <a:avLst/>
            </a:prstGeom>
          </p:spPr>
        </p:pic>
        <p:pic>
          <p:nvPicPr>
            <p:cNvPr id="39" name="Picture 3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99E214C-AE57-E649-5023-A2013E394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143873" y="7474532"/>
              <a:ext cx="3848565" cy="3098646"/>
            </a:xfrm>
            <a:prstGeom prst="rect">
              <a:avLst/>
            </a:prstGeom>
          </p:spPr>
        </p:pic>
        <p:pic>
          <p:nvPicPr>
            <p:cNvPr id="40" name="Picture 3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2F3D895-EF83-31D7-BA37-0EF734A5B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440180" y="3670202"/>
              <a:ext cx="3829050" cy="3066586"/>
            </a:xfrm>
            <a:prstGeom prst="rect">
              <a:avLst/>
            </a:prstGeom>
          </p:spPr>
        </p:pic>
        <p:pic>
          <p:nvPicPr>
            <p:cNvPr id="41" name="Picture 40" descr="A screen 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46B50E0-7345-E7E9-141E-C826A54F8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272289" y="7489450"/>
              <a:ext cx="4053469" cy="307959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5769894-32FC-D1C9-380A-C57517B61AC5}"/>
                </a:ext>
              </a:extLst>
            </p:cNvPr>
            <p:cNvSpPr txBox="1"/>
            <p:nvPr/>
          </p:nvSpPr>
          <p:spPr>
            <a:xfrm>
              <a:off x="15701409" y="3022199"/>
              <a:ext cx="5679391" cy="584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10 kV Servicer, 4m Separation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B7C9000-A5B1-995F-A11B-B90C4E780CEC}"/>
              </a:ext>
            </a:extLst>
          </p:cNvPr>
          <p:cNvSpPr txBox="1">
            <a:spLocks/>
          </p:cNvSpPr>
          <p:nvPr/>
        </p:nvSpPr>
        <p:spPr>
          <a:xfrm>
            <a:off x="1124815" y="-35322"/>
            <a:ext cx="19396330" cy="1887969"/>
          </a:xfrm>
          <a:prstGeom prst="rect">
            <a:avLst/>
          </a:prstGeom>
          <a:ln w="12700">
            <a:miter lim="400000"/>
          </a:ln>
          <a:effectLst>
            <a:outerShdw blurRad="177800" dist="88900" dir="2700000" rotWithShape="0">
              <a:srgbClr val="CBCBCB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 anchor="ctr">
            <a:normAutofit/>
          </a:bodyPr>
          <a:lstStyle>
            <a:lvl1pPr marL="0" marR="0" indent="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11430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1371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1600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1828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SPIS Wake Figures</a:t>
            </a:r>
          </a:p>
        </p:txBody>
      </p:sp>
      <p:sp>
        <p:nvSpPr>
          <p:cNvPr id="2" name="Rounded Rectangle 16">
            <a:extLst>
              <a:ext uri="{FF2B5EF4-FFF2-40B4-BE49-F238E27FC236}">
                <a16:creationId xmlns:a16="http://schemas.microsoft.com/office/drawing/2014/main" id="{956B66FE-CF8A-B330-81E0-12867BC5C314}"/>
              </a:ext>
            </a:extLst>
          </p:cNvPr>
          <p:cNvSpPr/>
          <p:nvPr/>
        </p:nvSpPr>
        <p:spPr>
          <a:xfrm>
            <a:off x="15656208" y="2494427"/>
            <a:ext cx="3317182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Much Larger Wake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6B22932-34D8-2EB8-2247-F940B81D0FF4}"/>
              </a:ext>
            </a:extLst>
          </p:cNvPr>
          <p:cNvSpPr/>
          <p:nvPr/>
        </p:nvSpPr>
        <p:spPr>
          <a:xfrm rot="6374939">
            <a:off x="15545823" y="4631981"/>
            <a:ext cx="1244863" cy="243282"/>
          </a:xfrm>
          <a:prstGeom prst="rightArrow">
            <a:avLst/>
          </a:prstGeom>
          <a:solidFill>
            <a:schemeClr val="tx1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A98F51CE-1484-D2E7-B795-608C6803693D}"/>
              </a:ext>
            </a:extLst>
          </p:cNvPr>
          <p:cNvSpPr/>
          <p:nvPr/>
        </p:nvSpPr>
        <p:spPr>
          <a:xfrm>
            <a:off x="2305056" y="10447286"/>
            <a:ext cx="3745360" cy="83427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Fully Collapsed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7487C61-92F6-457A-2071-E1739254B3BC}"/>
              </a:ext>
            </a:extLst>
          </p:cNvPr>
          <p:cNvSpPr/>
          <p:nvPr/>
        </p:nvSpPr>
        <p:spPr>
          <a:xfrm rot="21138240">
            <a:off x="6265477" y="10348799"/>
            <a:ext cx="1852440" cy="332448"/>
          </a:xfrm>
          <a:prstGeom prst="rightArrow">
            <a:avLst/>
          </a:prstGeom>
          <a:solidFill>
            <a:schemeClr val="tx1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8E983-6C78-51F8-38ED-BF8ECB87572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08E5860-B3A8-11F5-1E01-47E70AE36DA5}"/>
              </a:ext>
            </a:extLst>
          </p:cNvPr>
          <p:cNvSpPr/>
          <p:nvPr/>
        </p:nvSpPr>
        <p:spPr>
          <a:xfrm rot="4211200">
            <a:off x="5931714" y="5543397"/>
            <a:ext cx="922712" cy="112752"/>
          </a:xfrm>
          <a:prstGeom prst="rightArrow">
            <a:avLst/>
          </a:prstGeom>
          <a:solidFill>
            <a:schemeClr val="tx1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="horz" wrap="square" lIns="68580" tIns="68580" rIns="68580" bIns="6858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1pPr>
            <a:lvl2pPr marL="0" marR="0" indent="2667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2pPr>
            <a:lvl3pPr marL="0" marR="0" indent="5334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3pPr>
            <a:lvl4pPr marL="0" marR="0" indent="8001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4pPr>
            <a:lvl5pPr marL="0" marR="0" indent="10668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5pPr>
            <a:lvl6pPr marL="0" marR="0" indent="13335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6pPr>
            <a:lvl7pPr marL="0" marR="0" indent="16129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7pPr>
            <a:lvl8pPr marL="0" marR="0" indent="18796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8pPr>
            <a:lvl9pPr marL="0" marR="0" indent="21463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9pPr>
          </a:lstStyle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8E5860-B3A8-11F5-1E01-47E70AE36DA5}"/>
              </a:ext>
            </a:extLst>
          </p:cNvPr>
          <p:cNvSpPr/>
          <p:nvPr/>
        </p:nvSpPr>
        <p:spPr>
          <a:xfrm rot="7073488">
            <a:off x="6830657" y="5654469"/>
            <a:ext cx="922712" cy="112752"/>
          </a:xfrm>
          <a:prstGeom prst="rightArrow">
            <a:avLst/>
          </a:prstGeom>
          <a:solidFill>
            <a:schemeClr val="tx1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="horz" wrap="square" lIns="68580" tIns="68580" rIns="68580" bIns="6858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1pPr>
            <a:lvl2pPr marL="0" marR="0" indent="2667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2pPr>
            <a:lvl3pPr marL="0" marR="0" indent="5334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3pPr>
            <a:lvl4pPr marL="0" marR="0" indent="8001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4pPr>
            <a:lvl5pPr marL="0" marR="0" indent="10668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5pPr>
            <a:lvl6pPr marL="0" marR="0" indent="13335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6pPr>
            <a:lvl7pPr marL="0" marR="0" indent="16129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7pPr>
            <a:lvl8pPr marL="0" marR="0" indent="18796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8pPr>
            <a:lvl9pPr marL="0" marR="0" indent="2146300" algn="l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defRPr>
            </a:lvl9pPr>
          </a:lstStyle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116366E-2799-BE33-D7B0-D3F8FBD27BDB}"/>
              </a:ext>
            </a:extLst>
          </p:cNvPr>
          <p:cNvSpPr/>
          <p:nvPr/>
        </p:nvSpPr>
        <p:spPr>
          <a:xfrm>
            <a:off x="2987864" y="5944289"/>
            <a:ext cx="1852440" cy="332448"/>
          </a:xfrm>
          <a:prstGeom prst="rightArrow">
            <a:avLst/>
          </a:prstGeom>
          <a:solidFill>
            <a:schemeClr val="tx1"/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24DC82-7E7C-8392-E0A9-B5266E871F13}"/>
                  </a:ext>
                </a:extLst>
              </p:cNvPr>
              <p:cNvSpPr txBox="1"/>
              <p:nvPr/>
            </p:nvSpPr>
            <p:spPr>
              <a:xfrm>
                <a:off x="2809067" y="5305592"/>
                <a:ext cx="2272928" cy="7150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𝑏𝑢𝑙𝑘𝑝𝑙𝑎𝑠𝑚𝑎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24DC82-7E7C-8392-E0A9-B5266E871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067" y="5305592"/>
                <a:ext cx="2272928" cy="7150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8E0A73-DFD9-78B8-1AD4-D7F0AC71ED2B}"/>
                  </a:ext>
                </a:extLst>
              </p:cNvPr>
              <p:cNvSpPr txBox="1"/>
              <p:nvPr/>
            </p:nvSpPr>
            <p:spPr>
              <a:xfrm>
                <a:off x="5164132" y="4415651"/>
                <a:ext cx="1720341" cy="6771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Servicer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8E0A73-DFD9-78B8-1AD4-D7F0AC71E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32" y="4415651"/>
                <a:ext cx="1720341" cy="6771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F6561-99A8-52A6-EA2F-3BA0B03E54E1}"/>
                  </a:ext>
                </a:extLst>
              </p:cNvPr>
              <p:cNvSpPr txBox="1"/>
              <p:nvPr/>
            </p:nvSpPr>
            <p:spPr>
              <a:xfrm>
                <a:off x="6920832" y="4454287"/>
                <a:ext cx="1431800" cy="6771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91439" tIns="91439" rIns="91439" bIns="91439" numCol="1" spcCol="38100" rtlCol="0" anchor="ctr">
                <a:spAutoFit/>
              </a:bodyPr>
              <a:lstStyle/>
              <a:p>
                <a:pPr marL="0" marR="0" indent="0" algn="l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Target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F6561-99A8-52A6-EA2F-3BA0B03E5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832" y="4454287"/>
                <a:ext cx="1431800" cy="67710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885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9" grpId="0" animBg="1"/>
      <p:bldP spid="21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F468-C843-0C38-A1C3-93BD196B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SPIS Current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D50F9-0CC2-BC78-19D3-6BEC4A716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884" y="3240368"/>
            <a:ext cx="9764756" cy="7580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78AC59-B1F1-E12A-FBCD-07D5B0120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088" y="3298179"/>
            <a:ext cx="9764754" cy="75806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70919F-0D13-730A-84D3-091E79C953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6036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9722-D0A1-60FB-60CD-6B6A1747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E2B3-523C-6EE2-4EF0-1F652507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AACB1-811D-42A4-A29E-A82657C07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3" t="11248" r="22969"/>
          <a:stretch>
            <a:fillRect/>
          </a:stretch>
        </p:blipFill>
        <p:spPr>
          <a:xfrm>
            <a:off x="12559962" y="3082121"/>
            <a:ext cx="8599667" cy="817930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CEAB23A-7CE8-0B5A-C732-C8FDC5D2B43E}"/>
              </a:ext>
            </a:extLst>
          </p:cNvPr>
          <p:cNvSpPr/>
          <p:nvPr/>
        </p:nvSpPr>
        <p:spPr>
          <a:xfrm>
            <a:off x="14868144" y="6736348"/>
            <a:ext cx="402336" cy="375624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C2F2210A-99C9-4D7C-F667-96A8DA68457C}"/>
              </a:ext>
            </a:extLst>
          </p:cNvPr>
          <p:cNvSpPr/>
          <p:nvPr/>
        </p:nvSpPr>
        <p:spPr>
          <a:xfrm>
            <a:off x="11824039" y="4401741"/>
            <a:ext cx="2152528" cy="834271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Servicer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07C09D-7445-48F5-0D6A-B895C9ACA397}"/>
              </a:ext>
            </a:extLst>
          </p:cNvPr>
          <p:cNvCxnSpPr/>
          <p:nvPr/>
        </p:nvCxnSpPr>
        <p:spPr>
          <a:xfrm>
            <a:off x="13313664" y="5406271"/>
            <a:ext cx="640080" cy="1067681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F07BE303-B721-28F8-E7B8-CF44AA9F50BF}"/>
              </a:ext>
            </a:extLst>
          </p:cNvPr>
          <p:cNvSpPr/>
          <p:nvPr/>
        </p:nvSpPr>
        <p:spPr>
          <a:xfrm>
            <a:off x="12037888" y="8264614"/>
            <a:ext cx="2152528" cy="834271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Target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B6D464-FE6A-0F13-A515-69F15A4B490A}"/>
              </a:ext>
            </a:extLst>
          </p:cNvPr>
          <p:cNvCxnSpPr>
            <a:cxnSpLocks/>
          </p:cNvCxnSpPr>
          <p:nvPr/>
        </p:nvCxnSpPr>
        <p:spPr>
          <a:xfrm flipV="1">
            <a:off x="13953744" y="7171771"/>
            <a:ext cx="914400" cy="908539"/>
          </a:xfrm>
          <a:prstGeom prst="straightConnector1">
            <a:avLst/>
          </a:prstGeom>
          <a:ln w="349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4BFDCDA-19C8-DB4D-EA4A-2A7CF5E72B9E}"/>
              </a:ext>
            </a:extLst>
          </p:cNvPr>
          <p:cNvSpPr/>
          <p:nvPr/>
        </p:nvSpPr>
        <p:spPr>
          <a:xfrm>
            <a:off x="13810053" y="6610361"/>
            <a:ext cx="689718" cy="631688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5C7C7-AA4F-6A0E-1BF4-83C2426583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7602025-0F1D-35B0-7114-3565148F0F69}"/>
              </a:ext>
            </a:extLst>
          </p:cNvPr>
          <p:cNvGrpSpPr/>
          <p:nvPr/>
        </p:nvGrpSpPr>
        <p:grpSpPr>
          <a:xfrm>
            <a:off x="2734143" y="3821167"/>
            <a:ext cx="6399391" cy="6029505"/>
            <a:chOff x="1124815" y="4080403"/>
            <a:chExt cx="6399391" cy="602950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BA649C5-055A-4CE1-66FF-3B2FC83D5EE8}"/>
                </a:ext>
              </a:extLst>
            </p:cNvPr>
            <p:cNvSpPr/>
            <p:nvPr/>
          </p:nvSpPr>
          <p:spPr>
            <a:xfrm>
              <a:off x="1124815" y="4080403"/>
              <a:ext cx="6399391" cy="834271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Tracks particle trajectories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AFF2007-4C9F-C346-B4E4-C56F16359571}"/>
                </a:ext>
              </a:extLst>
            </p:cNvPr>
            <p:cNvSpPr/>
            <p:nvPr/>
          </p:nvSpPr>
          <p:spPr>
            <a:xfrm>
              <a:off x="1124815" y="5996983"/>
              <a:ext cx="6399391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Can model electron beam spread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347F7C1-F60B-6DD8-513D-343BB2BAD45A}"/>
                </a:ext>
              </a:extLst>
            </p:cNvPr>
            <p:cNvSpPr/>
            <p:nvPr/>
          </p:nvSpPr>
          <p:spPr>
            <a:xfrm>
              <a:off x="1124815" y="8594600"/>
              <a:ext cx="6399391" cy="1515308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algn="ctr"/>
              <a:r>
                <a:rPr lang="en-US" sz="4000">
                  <a:solidFill>
                    <a:schemeClr val="tx1"/>
                  </a:solidFill>
                </a:rPr>
                <a:t>Analyzes impacts and recollection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87983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AE94-43BE-964F-9475-25D34475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SIMION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1147-9F17-4F13-859A-E9812B94C7A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50B0B-CE2C-CC6C-E0DF-48E1A81C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004" y="4261659"/>
            <a:ext cx="11067185" cy="7503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52886C-F495-35F3-5EF5-51751ED2D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27" y="4261659"/>
            <a:ext cx="11067185" cy="7503177"/>
          </a:xfrm>
          <a:prstGeom prst="rect">
            <a:avLst/>
          </a:prstGeom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DD17AFAA-E456-F059-FD61-1221EBE3431E}"/>
              </a:ext>
            </a:extLst>
          </p:cNvPr>
          <p:cNvSpPr/>
          <p:nvPr/>
        </p:nvSpPr>
        <p:spPr>
          <a:xfrm>
            <a:off x="7981239" y="2307222"/>
            <a:ext cx="8421522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Looking for balance between electron impacts and recollection </a:t>
            </a:r>
          </a:p>
        </p:txBody>
      </p:sp>
    </p:spTree>
    <p:extLst>
      <p:ext uri="{BB962C8B-B14F-4D97-AF65-F5344CB8AC3E}">
        <p14:creationId xmlns:p14="http://schemas.microsoft.com/office/powerpoint/2010/main" val="24224445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0B0FE5-0096-5E04-1A5F-F843C90A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Beam Width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11E7C5-4750-F914-E9C7-34BFFCA162E6}"/>
              </a:ext>
            </a:extLst>
          </p:cNvPr>
          <p:cNvGrpSpPr/>
          <p:nvPr/>
        </p:nvGrpSpPr>
        <p:grpSpPr>
          <a:xfrm rot="5400000">
            <a:off x="13257177" y="9159624"/>
            <a:ext cx="2422864" cy="5041881"/>
            <a:chOff x="16825416" y="3694240"/>
            <a:chExt cx="3555136" cy="778689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660341-97C0-65CC-A376-6F8A2A3A8F23}"/>
                </a:ext>
              </a:extLst>
            </p:cNvPr>
            <p:cNvGrpSpPr/>
            <p:nvPr/>
          </p:nvGrpSpPr>
          <p:grpSpPr>
            <a:xfrm rot="16200000">
              <a:off x="14709534" y="5810122"/>
              <a:ext cx="7786899" cy="3555136"/>
              <a:chOff x="14112240" y="9048593"/>
              <a:chExt cx="4986979" cy="2465968"/>
            </a:xfrm>
          </p:grpSpPr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B2F34CCB-4632-4810-9250-497142922207}"/>
                  </a:ext>
                </a:extLst>
              </p:cNvPr>
              <p:cNvSpPr/>
              <p:nvPr/>
            </p:nvSpPr>
            <p:spPr>
              <a:xfrm>
                <a:off x="17815468" y="9495638"/>
                <a:ext cx="1283751" cy="1504880"/>
              </a:xfrm>
              <a:prstGeom prst="flowChartConnector">
                <a:avLst/>
              </a:prstGeom>
              <a:solidFill>
                <a:srgbClr val="00B0F0">
                  <a:alpha val="50000"/>
                </a:srgb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marL="0" marR="0" indent="0" algn="ctr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5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7" name="Flowchart: Connector 6">
                <a:extLst>
                  <a:ext uri="{FF2B5EF4-FFF2-40B4-BE49-F238E27FC236}">
                    <a16:creationId xmlns:a16="http://schemas.microsoft.com/office/drawing/2014/main" id="{F7168132-1169-76C5-3274-EA6B16FAAA54}"/>
                  </a:ext>
                </a:extLst>
              </p:cNvPr>
              <p:cNvSpPr/>
              <p:nvPr/>
            </p:nvSpPr>
            <p:spPr>
              <a:xfrm>
                <a:off x="14112240" y="9048593"/>
                <a:ext cx="2383536" cy="2465968"/>
              </a:xfrm>
              <a:prstGeom prst="flowChartConnector">
                <a:avLst/>
              </a:prstGeom>
              <a:solidFill>
                <a:srgbClr val="00B0F0">
                  <a:alpha val="50000"/>
                </a:srgb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marL="0" marR="0" indent="0" algn="ctr" defTabSz="82296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5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</p:grp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CA2950D1-3433-1D42-64A9-905BF6D73715}"/>
                </a:ext>
              </a:extLst>
            </p:cNvPr>
            <p:cNvSpPr/>
            <p:nvPr/>
          </p:nvSpPr>
          <p:spPr>
            <a:xfrm rot="16200000" flipH="1">
              <a:off x="16537983" y="5765523"/>
              <a:ext cx="2940929" cy="1077077"/>
            </a:xfrm>
            <a:prstGeom prst="rtTriangle">
              <a:avLst/>
            </a:prstGeom>
            <a:solidFill>
              <a:srgbClr val="FF0000"/>
            </a:solidFill>
            <a:ln w="12700" cap="flat">
              <a:noFill/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4B0D2F09-7A9D-FD8B-88D5-68DB037D848B}"/>
                </a:ext>
              </a:extLst>
            </p:cNvPr>
            <p:cNvSpPr/>
            <p:nvPr/>
          </p:nvSpPr>
          <p:spPr>
            <a:xfrm rot="16200000" flipH="1" flipV="1">
              <a:off x="17630339" y="5750245"/>
              <a:ext cx="2925772" cy="1092477"/>
            </a:xfrm>
            <a:prstGeom prst="rtTriangle">
              <a:avLst/>
            </a:prstGeom>
            <a:solidFill>
              <a:srgbClr val="FF0000"/>
            </a:solidFill>
            <a:ln w="12700" cap="flat">
              <a:noFill/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8580" tIns="68580" rIns="68580" bIns="68580" numCol="1" spcCol="38100" rtlCol="0" anchor="ctr">
              <a:spAutoFit/>
            </a:bodyPr>
            <a:lstStyle/>
            <a:p>
              <a:pPr marL="0" marR="0" indent="0" algn="ctr" defTabSz="82296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4EF61C-2642-5316-0CCE-47CC6F170CE1}"/>
              </a:ext>
            </a:extLst>
          </p:cNvPr>
          <p:cNvSpPr/>
          <p:nvPr/>
        </p:nvSpPr>
        <p:spPr>
          <a:xfrm>
            <a:off x="8669441" y="10884748"/>
            <a:ext cx="2767681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18.4°</a:t>
            </a:r>
          </a:p>
          <a:p>
            <a:pPr algn="ctr"/>
            <a:r>
              <a:rPr lang="en-US" sz="4000">
                <a:solidFill>
                  <a:schemeClr val="tx1"/>
                </a:solidFill>
              </a:rPr>
              <a:t>Half Angle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CE75F0B-624E-8CB9-D186-942019376B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7E021B-43B3-9ECA-C42F-D76B617C0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933" y="2217806"/>
            <a:ext cx="8971685" cy="7877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BCB419-8B8B-733F-B232-1662C17F7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3024" y="2217806"/>
            <a:ext cx="9422646" cy="827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0048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6932-67C4-DFB7-5080-AB737438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Supercharging Validation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EE894-4A6C-F619-59C1-69A42BAEC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79"/>
          <a:stretch>
            <a:fillRect/>
          </a:stretch>
        </p:blipFill>
        <p:spPr>
          <a:xfrm>
            <a:off x="8941164" y="3463618"/>
            <a:ext cx="5989011" cy="4974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2421C2-58D7-6222-8A7D-68E04B97D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88" y="3463618"/>
            <a:ext cx="5989011" cy="49745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96B3CC-E124-ECA8-1920-3A2D28565C4E}"/>
              </a:ext>
            </a:extLst>
          </p:cNvPr>
          <p:cNvSpPr txBox="1"/>
          <p:nvPr/>
        </p:nvSpPr>
        <p:spPr>
          <a:xfrm>
            <a:off x="8941164" y="8541911"/>
            <a:ext cx="6239148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Servicer does not recollect all the emitted electrons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FEB7FA-FEC3-3198-FC21-90D88D8CA35A}"/>
                  </a:ext>
                </a:extLst>
              </p:cNvPr>
              <p:cNvSpPr txBox="1"/>
              <p:nvPr/>
            </p:nvSpPr>
            <p:spPr>
              <a:xfrm>
                <a:off x="16935036" y="8541911"/>
                <a:ext cx="4937412" cy="6288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𝐹𝑖𝑛𝑎𝑙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𝐼𝑛𝑖𝑡𝑖𝑎𝑙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=+ 1.32 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32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FEB7FA-FEC3-3198-FC21-90D88D8CA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5036" y="8541911"/>
                <a:ext cx="4937412" cy="6288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B23A-4D4D-1E12-9182-9D1A650CCA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D3F2BBF3-D131-C4E3-BF0A-0739C40DE0AF}"/>
              </a:ext>
            </a:extLst>
          </p:cNvPr>
          <p:cNvSpPr/>
          <p:nvPr/>
        </p:nvSpPr>
        <p:spPr>
          <a:xfrm>
            <a:off x="16348226" y="3734119"/>
            <a:ext cx="2139346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-3 kV</a:t>
            </a:r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0D708E01-FCCB-8286-FDE2-3025960CE21B}"/>
              </a:ext>
            </a:extLst>
          </p:cNvPr>
          <p:cNvSpPr/>
          <p:nvPr/>
        </p:nvSpPr>
        <p:spPr>
          <a:xfrm>
            <a:off x="16301054" y="7374461"/>
            <a:ext cx="2139346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3.32 kV</a:t>
            </a:r>
          </a:p>
        </p:txBody>
      </p:sp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92D10A14-1938-F9B6-3C95-11D2E2022C20}"/>
              </a:ext>
            </a:extLst>
          </p:cNvPr>
          <p:cNvSpPr/>
          <p:nvPr/>
        </p:nvSpPr>
        <p:spPr>
          <a:xfrm>
            <a:off x="1124814" y="2965214"/>
            <a:ext cx="6239148" cy="35584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To verify supercharging in a plasma environment, we start with a potential difference equal to the beam energy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">
                <a:extLst>
                  <a:ext uri="{FF2B5EF4-FFF2-40B4-BE49-F238E27FC236}">
                    <a16:creationId xmlns:a16="http://schemas.microsoft.com/office/drawing/2014/main" id="{BECFCD2E-8B9F-F531-8149-A5FB1AF23E83}"/>
                  </a:ext>
                </a:extLst>
              </p:cNvPr>
              <p:cNvSpPr/>
              <p:nvPr/>
            </p:nvSpPr>
            <p:spPr>
              <a:xfrm>
                <a:off x="1209817" y="6947017"/>
                <a:ext cx="6239148" cy="495043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Initial Parameters: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=−3 </m:t>
                    </m:r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𝑘𝑉</m:t>
                    </m:r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 b="1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𝐼𝑛𝑖𝑡𝑖𝑎𝑙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 b="1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4000" b="1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𝐵𝑒𝑎𝑚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𝑘𝑒𝑉</m:t>
                    </m:r>
                  </m:oMath>
                </a14:m>
                <a:r>
                  <a:rPr lang="en-US" sz="4000" b="1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000" b="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4000" b="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=0.104 </m:t>
                      </m:r>
                      <m:r>
                        <a:rPr lang="en-US" sz="4000" b="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𝑚𝑁</m:t>
                      </m:r>
                    </m:oMath>
                  </m:oMathPara>
                </a14:m>
                <a:endParaRPr lang="en-US" sz="40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">
                <a:extLst>
                  <a:ext uri="{FF2B5EF4-FFF2-40B4-BE49-F238E27FC236}">
                    <a16:creationId xmlns:a16="http://schemas.microsoft.com/office/drawing/2014/main" id="{BECFCD2E-8B9F-F531-8149-A5FB1AF23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817" y="6947017"/>
                <a:ext cx="6239148" cy="49504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">
                <a:extLst>
                  <a:ext uri="{FF2B5EF4-FFF2-40B4-BE49-F238E27FC236}">
                    <a16:creationId xmlns:a16="http://schemas.microsoft.com/office/drawing/2014/main" id="{EB7069FD-AE52-5E35-2207-50E05C989F31}"/>
                  </a:ext>
                </a:extLst>
              </p:cNvPr>
              <p:cNvSpPr/>
              <p:nvPr/>
            </p:nvSpPr>
            <p:spPr>
              <a:xfrm>
                <a:off x="15978938" y="10456606"/>
                <a:ext cx="6849610" cy="157518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4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40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4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0.178 </m:t>
                      </m:r>
                      <m:r>
                        <a:rPr lang="en-US" sz="4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𝑚𝑁</m:t>
                      </m:r>
                    </m:oMath>
                  </m:oMathPara>
                </a14:m>
                <a:endParaRPr lang="en-US" sz="4000" b="0" i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4000">
                    <a:solidFill>
                      <a:schemeClr val="tx1"/>
                    </a:solidFill>
                  </a:rPr>
                  <a:t>71.2% higher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sub>
                    </m:sSub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ounded Rectangle 1">
                <a:extLst>
                  <a:ext uri="{FF2B5EF4-FFF2-40B4-BE49-F238E27FC236}">
                    <a16:creationId xmlns:a16="http://schemas.microsoft.com/office/drawing/2014/main" id="{EB7069FD-AE52-5E35-2207-50E05C989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8938" y="10456606"/>
                <a:ext cx="6849610" cy="1575183"/>
              </a:xfrm>
              <a:prstGeom prst="roundRect">
                <a:avLst/>
              </a:prstGeom>
              <a:blipFill>
                <a:blip r:embed="rId6"/>
                <a:stretch>
                  <a:fillRect b="-8429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>
            <a:extLst>
              <a:ext uri="{FF2B5EF4-FFF2-40B4-BE49-F238E27FC236}">
                <a16:creationId xmlns:a16="http://schemas.microsoft.com/office/drawing/2014/main" id="{099924CA-7AE4-0A50-640D-2B4B0DAA6909}"/>
              </a:ext>
            </a:extLst>
          </p:cNvPr>
          <p:cNvSpPr/>
          <p:nvPr/>
        </p:nvSpPr>
        <p:spPr>
          <a:xfrm rot="10800000">
            <a:off x="19403742" y="9274585"/>
            <a:ext cx="408258" cy="930135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60354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11CC-5A71-6842-5B3B-6B5AEE11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CCA0-98EC-F23F-343B-87AA6BBF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Applied Supercharging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436FC58F-B083-5DE8-29B3-96A1FCCAE720}"/>
                  </a:ext>
                </a:extLst>
              </p:cNvPr>
              <p:cNvSpPr/>
              <p:nvPr/>
            </p:nvSpPr>
            <p:spPr>
              <a:xfrm>
                <a:off x="1124815" y="7254053"/>
                <a:ext cx="6239148" cy="495043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Initial Parameters: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=−9.5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𝑆𝐶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=2.7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𝐼𝑛𝑖𝑡𝑖𝑎𝑙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=12.2 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4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initial</m:t>
                        </m:r>
                      </m:sub>
                    </m:sSub>
                    <m:r>
                      <a:rPr lang="en-US" sz="4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4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a:rPr lang="en-US" sz="4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𝑚𝑁</m:t>
                    </m:r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436FC58F-B083-5DE8-29B3-96A1FCCAE7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5" y="7254053"/>
                <a:ext cx="6239148" cy="495043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92E8D7AD-302E-E109-2F51-BBCCC2EF0896}"/>
                  </a:ext>
                </a:extLst>
              </p:cNvPr>
              <p:cNvSpPr/>
              <p:nvPr/>
            </p:nvSpPr>
            <p:spPr>
              <a:xfrm>
                <a:off x="1124815" y="2554801"/>
                <a:ext cx="6239148" cy="4239458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</a:rPr>
                  <a:t>Possible to charge SC and target to equilibrium with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15 </m:t>
                    </m:r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𝑘𝑒𝑉</m:t>
                    </m:r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electron beam, then maintain this potential difference at lower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𝐵𝑒𝑎𝑚</m:t>
                        </m:r>
                      </m:sub>
                    </m:sSub>
                  </m:oMath>
                </a14:m>
                <a:endParaRPr lang="en-US" sz="4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92E8D7AD-302E-E109-2F51-BBCCC2EF08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5" y="2554801"/>
                <a:ext cx="6239148" cy="4239458"/>
              </a:xfrm>
              <a:prstGeom prst="roundRect">
                <a:avLst/>
              </a:prstGeom>
              <a:blipFill>
                <a:blip r:embed="rId3"/>
                <a:stretch>
                  <a:fillRect b="-143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6034E-BBC6-3709-2F14-61C08A1CB12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DD0F06-5B13-F630-131E-7117E8D4B51F}"/>
              </a:ext>
            </a:extLst>
          </p:cNvPr>
          <p:cNvGrpSpPr/>
          <p:nvPr/>
        </p:nvGrpSpPr>
        <p:grpSpPr>
          <a:xfrm>
            <a:off x="8461897" y="2190461"/>
            <a:ext cx="15495671" cy="5507950"/>
            <a:chOff x="10726654" y="2690543"/>
            <a:chExt cx="15495671" cy="550795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5E7D598-2FE0-C70E-53AA-527D7E248003}"/>
                </a:ext>
              </a:extLst>
            </p:cNvPr>
            <p:cNvGrpSpPr/>
            <p:nvPr/>
          </p:nvGrpSpPr>
          <p:grpSpPr>
            <a:xfrm>
              <a:off x="13935075" y="2690543"/>
              <a:ext cx="12287250" cy="5507950"/>
              <a:chOff x="8181975" y="2663885"/>
              <a:chExt cx="12287250" cy="55079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AC8E311-43DB-6F6F-A054-46AE378A2C0D}"/>
                      </a:ext>
                    </a:extLst>
                  </p:cNvPr>
                  <p:cNvSpPr txBox="1"/>
                  <p:nvPr/>
                </p:nvSpPr>
                <p:spPr>
                  <a:xfrm>
                    <a:off x="8181975" y="7094617"/>
                    <a:ext cx="12287250" cy="107721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𝐹𝑖𝑛𝑎𝑙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12.01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𝑘𝑉</m:t>
                          </m:r>
                        </m:oMath>
                      </m:oMathPara>
                    </a14:m>
                    <a:endParaRPr lang="en-US" sz="3200" b="1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sz="3200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AC8E311-43DB-6F6F-A054-46AE378A2C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1975" y="7094617"/>
                    <a:ext cx="12287250" cy="107721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3BA2A24-A9F8-77B2-3BED-3F52D2909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43896" y="2663885"/>
                <a:ext cx="5430008" cy="4391638"/>
              </a:xfrm>
              <a:prstGeom prst="rect">
                <a:avLst/>
              </a:prstGeom>
            </p:spPr>
          </p:pic>
          <p:sp>
            <p:nvSpPr>
              <p:cNvPr id="11" name="Rounded Rectangle 1">
                <a:extLst>
                  <a:ext uri="{FF2B5EF4-FFF2-40B4-BE49-F238E27FC236}">
                    <a16:creationId xmlns:a16="http://schemas.microsoft.com/office/drawing/2014/main" id="{B41509FD-ECB9-7475-6114-94A9329A53BA}"/>
                  </a:ext>
                </a:extLst>
              </p:cNvPr>
              <p:cNvSpPr/>
              <p:nvPr/>
            </p:nvSpPr>
            <p:spPr>
              <a:xfrm>
                <a:off x="11540570" y="2891988"/>
                <a:ext cx="1670050" cy="62996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-9.4 kV</a:t>
                </a:r>
              </a:p>
            </p:txBody>
          </p:sp>
          <p:sp>
            <p:nvSpPr>
              <p:cNvPr id="12" name="Rounded Rectangle 1">
                <a:extLst>
                  <a:ext uri="{FF2B5EF4-FFF2-40B4-BE49-F238E27FC236}">
                    <a16:creationId xmlns:a16="http://schemas.microsoft.com/office/drawing/2014/main" id="{A4428DBC-8875-A68C-56E0-08914CB774E1}"/>
                  </a:ext>
                </a:extLst>
              </p:cNvPr>
              <p:cNvSpPr/>
              <p:nvPr/>
            </p:nvSpPr>
            <p:spPr>
              <a:xfrm>
                <a:off x="11540570" y="6251138"/>
                <a:ext cx="1670050" cy="62996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2.61 kV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6638B97-ACCF-7ABD-E5E3-1B31955C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26654" y="2690543"/>
              <a:ext cx="5504056" cy="4391638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4A7157C-CDDF-9947-5C6D-0BE0AD068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12494" y="8023125"/>
            <a:ext cx="5549753" cy="4512878"/>
          </a:xfrm>
          <a:prstGeom prst="rect">
            <a:avLst/>
          </a:prstGeom>
        </p:spPr>
      </p:pic>
      <p:sp>
        <p:nvSpPr>
          <p:cNvPr id="27" name="Rounded Rectangle 1">
            <a:extLst>
              <a:ext uri="{FF2B5EF4-FFF2-40B4-BE49-F238E27FC236}">
                <a16:creationId xmlns:a16="http://schemas.microsoft.com/office/drawing/2014/main" id="{C18F8D14-99FA-AC73-541B-517DF23A445E}"/>
              </a:ext>
            </a:extLst>
          </p:cNvPr>
          <p:cNvSpPr/>
          <p:nvPr/>
        </p:nvSpPr>
        <p:spPr>
          <a:xfrm>
            <a:off x="21579332" y="4071300"/>
            <a:ext cx="1679853" cy="62996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Cambria Math" panose="02040503050406030204" pitchFamily="18" charset="0"/>
              </a:rPr>
              <a:t>In wake</a:t>
            </a:r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5A84BA1-CE52-0D86-A288-5F0032264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97" y="8023125"/>
            <a:ext cx="5610974" cy="4524658"/>
          </a:xfrm>
          <a:prstGeom prst="rect">
            <a:avLst/>
          </a:prstGeom>
        </p:spPr>
      </p:pic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2F87F97D-7B9B-EF20-135A-B9F766CEC284}"/>
              </a:ext>
            </a:extLst>
          </p:cNvPr>
          <p:cNvSpPr/>
          <p:nvPr/>
        </p:nvSpPr>
        <p:spPr>
          <a:xfrm>
            <a:off x="14832239" y="11362958"/>
            <a:ext cx="1670050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2.06 kV</a:t>
            </a:r>
          </a:p>
        </p:txBody>
      </p:sp>
      <p:sp>
        <p:nvSpPr>
          <p:cNvPr id="39" name="Rounded Rectangle 1">
            <a:extLst>
              <a:ext uri="{FF2B5EF4-FFF2-40B4-BE49-F238E27FC236}">
                <a16:creationId xmlns:a16="http://schemas.microsoft.com/office/drawing/2014/main" id="{CED4DF49-7EA7-807D-D9CE-6F57B7039CDC}"/>
              </a:ext>
            </a:extLst>
          </p:cNvPr>
          <p:cNvSpPr/>
          <p:nvPr/>
        </p:nvSpPr>
        <p:spPr>
          <a:xfrm>
            <a:off x="14832239" y="8598899"/>
            <a:ext cx="1670050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358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EB8555-1ACF-DE17-C59F-E9FE551CF6FB}"/>
                  </a:ext>
                </a:extLst>
              </p:cNvPr>
              <p:cNvSpPr txBox="1"/>
              <p:nvPr/>
            </p:nvSpPr>
            <p:spPr>
              <a:xfrm>
                <a:off x="11519002" y="12672795"/>
                <a:ext cx="12782550" cy="584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𝐹𝑖𝑛𝑎𝑙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EB8555-1ACF-DE17-C59F-E9FE551C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9002" y="12672795"/>
                <a:ext cx="1278255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B3AF9DE2-284E-6E6C-AA45-3438F0F12996}"/>
              </a:ext>
            </a:extLst>
          </p:cNvPr>
          <p:cNvSpPr/>
          <p:nvPr/>
        </p:nvSpPr>
        <p:spPr>
          <a:xfrm>
            <a:off x="21339829" y="9964584"/>
            <a:ext cx="2158858" cy="62996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Cambria Math" panose="02040503050406030204" pitchFamily="18" charset="0"/>
              </a:rPr>
              <a:t>Not in  wake</a:t>
            </a:r>
            <a:endParaRPr lang="en-US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1">
                <a:extLst>
                  <a:ext uri="{FF2B5EF4-FFF2-40B4-BE49-F238E27FC236}">
                    <a16:creationId xmlns:a16="http://schemas.microsoft.com/office/drawing/2014/main" id="{AC7C9001-56B1-5407-4516-D01BB5A9CF27}"/>
                  </a:ext>
                </a:extLst>
              </p:cNvPr>
              <p:cNvSpPr/>
              <p:nvPr/>
            </p:nvSpPr>
            <p:spPr>
              <a:xfrm>
                <a:off x="20305899" y="7182685"/>
                <a:ext cx="4027505" cy="1006375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=0.493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𝑚𝑁</m:t>
                      </m:r>
                    </m:oMath>
                  </m:oMathPara>
                </a14:m>
                <a:endParaRPr lang="en-US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aintaining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96.3% </m:t>
                      </m:r>
                      <m:r>
                        <m:rPr>
                          <m:sty m:val="p"/>
                        </m:rP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initial</m:t>
                          </m:r>
                        </m:sub>
                      </m:sSub>
                    </m:oMath>
                  </m:oMathPara>
                </a14:m>
                <a:endParaRPr lang="en-US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Rounded Rectangle 1">
                <a:extLst>
                  <a:ext uri="{FF2B5EF4-FFF2-40B4-BE49-F238E27FC236}">
                    <a16:creationId xmlns:a16="http://schemas.microsoft.com/office/drawing/2014/main" id="{AC7C9001-56B1-5407-4516-D01BB5A9C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899" y="7182685"/>
                <a:ext cx="4027505" cy="1006375"/>
              </a:xfrm>
              <a:prstGeom prst="roundRect">
                <a:avLst/>
              </a:prstGeom>
              <a:blipFill>
                <a:blip r:embed="rId10"/>
                <a:stretch>
                  <a:fillRect l="-905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Right 43">
            <a:extLst>
              <a:ext uri="{FF2B5EF4-FFF2-40B4-BE49-F238E27FC236}">
                <a16:creationId xmlns:a16="http://schemas.microsoft.com/office/drawing/2014/main" id="{3A47C6CF-9292-D50A-2B62-D5469AD15849}"/>
              </a:ext>
            </a:extLst>
          </p:cNvPr>
          <p:cNvSpPr/>
          <p:nvPr/>
        </p:nvSpPr>
        <p:spPr>
          <a:xfrm rot="12062098">
            <a:off x="19388928" y="6995189"/>
            <a:ext cx="845435" cy="485883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le 1">
                <a:extLst>
                  <a:ext uri="{FF2B5EF4-FFF2-40B4-BE49-F238E27FC236}">
                    <a16:creationId xmlns:a16="http://schemas.microsoft.com/office/drawing/2014/main" id="{F5EB6838-71C7-EB21-7866-FCD950406BC7}"/>
                  </a:ext>
                </a:extLst>
              </p:cNvPr>
              <p:cNvSpPr/>
              <p:nvPr/>
            </p:nvSpPr>
            <p:spPr>
              <a:xfrm>
                <a:off x="20536961" y="11941572"/>
                <a:ext cx="3764591" cy="988427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−9.74 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400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2400" i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Objects repel </a:t>
                </a:r>
                <a:r>
                  <a:rPr lang="en-US" sz="2400" i="1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eachother</a:t>
                </a:r>
                <a:endParaRPr lang="en-US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Rounded Rectangle 1">
                <a:extLst>
                  <a:ext uri="{FF2B5EF4-FFF2-40B4-BE49-F238E27FC236}">
                    <a16:creationId xmlns:a16="http://schemas.microsoft.com/office/drawing/2014/main" id="{F5EB6838-71C7-EB21-7866-FCD950406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6961" y="11941572"/>
                <a:ext cx="3764591" cy="988427"/>
              </a:xfrm>
              <a:prstGeom prst="roundRect">
                <a:avLst/>
              </a:prstGeom>
              <a:blipFill>
                <a:blip r:embed="rId11"/>
                <a:stretch>
                  <a:fillRect b="-5488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row: Right 46">
            <a:extLst>
              <a:ext uri="{FF2B5EF4-FFF2-40B4-BE49-F238E27FC236}">
                <a16:creationId xmlns:a16="http://schemas.microsoft.com/office/drawing/2014/main" id="{11982A42-7F2D-815D-2FAE-3F237BFAED84}"/>
              </a:ext>
            </a:extLst>
          </p:cNvPr>
          <p:cNvSpPr/>
          <p:nvPr/>
        </p:nvSpPr>
        <p:spPr>
          <a:xfrm rot="10194379">
            <a:off x="19478041" y="12687058"/>
            <a:ext cx="845435" cy="485883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549927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1" grpId="0"/>
      <p:bldP spid="42" grpId="0" animBg="1"/>
      <p:bldP spid="43" grpId="0" animBg="1"/>
      <p:bldP spid="44" grpId="0" animBg="1"/>
      <p:bldP spid="46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3B13-7388-6841-65A9-643D7102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47A5-992B-4424-0F42-0E680168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815" y="-508"/>
            <a:ext cx="19396330" cy="1887969"/>
          </a:xfrm>
        </p:spPr>
        <p:txBody>
          <a:bodyPr/>
          <a:lstStyle/>
          <a:p>
            <a:r>
              <a:rPr lang="en-US"/>
              <a:t>Additional Charging Application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5B60D26D-C9FF-8BB8-294C-95622281FF54}"/>
                  </a:ext>
                </a:extLst>
              </p:cNvPr>
              <p:cNvSpPr/>
              <p:nvPr/>
            </p:nvSpPr>
            <p:spPr>
              <a:xfrm>
                <a:off x="1124816" y="7179594"/>
                <a:ext cx="6239147" cy="4950433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Initial Parameters: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=−9.5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𝑆𝐶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=2.7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𝐼𝑛𝑖𝑡𝑖𝑎𝑙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=12.2 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𝑘𝑉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4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𝐵𝑒𝑎𝑚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US" sz="4000" b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4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4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initial</m:t>
                        </m:r>
                      </m:sub>
                    </m:sSub>
                    <m:r>
                      <a:rPr lang="en-US" sz="4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=0.512 </m:t>
                    </m:r>
                    <m:r>
                      <a:rPr lang="en-US" sz="40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𝑚𝑁</m:t>
                    </m:r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5B60D26D-C9FF-8BB8-294C-95622281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6" y="7179594"/>
                <a:ext cx="6239147" cy="495043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B261B3DA-0740-4E81-6D4C-84AC7E526E44}"/>
                  </a:ext>
                </a:extLst>
              </p:cNvPr>
              <p:cNvSpPr/>
              <p:nvPr/>
            </p:nvSpPr>
            <p:spPr>
              <a:xfrm>
                <a:off x="1124815" y="2625591"/>
                <a:ext cx="6239148" cy="4239458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:r>
                  <a:rPr lang="en-US" sz="4000">
                    <a:solidFill>
                      <a:schemeClr val="tx1"/>
                    </a:solidFill>
                  </a:rPr>
                  <a:t>After charging to equilibrium with a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15 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𝑘𝑒𝑉</m:t>
                    </m:r>
                  </m:oMath>
                </a14:m>
                <a:r>
                  <a:rPr lang="en-US" sz="4000">
                    <a:solidFill>
                      <a:schemeClr val="tx1"/>
                    </a:solidFill>
                  </a:rPr>
                  <a:t> beam, we can point the beam away from the target and continue charging</a:t>
                </a:r>
              </a:p>
            </p:txBody>
          </p:sp>
        </mc:Choice>
        <mc:Fallback xmlns=""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B261B3DA-0740-4E81-6D4C-84AC7E526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15" y="2625591"/>
                <a:ext cx="6239148" cy="4239458"/>
              </a:xfrm>
              <a:prstGeom prst="roundRect">
                <a:avLst/>
              </a:prstGeom>
              <a:blipFill>
                <a:blip r:embed="rId3"/>
                <a:stretch>
                  <a:fillRect l="-195" r="-1951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7985154-8874-9540-2A3A-CEECDBDC131D}"/>
              </a:ext>
            </a:extLst>
          </p:cNvPr>
          <p:cNvGrpSpPr/>
          <p:nvPr/>
        </p:nvGrpSpPr>
        <p:grpSpPr>
          <a:xfrm>
            <a:off x="9571785" y="2149943"/>
            <a:ext cx="12448611" cy="10566317"/>
            <a:chOff x="10330068" y="2395270"/>
            <a:chExt cx="12448611" cy="105663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FA80185-DFFA-69C8-0CCB-2DC5AFF96FA2}"/>
                    </a:ext>
                  </a:extLst>
                </p:cNvPr>
                <p:cNvSpPr txBox="1"/>
                <p:nvPr/>
              </p:nvSpPr>
              <p:spPr>
                <a:xfrm>
                  <a:off x="10330068" y="11884369"/>
                  <a:ext cx="12287250" cy="107721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wrap="square">
                  <a:spAutoFit/>
                </a:bodyPr>
                <a:lstStyle/>
                <a:p>
                  <a:pPr algn="ctr"/>
                  <a:endParaRPr lang="en-US" sz="3200" b="1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𝐹𝑖𝑛𝑎𝑙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13.77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𝑘𝑉</m:t>
                        </m:r>
                      </m:oMath>
                    </m:oMathPara>
                  </a14:m>
                  <a:endParaRPr lang="en-US" sz="3200" b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FA80185-DFFA-69C8-0CCB-2DC5AFF96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0068" y="11884369"/>
                  <a:ext cx="12287250" cy="10772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DB93702-1071-D6C8-7BB9-C5C06F12B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69511" y="2395270"/>
              <a:ext cx="5410955" cy="43725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8BC852-3DEF-F86F-7D6E-0D4E00E4E555}"/>
                </a:ext>
              </a:extLst>
            </p:cNvPr>
            <p:cNvSpPr txBox="1"/>
            <p:nvPr/>
          </p:nvSpPr>
          <p:spPr>
            <a:xfrm>
              <a:off x="10455414" y="6749247"/>
              <a:ext cx="6239148" cy="584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</a:rPr>
                <a:t>Wake has not collapsed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6E4D1D2-972B-96B1-ABBA-6434A8F19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953628" y="2399837"/>
              <a:ext cx="5410955" cy="433448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D67AFC-185F-FDBF-0A37-2A18F12DF2EB}"/>
                </a:ext>
              </a:extLst>
            </p:cNvPr>
            <p:cNvSpPr txBox="1"/>
            <p:nvPr/>
          </p:nvSpPr>
          <p:spPr>
            <a:xfrm>
              <a:off x="16539531" y="6767855"/>
              <a:ext cx="6239148" cy="1077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Beam emitted away from the target</a:t>
              </a:r>
              <a:endParaRPr lang="en-US" sz="320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37F97B4-9363-235B-CA57-1B7D93B7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758689" y="7904903"/>
              <a:ext cx="5430008" cy="4401164"/>
            </a:xfrm>
            <a:prstGeom prst="rect">
              <a:avLst/>
            </a:prstGeom>
          </p:spPr>
        </p:pic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E2C9228D-6957-0C94-A17D-58C403194F36}"/>
              </a:ext>
            </a:extLst>
          </p:cNvPr>
          <p:cNvSpPr/>
          <p:nvPr/>
        </p:nvSpPr>
        <p:spPr>
          <a:xfrm rot="10300139">
            <a:off x="17758148" y="12175966"/>
            <a:ext cx="1388516" cy="33331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marL="0" marR="0" indent="0" algn="ctr" defTabSz="82296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E334B-BA62-7418-31D8-D944D4252CD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DEBDD1C0-4FE5-D541-870D-152D3F511AA2}"/>
              </a:ext>
            </a:extLst>
          </p:cNvPr>
          <p:cNvSpPr/>
          <p:nvPr/>
        </p:nvSpPr>
        <p:spPr>
          <a:xfrm>
            <a:off x="13201574" y="8065585"/>
            <a:ext cx="2139346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-9.3 kV</a:t>
            </a:r>
          </a:p>
        </p:txBody>
      </p:sp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A6D81CBC-E2D5-A8A8-8AB0-FFCB44F3DC03}"/>
              </a:ext>
            </a:extLst>
          </p:cNvPr>
          <p:cNvSpPr/>
          <p:nvPr/>
        </p:nvSpPr>
        <p:spPr>
          <a:xfrm>
            <a:off x="13201574" y="11122338"/>
            <a:ext cx="2139346" cy="62996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4.47 kV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">
                <a:extLst>
                  <a:ext uri="{FF2B5EF4-FFF2-40B4-BE49-F238E27FC236}">
                    <a16:creationId xmlns:a16="http://schemas.microsoft.com/office/drawing/2014/main" id="{0DF4731B-A531-A1AB-D6E0-791AB3F8576E}"/>
                  </a:ext>
                </a:extLst>
              </p:cNvPr>
              <p:cNvSpPr/>
              <p:nvPr/>
            </p:nvSpPr>
            <p:spPr>
              <a:xfrm>
                <a:off x="19442219" y="11367264"/>
                <a:ext cx="3764591" cy="1625268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8580" tIns="68580" rIns="68580" bIns="68580" numCol="1" spcCol="381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8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 err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0.738 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𝑚𝑁</m:t>
                      </m:r>
                    </m:oMath>
                  </m:oMathPara>
                </a14:m>
                <a:endParaRPr lang="en-US" sz="28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Increased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initial</m:t>
                        </m:r>
                      </m:sub>
                    </m:sSub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by 44.14 %</a:t>
                </a:r>
              </a:p>
            </p:txBody>
          </p:sp>
        </mc:Choice>
        <mc:Fallback xmlns="">
          <p:sp>
            <p:nvSpPr>
              <p:cNvPr id="13" name="Rounded Rectangle 1">
                <a:extLst>
                  <a:ext uri="{FF2B5EF4-FFF2-40B4-BE49-F238E27FC236}">
                    <a16:creationId xmlns:a16="http://schemas.microsoft.com/office/drawing/2014/main" id="{0DF4731B-A531-A1AB-D6E0-791AB3F85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2219" y="11367264"/>
                <a:ext cx="3764591" cy="1625268"/>
              </a:xfrm>
              <a:prstGeom prst="roundRect">
                <a:avLst/>
              </a:prstGeom>
              <a:blipFill>
                <a:blip r:embed="rId8"/>
                <a:stretch>
                  <a:fillRect b="-3358"/>
                </a:stretch>
              </a:blip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5715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A218-633F-9F0A-D87D-26672000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CDF0-DFB9-7F4F-7517-0029B74F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815" y="-508"/>
            <a:ext cx="19396330" cy="1887969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0E7BA-3B83-DE7B-355F-54995E3D29A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BAA28247-076D-2B22-21A0-0ADBBBB81172}"/>
              </a:ext>
            </a:extLst>
          </p:cNvPr>
          <p:cNvSpPr/>
          <p:nvPr/>
        </p:nvSpPr>
        <p:spPr>
          <a:xfrm>
            <a:off x="4914129" y="7237432"/>
            <a:ext cx="6239147" cy="42394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3. It is possible to maintain a significantly higher potential difference than the energy of the beam if the target stays in the wake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E28463E3-224A-8B68-4DAC-6A567FEDAC0A}"/>
              </a:ext>
            </a:extLst>
          </p:cNvPr>
          <p:cNvSpPr/>
          <p:nvPr/>
        </p:nvSpPr>
        <p:spPr>
          <a:xfrm>
            <a:off x="4914129" y="3392429"/>
            <a:ext cx="6239148" cy="2196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1. Supercharging must occur inside of a plasma wake</a:t>
            </a:r>
          </a:p>
        </p:txBody>
      </p:sp>
      <p:sp>
        <p:nvSpPr>
          <p:cNvPr id="23" name="Rounded Rectangle 1">
            <a:extLst>
              <a:ext uri="{FF2B5EF4-FFF2-40B4-BE49-F238E27FC236}">
                <a16:creationId xmlns:a16="http://schemas.microsoft.com/office/drawing/2014/main" id="{0D0F65B3-AB77-80A6-3DE9-FC1A5B494DD9}"/>
              </a:ext>
            </a:extLst>
          </p:cNvPr>
          <p:cNvSpPr/>
          <p:nvPr/>
        </p:nvSpPr>
        <p:spPr>
          <a:xfrm>
            <a:off x="13524729" y="7577949"/>
            <a:ext cx="6239147" cy="35584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4. It is possible to continue charging passed equilibrium by pointing the beam away from the target </a:t>
            </a:r>
          </a:p>
        </p:txBody>
      </p:sp>
      <p:sp>
        <p:nvSpPr>
          <p:cNvPr id="26" name="Rounded Rectangle 1">
            <a:extLst>
              <a:ext uri="{FF2B5EF4-FFF2-40B4-BE49-F238E27FC236}">
                <a16:creationId xmlns:a16="http://schemas.microsoft.com/office/drawing/2014/main" id="{622D238A-D96E-2612-5144-CC9BB62A79E1}"/>
              </a:ext>
            </a:extLst>
          </p:cNvPr>
          <p:cNvSpPr/>
          <p:nvPr/>
        </p:nvSpPr>
        <p:spPr>
          <a:xfrm>
            <a:off x="13524729" y="3332394"/>
            <a:ext cx="6239148" cy="2196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2. A wider beam width, to an extent, provides better supercharging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2010645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8C85-2A32-C7F1-8AE7-1D67975F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7E8B-13D6-F0B4-E68D-19BE729D3C9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B579E24D-A9D7-C833-AE1D-20E70D7BF921}"/>
              </a:ext>
            </a:extLst>
          </p:cNvPr>
          <p:cNvSpPr/>
          <p:nvPr/>
        </p:nvSpPr>
        <p:spPr>
          <a:xfrm>
            <a:off x="1905864" y="2713630"/>
            <a:ext cx="7123836" cy="2196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Explore supercharging in additional mesothermal regions (Cislunar, LEO)</a:t>
            </a: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33EECA71-D00C-95F6-03F7-181DBB248F47}"/>
              </a:ext>
            </a:extLst>
          </p:cNvPr>
          <p:cNvSpPr/>
          <p:nvPr/>
        </p:nvSpPr>
        <p:spPr>
          <a:xfrm>
            <a:off x="1905864" y="5512998"/>
            <a:ext cx="7123836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Apply supercharging concepts to more realistic geometries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5B35BA4D-1F8C-6F62-7869-B0E740CD9A0A}"/>
              </a:ext>
            </a:extLst>
          </p:cNvPr>
          <p:cNvSpPr/>
          <p:nvPr/>
        </p:nvSpPr>
        <p:spPr>
          <a:xfrm>
            <a:off x="1905864" y="7631328"/>
            <a:ext cx="7123836" cy="2196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Optimize beam width, separation distance and beam energy and current 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95E94670-C565-8F1F-8B46-25C327772B9D}"/>
              </a:ext>
            </a:extLst>
          </p:cNvPr>
          <p:cNvSpPr/>
          <p:nvPr/>
        </p:nvSpPr>
        <p:spPr>
          <a:xfrm>
            <a:off x="1905864" y="10430696"/>
            <a:ext cx="7123836" cy="151530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Explore uses in active charge or attitude control</a:t>
            </a:r>
          </a:p>
        </p:txBody>
      </p:sp>
      <p:pic>
        <p:nvPicPr>
          <p:cNvPr id="1026" name="Picture 2" descr="Asset 019cda9c-b965-7390-97aa-0c66373ef63c">
            <a:extLst>
              <a:ext uri="{FF2B5EF4-FFF2-40B4-BE49-F238E27FC236}">
                <a16:creationId xmlns:a16="http://schemas.microsoft.com/office/drawing/2014/main" id="{8FD18002-4F57-6E80-8225-27FC75968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317" y="3811803"/>
            <a:ext cx="12979808" cy="724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46253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68E9-C735-2366-042C-C17D4EB5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815" y="-12700"/>
            <a:ext cx="4113935" cy="1887969"/>
          </a:xfrm>
        </p:spPr>
        <p:txBody>
          <a:bodyPr>
            <a:normAutofit/>
          </a:bodyPr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C5943-3FA6-C710-4217-D71FE8B1C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014" y="2265640"/>
            <a:ext cx="9735936" cy="10238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[1] Strain, Daniel. “Space tractor beams may not be the stuff of sci-fi for long.” </a:t>
            </a:r>
            <a:r>
              <a:rPr lang="en-US" sz="2400" i="1"/>
              <a:t>Phys.org</a:t>
            </a:r>
            <a:r>
              <a:rPr lang="en-US" sz="2400"/>
              <a:t>, June 1, 2023. </a:t>
            </a:r>
            <a:r>
              <a:rPr lang="en-US" sz="2400">
                <a:hlinkClick r:id="rId2"/>
              </a:rPr>
              <a:t>https://phys.org/news/2023-06-space-tractor-sci-fi.html</a:t>
            </a:r>
            <a:r>
              <a:rPr lang="en-US" sz="2400"/>
              <a:t> </a:t>
            </a:r>
          </a:p>
          <a:p>
            <a:pPr marL="0" indent="0">
              <a:buNone/>
            </a:pPr>
            <a:r>
              <a:rPr lang="en-US" sz="2400"/>
              <a:t>[2] European Space Agency. “Space debris - evolution in pictures.” </a:t>
            </a:r>
            <a:r>
              <a:rPr lang="en-US" sz="2400" i="1"/>
              <a:t>ESA</a:t>
            </a:r>
            <a:r>
              <a:rPr lang="en-US" sz="2400"/>
              <a:t>. </a:t>
            </a:r>
            <a:r>
              <a:rPr lang="en-US" sz="2400">
                <a:hlinkClick r:id="rId3"/>
              </a:rPr>
              <a:t>https://www.esa.int/About_Us/ESOC/Space_debris_-_evolution_in_pictures</a:t>
            </a:r>
            <a:r>
              <a:rPr lang="en-US" sz="2400"/>
              <a:t> </a:t>
            </a:r>
          </a:p>
          <a:p>
            <a:pPr marL="0" indent="0">
              <a:buNone/>
            </a:pPr>
            <a:r>
              <a:rPr lang="en-US" sz="2400"/>
              <a:t>[3] Case, Nathan A. </a:t>
            </a:r>
            <a:r>
              <a:rPr lang="en-US" sz="2400" i="1"/>
              <a:t>Solar Wind-Magnetosphere Interactions: A Statistical Analysis of Spacecraft Measurements</a:t>
            </a:r>
            <a:r>
              <a:rPr lang="en-US" sz="2400"/>
              <a:t>. PhD thesis, Lancaster University, April 2014. </a:t>
            </a:r>
            <a:r>
              <a:rPr lang="en-US" sz="2400">
                <a:hlinkClick r:id="rId4"/>
              </a:rPr>
              <a:t>https://doi.org/10.13140/2.1.2588.8321</a:t>
            </a:r>
            <a:endParaRPr lang="en-US" sz="2400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A2352-BE6C-434E-F0BC-217D68CDAD7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96BD35-18FC-BB1B-5267-1B49A65613F6}"/>
              </a:ext>
            </a:extLst>
          </p:cNvPr>
          <p:cNvSpPr txBox="1">
            <a:spLocks/>
          </p:cNvSpPr>
          <p:nvPr/>
        </p:nvSpPr>
        <p:spPr>
          <a:xfrm>
            <a:off x="12192000" y="0"/>
            <a:ext cx="7810500" cy="1887969"/>
          </a:xfrm>
          <a:prstGeom prst="rect">
            <a:avLst/>
          </a:prstGeom>
          <a:ln w="12700">
            <a:miter lim="400000"/>
          </a:ln>
          <a:effectLst>
            <a:outerShdw blurRad="177800" dist="88900" dir="2700000" rotWithShape="0">
              <a:srgbClr val="CBCBCB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 anchor="ctr">
            <a:normAutofit/>
          </a:bodyPr>
          <a:lstStyle>
            <a:lvl1pPr marL="0" marR="0" indent="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228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11430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13716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16002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1828800" algn="l" defTabSz="8229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1" i="0" u="none" strike="noStrike" cap="none" spc="0" baseline="0">
                <a:ln>
                  <a:noFill/>
                </a:ln>
                <a:solidFill>
                  <a:srgbClr val="FFFFFF"/>
                </a:solidFill>
                <a:effectLst>
                  <a:outerShdw blurRad="50800" dist="25400" dir="2700000" rotWithShape="0">
                    <a:srgbClr val="000000">
                      <a:alpha val="75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Acknowledgements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A33C5C-7494-B708-07F4-1194C1FC5B27}"/>
              </a:ext>
            </a:extLst>
          </p:cNvPr>
          <p:cNvSpPr txBox="1">
            <a:spLocks/>
          </p:cNvSpPr>
          <p:nvPr/>
        </p:nvSpPr>
        <p:spPr>
          <a:xfrm>
            <a:off x="11942963" y="2265639"/>
            <a:ext cx="11795225" cy="10238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68580" tIns="68580" rIns="68580" bIns="68580">
            <a:normAutofit/>
          </a:bodyPr>
          <a:lstStyle>
            <a:lvl1pPr marL="350981" marR="0" indent="-350981" algn="l" defTabSz="822960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8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704144" marR="0" indent="-361244" algn="l" defTabSz="822960" rtl="0" eaLnBrk="1" latinLnBrk="0" hangingPunct="1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059744" marR="0" indent="-361244" algn="l" defTabSz="822960" rtl="0" eaLnBrk="1" latinLnBrk="0" hangingPunct="1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1402644" marR="0" indent="-361244" algn="l" defTabSz="822960" rtl="0" eaLnBrk="1" latinLnBrk="0" hangingPunct="1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1745544" marR="0" indent="-361244" algn="l" defTabSz="822960" rtl="0" eaLnBrk="1" latinLnBrk="0" hangingPunct="1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2156177" marR="0" indent="-428977" algn="l" defTabSz="822960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800" b="0" i="0" u="none" strike="noStrike" cap="none" spc="0" baseline="0">
                <a:ln>
                  <a:noFill/>
                </a:ln>
                <a:solidFill>
                  <a:srgbClr val="51515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2499077" marR="0" indent="-428977" algn="l" defTabSz="822960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800" b="0" i="0" u="none" strike="noStrike" cap="none" spc="0" baseline="0">
                <a:ln>
                  <a:noFill/>
                </a:ln>
                <a:solidFill>
                  <a:srgbClr val="51515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841977" marR="0" indent="-428977" algn="l" defTabSz="822960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800" b="0" i="0" u="none" strike="noStrike" cap="none" spc="0" baseline="0">
                <a:ln>
                  <a:noFill/>
                </a:ln>
                <a:solidFill>
                  <a:srgbClr val="51515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3184877" marR="0" indent="-428977" algn="l" defTabSz="822960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800" b="0" i="0" u="none" strike="noStrike" cap="none" spc="0" baseline="0">
                <a:ln>
                  <a:noFill/>
                </a:ln>
                <a:solidFill>
                  <a:srgbClr val="515151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2400"/>
              <a:t>Kaylee Champion, Graduate Student, University of Colorado Boulder</a:t>
            </a:r>
          </a:p>
          <a:p>
            <a:pPr marL="0" indent="0">
              <a:buNone/>
            </a:pPr>
            <a:r>
              <a:rPr lang="en-US" sz="2400"/>
              <a:t>Hanspeter Schaub, Faculty Advisor, University of Colorado Boulder</a:t>
            </a:r>
          </a:p>
          <a:p>
            <a:pPr marL="0" indent="0">
              <a:buNone/>
            </a:pPr>
            <a:r>
              <a:rPr lang="en-US" sz="2400"/>
              <a:t>Discovery Learning Apprenticeship, University of Colorado Boulder</a:t>
            </a:r>
          </a:p>
          <a:p>
            <a:pPr marL="0" indent="0">
              <a:buNone/>
            </a:pPr>
            <a:r>
              <a:rPr lang="en-US" sz="2400"/>
              <a:t>Sharon Anderson, University of Colorado Boulder</a:t>
            </a:r>
          </a:p>
          <a:p>
            <a:pPr marL="0" indent="0">
              <a:buNone/>
            </a:pPr>
            <a:r>
              <a:rPr lang="en-US" sz="2400"/>
              <a:t>U.S. Air Force Office of Scientific Research (AFOSR) under grant FA9550-23-S-0570</a:t>
            </a:r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pic>
        <p:nvPicPr>
          <p:cNvPr id="2050" name="Picture 2" descr="Welcome to the Engineering Excellence Fund Home! | Engineering Excellence  Fund | University of Colorado Boulder">
            <a:extLst>
              <a:ext uri="{FF2B5EF4-FFF2-40B4-BE49-F238E27FC236}">
                <a16:creationId xmlns:a16="http://schemas.microsoft.com/office/drawing/2014/main" id="{CC1306C3-B28E-6097-F887-01F9EC3EF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1587" y="8367710"/>
            <a:ext cx="4981826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406C3DC-618C-4D86-DDAD-66A1C6A30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68087" y="7596186"/>
            <a:ext cx="51149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892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46675-9555-F794-0179-C7D6DDB90FC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>
            <a:normAutofit lnSpcReduction="10000"/>
          </a:bodyPr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4AC80A0B-15BC-154A-9FCC-14E2F05AA9A4}"/>
              </a:ext>
            </a:extLst>
          </p:cNvPr>
          <p:cNvSpPr/>
          <p:nvPr/>
        </p:nvSpPr>
        <p:spPr>
          <a:xfrm>
            <a:off x="9066708" y="5964138"/>
            <a:ext cx="6250584" cy="178772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580" tIns="68580" rIns="68580" bIns="68580" numCol="1" spcCol="38100" rtlCol="0" anchor="ctr">
            <a:spAutoFit/>
          </a:bodyPr>
          <a:lstStyle/>
          <a:p>
            <a:r>
              <a:rPr lang="en-US" sz="9600">
                <a:solidFill>
                  <a:schemeClr val="tx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47067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AVS Lab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D3BF8E"/>
      </a:accent1>
      <a:accent2>
        <a:srgbClr val="A6ECF0"/>
      </a:accent2>
      <a:accent3>
        <a:srgbClr val="BDD8E6"/>
      </a:accent3>
      <a:accent4>
        <a:srgbClr val="6AAFD6"/>
      </a:accent4>
      <a:accent5>
        <a:srgbClr val="FF7E00"/>
      </a:accent5>
      <a:accent6>
        <a:srgbClr val="968C8C"/>
      </a:accent6>
      <a:hlink>
        <a:srgbClr val="D3BF8F"/>
      </a:hlink>
      <a:folHlink>
        <a:srgbClr val="704404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9B37C">
            <a:alpha val="50000"/>
          </a:srgbClr>
        </a:solidFill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68580" tIns="68580" rIns="68580" bIns="68580" numCol="1" spcCol="38100" rtlCol="0" anchor="ctr">
        <a:spAutoFit/>
      </a:bodyPr>
      <a:lstStyle>
        <a:defPPr marL="0" marR="0" indent="0" algn="ctr" defTabSz="8229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8229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51515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154BD8CE-88FE-C14A-B088-31E1A34A090C}" vid="{9A0978A5-B6A8-7D46-9416-E76AFD283E4E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9B37C">
            <a:alpha val="50000"/>
          </a:srgbClr>
        </a:solidFill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68580" tIns="68580" rIns="68580" bIns="68580" numCol="1" spcCol="38100" rtlCol="0" anchor="ctr">
        <a:spAutoFit/>
      </a:bodyPr>
      <a:lstStyle>
        <a:defPPr marL="0" marR="0" indent="0" algn="ctr" defTabSz="8229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82296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51515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4D6C1D-9ECC-463A-ABA6-56F3CF45AF37}">
  <we:reference id="4b785c87-866c-4bad-85d8-5d1ae467ac9a" version="3.20.0.0" store="EXCatalog" storeType="EXCatalog"/>
  <we:alternateReferences>
    <we:reference id="WA104381909" version="3.2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854D7290B9744F91B1CD98719F00A0" ma:contentTypeVersion="8" ma:contentTypeDescription="Create a new document." ma:contentTypeScope="" ma:versionID="ed77c12d301c4327f9f409c28791d7d4">
  <xsd:schema xmlns:xsd="http://www.w3.org/2001/XMLSchema" xmlns:xs="http://www.w3.org/2001/XMLSchema" xmlns:p="http://schemas.microsoft.com/office/2006/metadata/properties" xmlns:ns3="c0cb8897-5080-4fc6-9582-68b33b09d6dd" xmlns:ns4="18dca6a7-99f2-44dc-8de8-69180754b56b" targetNamespace="http://schemas.microsoft.com/office/2006/metadata/properties" ma:root="true" ma:fieldsID="4b7817d532c590c145b29d7d986d57f0" ns3:_="" ns4:_="">
    <xsd:import namespace="c0cb8897-5080-4fc6-9582-68b33b09d6dd"/>
    <xsd:import namespace="18dca6a7-99f2-44dc-8de8-69180754b5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b8897-5080-4fc6-9582-68b33b09d6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dca6a7-99f2-44dc-8de8-69180754b56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cb8897-5080-4fc6-9582-68b33b09d6dd" xsi:nil="true"/>
  </documentManagement>
</p:properties>
</file>

<file path=customXml/itemProps1.xml><?xml version="1.0" encoding="utf-8"?>
<ds:datastoreItem xmlns:ds="http://schemas.openxmlformats.org/officeDocument/2006/customXml" ds:itemID="{39BB9A21-E7BF-4D51-8B78-E752BE9CFE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3B1B6F-EF75-4F63-AB42-C41038F77FE2}">
  <ds:schemaRefs>
    <ds:schemaRef ds:uri="18dca6a7-99f2-44dc-8de8-69180754b56b"/>
    <ds:schemaRef ds:uri="c0cb8897-5080-4fc6-9582-68b33b09d6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90A585-BE71-4C14-9494-91D51325C3A4}">
  <ds:schemaRefs>
    <ds:schemaRef ds:uri="c0cb8897-5080-4fc6-9582-68b33b09d6dd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18dca6a7-99f2-44dc-8de8-69180754b56b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865</Words>
  <Application>Microsoft Macintosh PowerPoint</Application>
  <PresentationFormat>Custom</PresentationFormat>
  <Paragraphs>170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Helvetica Neue</vt:lpstr>
      <vt:lpstr>Helvetica Neue Light</vt:lpstr>
      <vt:lpstr>Lucida Grande</vt:lpstr>
      <vt:lpstr>White</vt:lpstr>
      <vt:lpstr>Electrostatic Tractor Supercharging in Cislunar Space</vt:lpstr>
      <vt:lpstr>PowerPoint Presentation</vt:lpstr>
      <vt:lpstr>Electrostatic Tractor Basics </vt:lpstr>
      <vt:lpstr>Intro To Plasma Wakes</vt:lpstr>
      <vt:lpstr>Supercharging Concept</vt:lpstr>
      <vt:lpstr>Cislunar Plasma Region </vt:lpstr>
      <vt:lpstr>Objective:</vt:lpstr>
      <vt:lpstr>SPIS</vt:lpstr>
      <vt:lpstr>PowerPoint Presentation</vt:lpstr>
      <vt:lpstr>SPIS Current Results</vt:lpstr>
      <vt:lpstr>SIMION</vt:lpstr>
      <vt:lpstr>SIMION Results</vt:lpstr>
      <vt:lpstr>Proposed Beam Width </vt:lpstr>
      <vt:lpstr>Supercharging Validation</vt:lpstr>
      <vt:lpstr>Applied Supercharging</vt:lpstr>
      <vt:lpstr>Additional Charging Application </vt:lpstr>
      <vt:lpstr>Summary</vt:lpstr>
      <vt:lpstr>Next Steps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Landon Holligan</dc:creator>
  <cp:lastModifiedBy>Landon Holligan</cp:lastModifiedBy>
  <cp:revision>2</cp:revision>
  <dcterms:created xsi:type="dcterms:W3CDTF">2026-02-02T19:38:18Z</dcterms:created>
  <dcterms:modified xsi:type="dcterms:W3CDTF">2026-09-11T16:49:38Z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0x01010080854D7290B9744F91B1CD98719F00A0</vt:lpwstr>
  </property>
</Properties>
</file>